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3.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4.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 id="2147483664" r:id="rId2"/>
    <p:sldMasterId id="2147483722" r:id="rId3"/>
    <p:sldMasterId id="2147483777" r:id="rId4"/>
    <p:sldMasterId id="2147483795" r:id="rId5"/>
  </p:sldMasterIdLst>
  <p:notesMasterIdLst>
    <p:notesMasterId r:id="rId19"/>
  </p:notesMasterIdLst>
  <p:sldIdLst>
    <p:sldId id="2142532839" r:id="rId6"/>
    <p:sldId id="2147483643" r:id="rId7"/>
    <p:sldId id="2147483641" r:id="rId8"/>
    <p:sldId id="2147483001" r:id="rId9"/>
    <p:sldId id="256" r:id="rId10"/>
    <p:sldId id="2147482997" r:id="rId11"/>
    <p:sldId id="2147482999" r:id="rId12"/>
    <p:sldId id="2147482308" r:id="rId13"/>
    <p:sldId id="2147482982" r:id="rId14"/>
    <p:sldId id="2147482971" r:id="rId15"/>
    <p:sldId id="2147482984" r:id="rId16"/>
    <p:sldId id="2147482985" r:id="rId17"/>
    <p:sldId id="214748299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346056-7ADC-674A-AF07-0108C2217FE8}">
          <p14:sldIdLst>
            <p14:sldId id="2142532839"/>
            <p14:sldId id="2147483643"/>
            <p14:sldId id="2147483641"/>
            <p14:sldId id="2147483001"/>
          </p14:sldIdLst>
        </p14:section>
        <p14:section name="Client engagement / briefing" id="{1887A801-C3D2-0449-9A4D-2FFE2DB99A6E}">
          <p14:sldIdLst>
            <p14:sldId id="256"/>
            <p14:sldId id="2147482997"/>
            <p14:sldId id="2147482999"/>
          </p14:sldIdLst>
        </p14:section>
        <p14:section name="Appendix" id="{654A30CF-9625-0C43-8B39-2CB268231C2A}">
          <p14:sldIdLst>
            <p14:sldId id="2147482308"/>
            <p14:sldId id="2147482982"/>
            <p14:sldId id="2147482971"/>
            <p14:sldId id="2147482984"/>
            <p14:sldId id="2147482985"/>
            <p14:sldId id="21474829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59"/>
    <p:restoredTop sz="94275"/>
  </p:normalViewPr>
  <p:slideViewPr>
    <p:cSldViewPr snapToGrid="0" snapToObjects="1">
      <p:cViewPr varScale="1">
        <p:scale>
          <a:sx n="135" d="100"/>
          <a:sy n="135" d="100"/>
        </p:scale>
        <p:origin x="1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3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ibm.box.com/s/ptgdtx2i67b5lw5nxseuptzd2xuwcm9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58566-E6C3-F0B8-E31B-EF0EB941391D}"/>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792958A-207B-B04A-B69D-6EC7ABA1F4FC}"/>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689CCD63-19DC-928B-8C73-8B36913D27D0}"/>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CCD47E9F-2FC5-BD48-B736-F08E6A241290}"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592FA7B2-9A8B-62C1-26F8-1A4073747524}"/>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Group Name / DOC ID / Month XX, 2022 / © 2022 IBM Corporation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85C8-4B21-528D-171A-B4F89157A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827FC-6D0D-5B4E-7012-FD713D84656B}"/>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98CC603-9220-9537-9749-ECA63D0C6351}"/>
              </a:ext>
            </a:extLst>
          </p:cNvPr>
          <p:cNvSpPr txBox="1">
            <a:spLocks noGrp="1"/>
          </p:cNvSpPr>
          <p:nvPr>
            <p:ph type="body" sz="quarter" idx="1"/>
          </p:nvPr>
        </p:nvSpPr>
        <p:spPr/>
        <p:txBody>
          <a:bodyPr/>
          <a:lstStyle/>
          <a:p>
            <a:endParaRPr lang="en-US" sz="6000" dirty="0"/>
          </a:p>
        </p:txBody>
      </p:sp>
      <p:sp>
        <p:nvSpPr>
          <p:cNvPr id="4" name="Slide Number Placeholder 3">
            <a:extLst>
              <a:ext uri="{FF2B5EF4-FFF2-40B4-BE49-F238E27FC236}">
                <a16:creationId xmlns:a16="http://schemas.microsoft.com/office/drawing/2014/main" id="{F654DF5A-1C2F-79D9-BF3D-8F4F685ED24D}"/>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1AFF3864-0A5B-FB4F-9FAE-ABAF0B1E8F6C}" type="slidenum">
              <a:rPr kumimoji="0" sz="1800" b="0" i="0" u="none" strike="noStrike" kern="0" cap="none" spc="0" normalizeH="0" baseline="0" noProof="0">
                <a:ln>
                  <a:noFill/>
                </a:ln>
                <a:solidFill>
                  <a:srgbClr val="000000"/>
                </a:solidFill>
                <a:effectLst/>
                <a:uLnTx/>
                <a:uFillTx/>
                <a:latin typeface="IBM Plex Sans Light"/>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E7B0A8A1-047B-ADDA-AB4A-53D4E06742C6}"/>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Footer</a:t>
            </a:r>
          </a:p>
        </p:txBody>
      </p:sp>
    </p:spTree>
    <p:extLst>
      <p:ext uri="{BB962C8B-B14F-4D97-AF65-F5344CB8AC3E}">
        <p14:creationId xmlns:p14="http://schemas.microsoft.com/office/powerpoint/2010/main" val="3194194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hlinkClick r:id="rId3"/>
              </a:rPr>
              <a:t>Product Modernization Technical View and Benefits</a:t>
            </a:r>
            <a:endParaRPr lang="en-US" sz="1200" dirty="0">
              <a:effectLst/>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PM engagement already working in the field. we should scale this pattern, not create another process burden.
Use these examples to connect Product Connect to client outcomes: Wells Fargo and Citi for Connect:Direct containers, BofA for DataStage modernization, MetLife/ADP/JPMC/Fiserv for Cognos containers, and Travelers for FileNet SaaS plus containers on AWS.
The ask is focused PM partnership at high-leverage moments: enablement, reference architecture validation, BVE assumptions, and priority client blockers.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9</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755331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07422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11</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3165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15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918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499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37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7006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4505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9311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461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002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5711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37960745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4652241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232308005"/>
      </p:ext>
    </p:extLst>
  </p:cSld>
  <p:clrMapOvr>
    <a:masterClrMapping/>
  </p:clrMapOvr>
  <p:transition spd="med"/>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0722809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321923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2000791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6406402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46527933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46627317"/>
      </p:ext>
    </p:extLst>
  </p:cSld>
  <p:clrMapOvr>
    <a:masterClrMapping/>
  </p:clrMapOvr>
  <p:transition spd="med"/>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3715389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4999572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142908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404129652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808339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2367367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5188879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05679002"/>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5421223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2292681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3212193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140616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84347173"/>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9179229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934661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90363293"/>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01357789"/>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341045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1489602"/>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52696916"/>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43104776"/>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401975072"/>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908028745"/>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66685177"/>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612886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78895451"/>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7426010"/>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7578393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4431972"/>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3638365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7156493"/>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03233340"/>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78295438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23398136"/>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7824143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dirty="0">
                <a:latin typeface="IBM Plex Sans Light" panose="020B0403050203000203" pitchFamily="34" charset="0"/>
              </a:rPr>
              <a:t>Lorem ipsum dolor sit </a:t>
            </a:r>
            <a:r>
              <a:rPr lang="en-US" sz="1400" dirty="0" err="1">
                <a:latin typeface="IBM Plex Sans Light" panose="020B0403050203000203" pitchFamily="34" charset="0"/>
              </a:rPr>
              <a:t>amet</a:t>
            </a:r>
            <a:r>
              <a:rPr lang="en-US" sz="1400" dirty="0">
                <a:latin typeface="IBM Plex Sans Light" panose="020B0403050203000203" pitchFamily="34" charset="0"/>
              </a:rPr>
              <a:t> </a:t>
            </a:r>
            <a:r>
              <a:rPr lang="en-US" sz="1400" dirty="0" err="1">
                <a:latin typeface="IBM Plex Sans Light" panose="020B0403050203000203" pitchFamily="34" charset="0"/>
              </a:rPr>
              <a:t>donec</a:t>
            </a:r>
            <a:r>
              <a:rPr lang="en-US" sz="1400" dirty="0">
                <a:latin typeface="IBM Plex Sans Light" panose="020B0403050203000203" pitchFamily="34" charset="0"/>
              </a:rPr>
              <a:t> </a:t>
            </a:r>
            <a:r>
              <a:rPr lang="en-US" sz="1400" dirty="0" err="1">
                <a:latin typeface="IBM Plex Sans Light" panose="020B0403050203000203" pitchFamily="34" charset="0"/>
              </a:rPr>
              <a:t>quam</a:t>
            </a:r>
            <a:r>
              <a:rPr lang="en-US" sz="1400" dirty="0">
                <a:latin typeface="IBM Plex Sans Light" panose="020B0403050203000203" pitchFamily="34" charset="0"/>
              </a:rPr>
              <a:t> </a:t>
            </a:r>
            <a:r>
              <a:rPr lang="en-US" sz="1400" dirty="0" err="1">
                <a:latin typeface="IBM Plex Sans Light" panose="020B0403050203000203" pitchFamily="34" charset="0"/>
              </a:rPr>
              <a:t>felis</a:t>
            </a:r>
            <a:r>
              <a:rPr lang="en-US" sz="1400" dirty="0">
                <a:latin typeface="IBM Plex Sans Light" panose="020B0403050203000203" pitchFamily="34" charset="0"/>
              </a:rPr>
              <a:t> </a:t>
            </a:r>
            <a:r>
              <a:rPr lang="en-US" sz="1400" dirty="0" err="1">
                <a:latin typeface="IBM Plex Sans Light" panose="020B0403050203000203" pitchFamily="34" charset="0"/>
              </a:rPr>
              <a:t>ultricies</a:t>
            </a:r>
            <a:r>
              <a:rPr lang="en-US" sz="1400" dirty="0">
                <a:latin typeface="IBM Plex Sans Light" panose="020B0403050203000203" pitchFamily="34" charset="0"/>
              </a:rPr>
              <a:t> </a:t>
            </a:r>
            <a:r>
              <a:rPr lang="en-US" sz="1400" dirty="0" err="1">
                <a:latin typeface="IBM Plex Sans Light" panose="020B0403050203000203" pitchFamily="34" charset="0"/>
              </a:rPr>
              <a:t>nec</a:t>
            </a:r>
            <a:r>
              <a:rPr lang="en-US" sz="1400" dirty="0">
                <a:latin typeface="IBM Plex Sans Light" panose="020B0403050203000203" pitchFamily="34" charset="0"/>
              </a:rPr>
              <a:t> </a:t>
            </a:r>
            <a:r>
              <a:rPr lang="en-US" sz="1400" dirty="0" err="1">
                <a:latin typeface="IBM Plex Sans Light" panose="020B0403050203000203" pitchFamily="34" charset="0"/>
              </a:rPr>
              <a:t>pellentesque</a:t>
            </a:r>
            <a:r>
              <a:rPr lang="en-US" sz="1400" dirty="0">
                <a:latin typeface="IBM Plex Sans Light" panose="020B0403050203000203" pitchFamily="34" charset="0"/>
              </a:rPr>
              <a:t> </a:t>
            </a:r>
            <a:r>
              <a:rPr lang="en-US" sz="1400" dirty="0" err="1">
                <a:latin typeface="IBM Plex Sans Light" panose="020B0403050203000203" pitchFamily="34" charset="0"/>
              </a:rPr>
              <a:t>eu</a:t>
            </a:r>
            <a:r>
              <a:rPr lang="en-US" sz="1400" dirty="0">
                <a:latin typeface="IBM Plex Sans Light" panose="020B0403050203000203" pitchFamily="34" charset="0"/>
              </a:rPr>
              <a:t> </a:t>
            </a:r>
            <a:r>
              <a:rPr lang="en-US" sz="1400" dirty="0" err="1">
                <a:latin typeface="IBM Plex Sans Light" panose="020B0403050203000203" pitchFamily="34" charset="0"/>
              </a:rPr>
              <a:t>pretium</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sem. </a:t>
            </a:r>
            <a:r>
              <a:rPr lang="en-US" sz="1400" dirty="0" err="1">
                <a:latin typeface="IBM Plex Sans Light" panose="020B0403050203000203" pitchFamily="34" charset="0"/>
              </a:rPr>
              <a:t>Nulla</a:t>
            </a:r>
            <a:r>
              <a:rPr lang="en-US" sz="1400" dirty="0">
                <a:latin typeface="IBM Plex Sans Light" panose="020B0403050203000203" pitchFamily="34" charset="0"/>
              </a:rPr>
              <a:t> </a:t>
            </a:r>
            <a:r>
              <a:rPr lang="en-US" sz="1400" dirty="0" err="1">
                <a:latin typeface="IBM Plex Sans Light" panose="020B0403050203000203" pitchFamily="34" charset="0"/>
              </a:rPr>
              <a:t>conset</a:t>
            </a:r>
            <a:r>
              <a:rPr lang="en-US" sz="1400" dirty="0">
                <a:latin typeface="IBM Plex Sans Light" panose="020B0403050203000203" pitchFamily="34" charset="0"/>
              </a:rPr>
              <a:t> </a:t>
            </a:r>
            <a:r>
              <a:rPr lang="en-US" sz="1400" dirty="0" err="1">
                <a:latin typeface="IBM Plex Sans Light" panose="020B0403050203000203" pitchFamily="34" charset="0"/>
              </a:rPr>
              <a:t>massa</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a:t>
            </a:r>
            <a:r>
              <a:rPr lang="en-US" sz="1400" dirty="0" err="1">
                <a:latin typeface="IBM Plex Sans Light" panose="020B0403050203000203" pitchFamily="34" charset="0"/>
              </a:rPr>
              <a:t>enim</a:t>
            </a:r>
            <a:r>
              <a:rPr lang="en-US" sz="14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518985389"/>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25097931"/>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67381535"/>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46956245"/>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7159197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1775891035"/>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6227903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95375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divider (with page contents)_black">
    <p:spTree>
      <p:nvGrpSpPr>
        <p:cNvPr id="1" name=""/>
        <p:cNvGrpSpPr/>
        <p:nvPr/>
      </p:nvGrpSpPr>
      <p:grpSpPr>
        <a:xfrm>
          <a:off x="0" y="0"/>
          <a:ext cx="0" cy="0"/>
          <a:chOff x="0" y="0"/>
          <a:chExt cx="0" cy="0"/>
        </a:xfrm>
      </p:grpSpPr>
      <p:sp>
        <p:nvSpPr>
          <p:cNvPr id="2" name="Title"/>
          <p:cNvSpPr>
            <a:spLocks noGrp="1"/>
          </p:cNvSpPr>
          <p:nvPr>
            <p:ph type="title"/>
          </p:nvPr>
        </p:nvSpPr>
        <p:spPr>
          <a:xfrm>
            <a:off x="280416" y="258231"/>
            <a:ext cx="5522976" cy="1066800"/>
          </a:xfrm>
        </p:spPr>
        <p:txBody>
          <a:bodyPr/>
          <a:lstStyle/>
          <a:p>
            <a:r>
              <a:rPr lang="en-US" dirty="0"/>
              <a:t>Click to edit Master title style</a:t>
            </a:r>
          </a:p>
        </p:txBody>
      </p:sp>
      <p:sp>
        <p:nvSpPr>
          <p:cNvPr id="8" name="Text Placeholder 1"/>
          <p:cNvSpPr>
            <a:spLocks noGrp="1"/>
          </p:cNvSpPr>
          <p:nvPr>
            <p:ph type="body" sz="quarter" idx="13"/>
          </p:nvPr>
        </p:nvSpPr>
        <p:spPr>
          <a:xfrm>
            <a:off x="292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6388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a:extLst>
              <a:ext uri="{FF2B5EF4-FFF2-40B4-BE49-F238E27FC236}">
                <a16:creationId xmlns:a16="http://schemas.microsoft.com/office/drawing/2014/main" id="{D388D167-72F5-AA40-A006-12E39FB420A8}"/>
              </a:ext>
            </a:extLst>
          </p:cNvPr>
          <p:cNvSpPr>
            <a:spLocks noGrp="1"/>
          </p:cNvSpPr>
          <p:nvPr>
            <p:ph type="ftr" sz="quarter" idx="3"/>
          </p:nvPr>
        </p:nvSpPr>
        <p:spPr>
          <a:xfrm>
            <a:off x="304894" y="6406303"/>
            <a:ext cx="5486313" cy="222249"/>
          </a:xfrm>
          <a:prstGeom prst="rect">
            <a:avLst/>
          </a:prstGeom>
        </p:spPr>
        <p:txBody>
          <a:bodyPr vert="horz" lIns="0" tIns="0" rIns="0" bIns="0" rtlCol="0" anchor="ctr"/>
          <a:lstStyle>
            <a:lvl1pPr marL="0" marR="0" indent="0" algn="l" defTabSz="914039" rtl="0" eaLnBrk="1" fontAlgn="auto" latinLnBrk="0" hangingPunct="1">
              <a:lnSpc>
                <a:spcPct val="100000"/>
              </a:lnSpc>
              <a:spcBef>
                <a:spcPts val="0"/>
              </a:spcBef>
              <a:spcAft>
                <a:spcPts val="0"/>
              </a:spcAft>
              <a:buClrTx/>
              <a:buSzTx/>
              <a:buFontTx/>
              <a:buNone/>
              <a:tabLst/>
              <a:defRPr sz="800">
                <a:solidFill>
                  <a:schemeClr val="bg1"/>
                </a:solidFill>
                <a:latin typeface="IBM Plex Sans" panose="020B0503050203000203" pitchFamily="34" charset="0"/>
              </a:defRPr>
            </a:lvl1pPr>
          </a:lstStyle>
          <a:p>
            <a:r>
              <a:rPr lang="en-US"/>
              <a:t>2024 IBM Corporation Business partner Assets | Dec 2024 | IBM Confidential</a:t>
            </a:r>
          </a:p>
        </p:txBody>
      </p:sp>
      <p:sp>
        <p:nvSpPr>
          <p:cNvPr id="9" name="Slide Number Placeholder">
            <a:extLst>
              <a:ext uri="{FF2B5EF4-FFF2-40B4-BE49-F238E27FC236}">
                <a16:creationId xmlns:a16="http://schemas.microsoft.com/office/drawing/2014/main" id="{7F662BDA-B0C4-474D-968F-271052401841}"/>
              </a:ext>
            </a:extLst>
          </p:cNvPr>
          <p:cNvSpPr>
            <a:spLocks noGrp="1"/>
          </p:cNvSpPr>
          <p:nvPr>
            <p:ph type="sldNum" sz="quarter" idx="4"/>
          </p:nvPr>
        </p:nvSpPr>
        <p:spPr>
          <a:xfrm>
            <a:off x="11750327" y="6455872"/>
            <a:ext cx="136789" cy="123111"/>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5809604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51465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2"/>
          </p:nvPr>
        </p:nvSpPr>
        <p:spPr>
          <a:xfrm>
            <a:off x="6388611"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6783609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1"/>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6/18/26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7"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4857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BCED9-574A-685C-C54E-E063710F5DA5}"/>
              </a:ext>
            </a:extLst>
          </p:cNvPr>
          <p:cNvSpPr>
            <a:spLocks noGrp="1"/>
          </p:cNvSpPr>
          <p:nvPr>
            <p:ph type="dt" sz="half" idx="10"/>
          </p:nvPr>
        </p:nvSpPr>
        <p:spPr/>
        <p:txBody>
          <a:bodyPr/>
          <a:lstStyle/>
          <a:p>
            <a:fld id="{8DEBDC8A-1DFF-5A41-A9DF-A7A498A8BC3F}" type="datetimeFigureOut">
              <a:rPr lang="en-US" smtClean="0"/>
              <a:t>6/18/26</a:t>
            </a:fld>
            <a:endParaRPr lang="en-US"/>
          </a:p>
        </p:txBody>
      </p:sp>
      <p:sp>
        <p:nvSpPr>
          <p:cNvPr id="3" name="Footer Placeholder 2">
            <a:extLst>
              <a:ext uri="{FF2B5EF4-FFF2-40B4-BE49-F238E27FC236}">
                <a16:creationId xmlns:a16="http://schemas.microsoft.com/office/drawing/2014/main" id="{A42EB5E3-5FB2-5879-9C88-A190FA30EA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3FBF9-4B99-1393-5B1F-AB1909E08731}"/>
              </a:ext>
            </a:extLst>
          </p:cNvPr>
          <p:cNvSpPr>
            <a:spLocks noGrp="1"/>
          </p:cNvSpPr>
          <p:nvPr>
            <p:ph type="sldNum" sz="quarter" idx="12"/>
          </p:nvPr>
        </p:nvSpPr>
        <p:spPr/>
        <p:txBody>
          <a:bodyPr/>
          <a:lstStyle/>
          <a:p>
            <a:fld id="{5AB47C40-872D-F942-88C3-327D8A0FC6A3}" type="slidenum">
              <a:rPr lang="en-US" smtClean="0"/>
              <a:t>‹#›</a:t>
            </a:fld>
            <a:endParaRPr lang="en-US"/>
          </a:p>
        </p:txBody>
      </p:sp>
    </p:spTree>
    <p:extLst>
      <p:ext uri="{BB962C8B-B14F-4D97-AF65-F5344CB8AC3E}">
        <p14:creationId xmlns:p14="http://schemas.microsoft.com/office/powerpoint/2010/main" val="34110627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6/18/26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7"/>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3"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511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31440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28867961"/>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227497348"/>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55762957"/>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9"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3466404578"/>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177448122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305971031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2477765" cy="228679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03598610"/>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1429544"/>
          </a:xfrm>
        </p:spPr>
        <p:txBody>
          <a:bodyPr rIns="457200"/>
          <a:lstStyle>
            <a:lvl1pPr>
              <a:lnSpc>
                <a:spcPct val="100000"/>
              </a:lnSpc>
              <a:defRPr sz="31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9157518"/>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1" y="210312"/>
            <a:ext cx="8569797" cy="4095750"/>
          </a:xfrm>
        </p:spPr>
        <p:txBody>
          <a:bodyPr/>
          <a:lstStyle>
            <a:lvl1pPr>
              <a:defRPr sz="85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03936191"/>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8">
                <a:solidFill>
                  <a:schemeClr val="tx2"/>
                </a:solidFill>
              </a:defRPr>
            </a:lvl1pPr>
            <a:lvl2pPr marL="292490" indent="-292490">
              <a:lnSpc>
                <a:spcPct val="100000"/>
              </a:lnSpc>
              <a:spcBef>
                <a:spcPts val="0"/>
              </a:spcBef>
              <a:defRPr sz="3198">
                <a:solidFill>
                  <a:schemeClr val="tx2"/>
                </a:solidFill>
              </a:defRPr>
            </a:lvl2pPr>
            <a:lvl3pPr marL="548420" indent="-292490">
              <a:lnSpc>
                <a:spcPct val="100000"/>
              </a:lnSpc>
              <a:spcBef>
                <a:spcPts val="0"/>
              </a:spcBef>
              <a:defRPr sz="3198">
                <a:solidFill>
                  <a:schemeClr val="tx2"/>
                </a:solidFill>
              </a:defRPr>
            </a:lvl3pPr>
            <a:lvl4pPr marL="877472">
              <a:lnSpc>
                <a:spcPct val="100000"/>
              </a:lnSpc>
              <a:spcBef>
                <a:spcPts val="0"/>
              </a:spcBef>
              <a:defRPr sz="3198">
                <a:solidFill>
                  <a:schemeClr val="tx2"/>
                </a:solidFill>
              </a:defRPr>
            </a:lvl4pPr>
            <a:lvl5pPr>
              <a:lnSpc>
                <a:spcPct val="100000"/>
              </a:lnSpc>
              <a:spcBef>
                <a:spcPts val="0"/>
              </a:spcBef>
              <a:defRPr sz="31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0149159"/>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210312"/>
            <a:ext cx="7330121" cy="4858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09905792"/>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9" y="4649724"/>
            <a:ext cx="5524575"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20" y="4648200"/>
            <a:ext cx="5523781"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2976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8"/>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8"/>
            <a:ext cx="2474590" cy="951707"/>
          </a:xfrm>
        </p:spPr>
        <p:txBody>
          <a:bodyPr/>
          <a:lstStyle>
            <a:lvl1pPr>
              <a:lnSpc>
                <a:spcPct val="90000"/>
              </a:lnSpc>
              <a:defRPr sz="64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5087942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8">
                <a:solidFill>
                  <a:schemeClr val="accent1"/>
                </a:solidFill>
              </a:defRPr>
            </a:lvl1pPr>
            <a:lvl2pPr>
              <a:lnSpc>
                <a:spcPct val="100000"/>
              </a:lnSpc>
              <a:defRPr sz="4298">
                <a:solidFill>
                  <a:schemeClr val="accent1"/>
                </a:solidFill>
              </a:defRPr>
            </a:lvl2pPr>
            <a:lvl3pPr>
              <a:lnSpc>
                <a:spcPct val="100000"/>
              </a:lnSpc>
              <a:defRPr sz="4298">
                <a:solidFill>
                  <a:schemeClr val="accent1"/>
                </a:solidFill>
              </a:defRPr>
            </a:lvl3pPr>
            <a:lvl4pPr>
              <a:lnSpc>
                <a:spcPct val="100000"/>
              </a:lnSpc>
              <a:defRPr sz="4298">
                <a:solidFill>
                  <a:schemeClr val="accent1"/>
                </a:solidFill>
              </a:defRPr>
            </a:lvl4pPr>
            <a:lvl5pPr>
              <a:lnSpc>
                <a:spcPct val="100000"/>
              </a:lnSpc>
              <a:defRPr sz="42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72443377"/>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7"/>
            <a:ext cx="2475384" cy="1428753"/>
          </a:xfrm>
        </p:spPr>
        <p:txBody>
          <a:bodyPr/>
          <a:lstStyle>
            <a:lvl1pPr>
              <a:lnSpc>
                <a:spcPct val="90000"/>
              </a:lnSpc>
              <a:defRPr sz="64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8" y="4201669"/>
            <a:ext cx="2475383" cy="1428753"/>
          </a:xfrm>
        </p:spPr>
        <p:txBody>
          <a:bodyPr/>
          <a:lstStyle>
            <a:lvl1pPr>
              <a:lnSpc>
                <a:spcPct val="90000"/>
              </a:lnSpc>
              <a:defRPr sz="64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8103989"/>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8000"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91850340"/>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8685106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386798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8000"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6"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3"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4" y="1714500"/>
            <a:ext cx="2476177"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6546473"/>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5" y="192024"/>
            <a:ext cx="2477765" cy="570706"/>
          </a:xfrm>
        </p:spPr>
        <p:txBody>
          <a:bodyPr/>
          <a:lstStyle>
            <a:lvl1pPr>
              <a:lnSpc>
                <a:spcPct val="100000"/>
              </a:lnSpc>
              <a:spcBef>
                <a:spcPts val="0"/>
              </a:spcBef>
              <a:defRPr sz="3198">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20"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0518948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20"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3412352"/>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09922517"/>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4466555"/>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8000" y="192024"/>
            <a:ext cx="5519019"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8046754"/>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07644397"/>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5"/>
            <a:ext cx="2474590" cy="570707"/>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3" y="192024"/>
            <a:ext cx="2477765" cy="570706"/>
          </a:xfrm>
        </p:spPr>
        <p:txBody>
          <a:bodyPr/>
          <a:lstStyle>
            <a:lvl1pPr>
              <a:lnSpc>
                <a:spcPct val="100000"/>
              </a:lnSpc>
              <a:spcBef>
                <a:spcPts val="0"/>
              </a:spcBef>
              <a:defRPr sz="3198">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20" y="288037"/>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3"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03964023"/>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20"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20"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1118115"/>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35404726"/>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8000" y="763524"/>
            <a:ext cx="5521401" cy="1138428"/>
          </a:xfrm>
        </p:spPr>
        <p:txBody>
          <a:bodyPr rIns="457200"/>
          <a:lstStyle>
            <a:lvl1pPr>
              <a:lnSpc>
                <a:spcPct val="110000"/>
              </a:lnSpc>
              <a:defRPr sz="31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5306614"/>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288036"/>
            <a:ext cx="2477765" cy="2286794"/>
          </a:xfrm>
        </p:spPr>
        <p:txBody>
          <a:bodyPr/>
          <a:lstStyle>
            <a:lvl1pPr>
              <a:lnSpc>
                <a:spcPct val="100000"/>
              </a:lnSpc>
              <a:defRPr sz="14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32198148"/>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192024"/>
            <a:ext cx="5524575"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53249070"/>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45175379"/>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7"/>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7"/>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7"/>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4"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1"/>
            <a:ext cx="2475384" cy="1896341"/>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8118295"/>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8000" y="192025"/>
            <a:ext cx="5519019" cy="1706563"/>
          </a:xfrm>
        </p:spPr>
        <p:txBody>
          <a:bodyPr rIns="457200"/>
          <a:lstStyle>
            <a:lvl1pPr>
              <a:lnSpc>
                <a:spcPct val="100000"/>
              </a:lnSpc>
              <a:defRPr sz="31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9265898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7"/>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5910"/>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503608171"/>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524388160"/>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7"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272127219"/>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318021941"/>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30311400"/>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8"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8"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8"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6" y="1333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7"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6"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7"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6"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7"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5375878"/>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96367830"/>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90647445"/>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63894823"/>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5"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8586450"/>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769354906"/>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11770814" y="6475904"/>
            <a:ext cx="135436" cy="123111"/>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3333756" y="1714500"/>
            <a:ext cx="247570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6381750" y="1714500"/>
            <a:ext cx="2476500"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9429756" y="1714500"/>
            <a:ext cx="2479675"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283470" y="284963"/>
            <a:ext cx="2474913" cy="762795"/>
          </a:xfrm>
          <a:prstGeom prst="rect">
            <a:avLst/>
          </a:prstGeom>
        </p:spPr>
        <p:txBody>
          <a:bodyPr/>
          <a:lstStyle>
            <a:lvl1pPr>
              <a:defRPr sz="1400"/>
            </a:lvl1pPr>
          </a:lstStyle>
          <a:p>
            <a:r>
              <a:t>28/36/44pt short headline, 3 lines maximum, sentence case</a:t>
            </a:r>
          </a:p>
        </p:txBody>
      </p:sp>
      <p:sp>
        <p:nvSpPr>
          <p:cNvPr id="190" name="Text Placeholder 2"/>
          <p:cNvSpPr txBox="1">
            <a:spLocks noGrp="1"/>
          </p:cNvSpPr>
          <p:nvPr>
            <p:ph type="body" sz="quarter" idx="25"/>
          </p:nvPr>
        </p:nvSpPr>
        <p:spPr>
          <a:xfrm>
            <a:off x="284169" y="1714500"/>
            <a:ext cx="247808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284168" y="6471078"/>
            <a:ext cx="4284663" cy="129876"/>
          </a:xfrm>
          <a:prstGeom prst="rect">
            <a:avLst/>
          </a:prstGeom>
        </p:spPr>
        <p:txBody>
          <a:bodyPr anchor="b">
            <a:spAutoFit/>
          </a:bodyPr>
          <a:lstStyle>
            <a:lvl1pPr defTabSz="913409">
              <a:lnSpc>
                <a:spcPct val="110000"/>
              </a:lnSpc>
              <a:defRPr sz="8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3026871197"/>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304891" y="6400803"/>
            <a:ext cx="5486313" cy="222249"/>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9983540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2"/>
            <a:ext cx="2474590" cy="2759647"/>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8"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4"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71"/>
            <a:ext cx="135437"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8"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145314602"/>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2990657"/>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Title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EC3-99C3-2013-72A0-ABE1CD11EB0D}"/>
              </a:ext>
            </a:extLst>
          </p:cNvPr>
          <p:cNvSpPr>
            <a:spLocks noGrp="1"/>
          </p:cNvSpPr>
          <p:nvPr>
            <p:ph type="title"/>
          </p:nvPr>
        </p:nvSpPr>
        <p:spPr/>
        <p:txBody>
          <a:bodyPr/>
          <a:lstStyle/>
          <a:p>
            <a:r>
              <a:rPr lang="en-US"/>
              <a:t>Click to edit Master title style</a:t>
            </a:r>
          </a:p>
        </p:txBody>
      </p:sp>
      <p:sp>
        <p:nvSpPr>
          <p:cNvPr id="3" name="Text Placeholder 72">
            <a:extLst>
              <a:ext uri="{FF2B5EF4-FFF2-40B4-BE49-F238E27FC236}">
                <a16:creationId xmlns:a16="http://schemas.microsoft.com/office/drawing/2014/main" id="{6C567914-7763-9488-3D72-D1DA3CEBD0E1}"/>
              </a:ext>
            </a:extLst>
          </p:cNvPr>
          <p:cNvSpPr>
            <a:spLocks noGrp="1"/>
          </p:cNvSpPr>
          <p:nvPr>
            <p:ph type="body" sz="quarter" idx="36" hasCustomPrompt="1"/>
          </p:nvPr>
        </p:nvSpPr>
        <p:spPr>
          <a:xfrm>
            <a:off x="382588" y="1219202"/>
            <a:ext cx="11426825" cy="228599"/>
          </a:xfrm>
        </p:spPr>
        <p:txBody>
          <a:bodyPr/>
          <a:lstStyle>
            <a:lvl1pPr marL="0" indent="0">
              <a:spcBef>
                <a:spcPts val="0"/>
              </a:spcBef>
              <a:buNone/>
              <a:defRPr sz="1500" b="0" i="0">
                <a:latin typeface="Wells Fargo Sans SemiBold" panose="020B0503020203020204" pitchFamily="34" charset="0"/>
              </a:defRPr>
            </a:lvl1pPr>
          </a:lstStyle>
          <a:p>
            <a:pPr lvl="0"/>
            <a:r>
              <a:rPr lang="en-US"/>
              <a:t>Subhead</a:t>
            </a:r>
          </a:p>
        </p:txBody>
      </p:sp>
    </p:spTree>
    <p:extLst>
      <p:ext uri="{BB962C8B-B14F-4D97-AF65-F5344CB8AC3E}">
        <p14:creationId xmlns:p14="http://schemas.microsoft.com/office/powerpoint/2010/main" val="109854880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38F-6748-FB1C-7D87-5AB93C6D39E7}"/>
              </a:ext>
            </a:extLst>
          </p:cNvPr>
          <p:cNvSpPr>
            <a:spLocks noGrp="1"/>
          </p:cNvSpPr>
          <p:nvPr>
            <p:ph type="ctrTitle"/>
          </p:nvPr>
        </p:nvSpPr>
        <p:spPr>
          <a:xfrm>
            <a:off x="1524000" y="1122363"/>
            <a:ext cx="9144000"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12C41124-E629-59DD-479B-4DC8A683F9C8}"/>
              </a:ext>
            </a:extLst>
          </p:cNvPr>
          <p:cNvSpPr>
            <a:spLocks noGrp="1"/>
          </p:cNvSpPr>
          <p:nvPr>
            <p:ph type="subTitle" idx="1"/>
          </p:nvPr>
        </p:nvSpPr>
        <p:spPr>
          <a:xfrm>
            <a:off x="1524000" y="3602038"/>
            <a:ext cx="9144000" cy="1655762"/>
          </a:xfrm>
        </p:spPr>
        <p:txBody>
          <a:bodyPr/>
          <a:lstStyle>
            <a:lvl1pPr marL="0" indent="0" algn="ctr">
              <a:buNone/>
              <a:defRPr sz="2400"/>
            </a:lvl1pPr>
            <a:lvl2pPr marL="457018" indent="0" algn="ctr">
              <a:buNone/>
              <a:defRPr sz="2000"/>
            </a:lvl2pPr>
            <a:lvl3pPr marL="914034" indent="0" algn="ctr">
              <a:buNone/>
              <a:defRPr sz="1800"/>
            </a:lvl3pPr>
            <a:lvl4pPr marL="1371052" indent="0" algn="ctr">
              <a:buNone/>
              <a:defRPr sz="1600"/>
            </a:lvl4pPr>
            <a:lvl5pPr marL="1828068" indent="0" algn="ctr">
              <a:buNone/>
              <a:defRPr sz="1600"/>
            </a:lvl5pPr>
            <a:lvl6pPr marL="2285086" indent="0" algn="ctr">
              <a:buNone/>
              <a:defRPr sz="1600"/>
            </a:lvl6pPr>
            <a:lvl7pPr marL="2742102" indent="0" algn="ctr">
              <a:buNone/>
              <a:defRPr sz="1600"/>
            </a:lvl7pPr>
            <a:lvl8pPr marL="3199120" indent="0" algn="ctr">
              <a:buNone/>
              <a:defRPr sz="1600"/>
            </a:lvl8pPr>
            <a:lvl9pPr marL="365613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E20E71-9999-6E36-2430-15CB2D9AAAC9}"/>
              </a:ext>
            </a:extLst>
          </p:cNvPr>
          <p:cNvSpPr>
            <a:spLocks noGrp="1"/>
          </p:cNvSpPr>
          <p:nvPr>
            <p:ph type="dt" sz="half" idx="10"/>
          </p:nvPr>
        </p:nvSpPr>
        <p:spPr/>
        <p:txBody>
          <a:bodyPr/>
          <a:lstStyle/>
          <a:p>
            <a:fld id="{2528A199-0FF5-764B-BB87-285ACD20CC8D}" type="datetimeFigureOut">
              <a:rPr lang="en-US" smtClean="0"/>
              <a:t>6/18/26</a:t>
            </a:fld>
            <a:endParaRPr lang="en-US"/>
          </a:p>
        </p:txBody>
      </p:sp>
      <p:sp>
        <p:nvSpPr>
          <p:cNvPr id="5" name="Footer Placeholder 4">
            <a:extLst>
              <a:ext uri="{FF2B5EF4-FFF2-40B4-BE49-F238E27FC236}">
                <a16:creationId xmlns:a16="http://schemas.microsoft.com/office/drawing/2014/main" id="{5E68DC32-B805-CBE0-28E0-3823DBB4E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744A1-867B-6BCD-E520-BDDA38B2276B}"/>
              </a:ext>
            </a:extLst>
          </p:cNvPr>
          <p:cNvSpPr>
            <a:spLocks noGrp="1"/>
          </p:cNvSpPr>
          <p:nvPr>
            <p:ph type="sldNum" sz="quarter" idx="12"/>
          </p:nvPr>
        </p:nvSpPr>
        <p:spPr/>
        <p:txBody>
          <a:bodyPr/>
          <a:lstStyle/>
          <a:p>
            <a:fld id="{D1A9AEED-2D2B-7A41-9AA0-1711FDB11C00}" type="slidenum">
              <a:rPr lang="en-US" smtClean="0"/>
              <a:t>‹#›</a:t>
            </a:fld>
            <a:endParaRPr lang="en-US"/>
          </a:p>
        </p:txBody>
      </p:sp>
    </p:spTree>
    <p:extLst>
      <p:ext uri="{BB962C8B-B14F-4D97-AF65-F5344CB8AC3E}">
        <p14:creationId xmlns:p14="http://schemas.microsoft.com/office/powerpoint/2010/main" val="370730687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Big text 2">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288888" y="169655"/>
            <a:ext cx="5545750" cy="5828714"/>
          </a:xfrm>
        </p:spPr>
        <p:txBody>
          <a:bodyPr/>
          <a:lstStyle>
            <a:lvl1pPr>
              <a:lnSpc>
                <a:spcPct val="100000"/>
              </a:lnSpc>
              <a:defRPr sz="3198">
                <a:solidFill>
                  <a:schemeClr val="tx1"/>
                </a:solidFill>
              </a:defRPr>
            </a:lvl1pPr>
          </a:lstStyle>
          <a:p>
            <a:r>
              <a:rPr lang="en-US"/>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6537960"/>
            <a:ext cx="12192000" cy="32004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p>
            <a:r>
              <a:rPr lang="en-US"/>
              <a:t>IBM</a:t>
            </a:r>
            <a:r>
              <a:rPr lang="uk-UA"/>
              <a:t> </a:t>
            </a:r>
            <a:r>
              <a:rPr lang="en-US"/>
              <a:t>TechXchange | © 2025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726397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38878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20931186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27135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AGENDA_MASTER">
    <p:bg>
      <p:bgPr>
        <a:solidFill>
          <a:srgbClr val="F7F8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7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55" Type="http://schemas.openxmlformats.org/officeDocument/2006/relationships/slideLayout" Target="../slideLayouts/slideLayout68.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3" Type="http://schemas.openxmlformats.org/officeDocument/2006/relationships/slideLayout" Target="../slideLayouts/slideLayout66.xml"/><Relationship Id="rId5" Type="http://schemas.openxmlformats.org/officeDocument/2006/relationships/slideLayout" Target="../slideLayouts/slideLayout18.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56" Type="http://schemas.openxmlformats.org/officeDocument/2006/relationships/slideLayout" Target="../slideLayouts/slideLayout69.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54" Type="http://schemas.openxmlformats.org/officeDocument/2006/relationships/slideLayout" Target="../slideLayouts/slideLayout67.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 Id="rId57" Type="http://schemas.openxmlformats.org/officeDocument/2006/relationships/theme" Target="../theme/theme2.xml"/><Relationship Id="rId10" Type="http://schemas.openxmlformats.org/officeDocument/2006/relationships/slideLayout" Target="../slideLayouts/slideLayout23.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slideLayout" Target="../slideLayouts/slideLayout6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slideLayout" Target="../slideLayouts/slideLayout95.xml"/><Relationship Id="rId39" Type="http://schemas.openxmlformats.org/officeDocument/2006/relationships/slideLayout" Target="../slideLayouts/slideLayout108.xml"/><Relationship Id="rId21" Type="http://schemas.openxmlformats.org/officeDocument/2006/relationships/slideLayout" Target="../slideLayouts/slideLayout90.xml"/><Relationship Id="rId34" Type="http://schemas.openxmlformats.org/officeDocument/2006/relationships/slideLayout" Target="../slideLayouts/slideLayout103.xml"/><Relationship Id="rId42" Type="http://schemas.openxmlformats.org/officeDocument/2006/relationships/slideLayout" Target="../slideLayouts/slideLayout111.xml"/><Relationship Id="rId47" Type="http://schemas.openxmlformats.org/officeDocument/2006/relationships/slideLayout" Target="../slideLayouts/slideLayout116.xml"/><Relationship Id="rId50" Type="http://schemas.openxmlformats.org/officeDocument/2006/relationships/slideLayout" Target="../slideLayouts/slideLayout119.xml"/><Relationship Id="rId7" Type="http://schemas.openxmlformats.org/officeDocument/2006/relationships/slideLayout" Target="../slideLayouts/slideLayout7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9" Type="http://schemas.openxmlformats.org/officeDocument/2006/relationships/slideLayout" Target="../slideLayouts/slideLayout98.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slideLayout" Target="../slideLayouts/slideLayout101.xml"/><Relationship Id="rId37" Type="http://schemas.openxmlformats.org/officeDocument/2006/relationships/slideLayout" Target="../slideLayouts/slideLayout106.xml"/><Relationship Id="rId40" Type="http://schemas.openxmlformats.org/officeDocument/2006/relationships/slideLayout" Target="../slideLayouts/slideLayout109.xml"/><Relationship Id="rId45" Type="http://schemas.openxmlformats.org/officeDocument/2006/relationships/slideLayout" Target="../slideLayouts/slideLayout114.xml"/><Relationship Id="rId53" Type="http://schemas.openxmlformats.org/officeDocument/2006/relationships/slideLayout" Target="../slideLayouts/slideLayout122.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31" Type="http://schemas.openxmlformats.org/officeDocument/2006/relationships/slideLayout" Target="../slideLayouts/slideLayout100.xml"/><Relationship Id="rId44" Type="http://schemas.openxmlformats.org/officeDocument/2006/relationships/slideLayout" Target="../slideLayouts/slideLayout113.xml"/><Relationship Id="rId52" Type="http://schemas.openxmlformats.org/officeDocument/2006/relationships/slideLayout" Target="../slideLayouts/slideLayout121.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slideLayout" Target="../slideLayouts/slideLayout104.xml"/><Relationship Id="rId43" Type="http://schemas.openxmlformats.org/officeDocument/2006/relationships/slideLayout" Target="../slideLayouts/slideLayout112.xml"/><Relationship Id="rId48" Type="http://schemas.openxmlformats.org/officeDocument/2006/relationships/slideLayout" Target="../slideLayouts/slideLayout117.xml"/><Relationship Id="rId8" Type="http://schemas.openxmlformats.org/officeDocument/2006/relationships/slideLayout" Target="../slideLayouts/slideLayout77.xml"/><Relationship Id="rId51" Type="http://schemas.openxmlformats.org/officeDocument/2006/relationships/slideLayout" Target="../slideLayouts/slideLayout120.xml"/><Relationship Id="rId3" Type="http://schemas.openxmlformats.org/officeDocument/2006/relationships/slideLayout" Target="../slideLayouts/slideLayout72.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slideLayout" Target="../slideLayouts/slideLayout102.xml"/><Relationship Id="rId38" Type="http://schemas.openxmlformats.org/officeDocument/2006/relationships/slideLayout" Target="../slideLayouts/slideLayout107.xml"/><Relationship Id="rId46" Type="http://schemas.openxmlformats.org/officeDocument/2006/relationships/slideLayout" Target="../slideLayouts/slideLayout115.xml"/><Relationship Id="rId20" Type="http://schemas.openxmlformats.org/officeDocument/2006/relationships/slideLayout" Target="../slideLayouts/slideLayout89.xml"/><Relationship Id="rId41" Type="http://schemas.openxmlformats.org/officeDocument/2006/relationships/slideLayout" Target="../slideLayouts/slideLayout110.xml"/><Relationship Id="rId54" Type="http://schemas.openxmlformats.org/officeDocument/2006/relationships/theme" Target="../theme/theme3.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36" Type="http://schemas.openxmlformats.org/officeDocument/2006/relationships/slideLayout" Target="../slideLayouts/slideLayout105.xml"/><Relationship Id="rId49" Type="http://schemas.openxmlformats.org/officeDocument/2006/relationships/slideLayout" Target="../slideLayouts/slideLayout1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4.xml"/><Relationship Id="rId1" Type="http://schemas.openxmlformats.org/officeDocument/2006/relationships/slideLayout" Target="../slideLayouts/slideLayout12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6.xml"/><Relationship Id="rId1"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266602"/>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721" r:id="rId12"/>
    <p:sldLayoutId id="2147483776"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250684806"/>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 id="2147483711" r:id="rId47"/>
    <p:sldLayoutId id="2147483712" r:id="rId48"/>
    <p:sldLayoutId id="2147483713" r:id="rId49"/>
    <p:sldLayoutId id="2147483714" r:id="rId50"/>
    <p:sldLayoutId id="2147483715" r:id="rId51"/>
    <p:sldLayoutId id="2147483716" r:id="rId52"/>
    <p:sldLayoutId id="2147483717" r:id="rId53"/>
    <p:sldLayoutId id="2147483718" r:id="rId54"/>
    <p:sldLayoutId id="2147483719" r:id="rId55"/>
    <p:sldLayoutId id="2147483720" r:id="rId56"/>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8"/>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7"/>
            <a:ext cx="11293592"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6"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492615206"/>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57" r:id="rId35"/>
    <p:sldLayoutId id="2147483758" r:id="rId36"/>
    <p:sldLayoutId id="2147483759" r:id="rId37"/>
    <p:sldLayoutId id="2147483760" r:id="rId38"/>
    <p:sldLayoutId id="2147483761" r:id="rId39"/>
    <p:sldLayoutId id="2147483762" r:id="rId40"/>
    <p:sldLayoutId id="2147483763" r:id="rId41"/>
    <p:sldLayoutId id="2147483764" r:id="rId42"/>
    <p:sldLayoutId id="2147483765" r:id="rId43"/>
    <p:sldLayoutId id="2147483766" r:id="rId44"/>
    <p:sldLayoutId id="2147483767" r:id="rId45"/>
    <p:sldLayoutId id="2147483768" r:id="rId46"/>
    <p:sldLayoutId id="2147483769" r:id="rId47"/>
    <p:sldLayoutId id="2147483770" r:id="rId48"/>
    <p:sldLayoutId id="2147483771" r:id="rId49"/>
    <p:sldLayoutId id="2147483772" r:id="rId50"/>
    <p:sldLayoutId id="2147483773" r:id="rId51"/>
    <p:sldLayoutId id="2147483774" r:id="rId52"/>
    <p:sldLayoutId id="2147483775" r:id="rId53"/>
  </p:sldLayoutIdLst>
  <p:transition spd="med"/>
  <p:hf hdr="0" dt="0"/>
  <p:txStyles>
    <p:titleStyle>
      <a:lvl1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chemeClr val="tx2"/>
          </a:solidFill>
          <a:uFillTx/>
          <a:latin typeface="+mj-lt"/>
          <a:ea typeface="+mj-ea"/>
          <a:cs typeface="+mj-cs"/>
          <a:sym typeface="IBM Plex Sans Light"/>
        </a:defRPr>
      </a:lvl1pPr>
      <a:lvl2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2pPr>
      <a:lvl3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3pPr>
      <a:lvl4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4pPr>
      <a:lvl5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5pPr>
      <a:lvl6pPr marL="0" marR="0" indent="181212"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6pPr>
      <a:lvl7pPr marL="0" marR="0" indent="36242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7pPr>
      <a:lvl8pPr marL="0" marR="0" indent="54363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8pPr>
      <a:lvl9pPr marL="0" marR="0" indent="724848"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9pPr>
    </p:titleStyle>
    <p:bodyStyle>
      <a:lvl1pPr marL="0" marR="0" indent="0" algn="l" defTabSz="1218712"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26"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052"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578"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272" marR="0" indent="-228508" algn="l" defTabSz="1218712"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162"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374"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586"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4798"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2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853"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281"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708"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136"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562"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19999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41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98063"/>
      </p:ext>
    </p:extLst>
  </p:cSld>
  <p:clrMap bg1="lt1" tx1="dk1" bg2="lt2" tx2="dk2" accent1="accent1" accent2="accent2" accent3="accent3" accent4="accent4" accent5="accent5" accent6="accent6" hlink="hlink" folHlink="folHlink"/>
  <p:sldLayoutIdLst>
    <p:sldLayoutId id="2147483778" r:id="rId1"/>
    <p:sldLayoutId id="214748379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9375169"/>
      </p:ext>
    </p:extLst>
  </p:cSld>
  <p:clrMap bg1="lt1" tx1="dk1" bg2="lt2" tx2="dk2" accent1="accent1" accent2="accent2" accent3="accent3" accent4="accent4" accent5="accent5" accent6="accent6" hlink="hlink" folHlink="folHlink"/>
  <p:sldLayoutIdLst>
    <p:sldLayoutId id="2147483796" r:id="rId1"/>
    <p:sldLayoutId id="214748379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3" Type="http://schemas.openxmlformats.org/officeDocument/2006/relationships/hyperlink" Target="https://ibm.seismic.com/Link/Content/DCC7FMWGhTpR8G2Fh77BQhmBq3H3"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79.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 Id="rId9" Type="http://schemas.openxmlformats.org/officeDocument/2006/relationships/image" Target="../media/image16.svg"/></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11.xml"/><Relationship Id="rId1" Type="http://schemas.openxmlformats.org/officeDocument/2006/relationships/slideLayout" Target="../slideLayouts/slideLayout79.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5" descr="Illustration of cyan arrows flowing to the upper right corner of slide">
            <a:extLst>
              <a:ext uri="{FF2B5EF4-FFF2-40B4-BE49-F238E27FC236}">
                <a16:creationId xmlns:a16="http://schemas.microsoft.com/office/drawing/2014/main" id="{7A26BA8C-2B66-639C-B127-8E9E2D96DC1D}"/>
              </a:ext>
            </a:extLst>
          </p:cNvPr>
          <p:cNvPicPr>
            <a:picLocks noGrp="1" noChangeAspect="1"/>
          </p:cNvPicPr>
          <p:nvPr>
            <p:ph type="pic" idx="4294967295"/>
          </p:nvPr>
        </p:nvPicPr>
        <p:blipFill>
          <a:blip r:embed="rId3"/>
          <a:srcRect l="40" r="40"/>
          <a:stretch>
            <a:fillRect/>
          </a:stretch>
        </p:blipFill>
        <p:spPr>
          <a:xfrm>
            <a:off x="6380917" y="286159"/>
            <a:ext cx="5520849" cy="6288511"/>
          </a:xfrm>
          <a:solidFill>
            <a:srgbClr val="E0E0E0"/>
          </a:solidFill>
        </p:spPr>
      </p:pic>
      <p:sp>
        <p:nvSpPr>
          <p:cNvPr id="3" name="Title 2">
            <a:extLst>
              <a:ext uri="{FF2B5EF4-FFF2-40B4-BE49-F238E27FC236}">
                <a16:creationId xmlns:a16="http://schemas.microsoft.com/office/drawing/2014/main" id="{56E169B2-8260-FFA9-E24B-87A2D3A06F67}"/>
              </a:ext>
            </a:extLst>
          </p:cNvPr>
          <p:cNvSpPr txBox="1">
            <a:spLocks noGrp="1"/>
          </p:cNvSpPr>
          <p:nvPr>
            <p:ph type="title"/>
          </p:nvPr>
        </p:nvSpPr>
        <p:spPr>
          <a:xfrm>
            <a:off x="290234" y="156003"/>
            <a:ext cx="6090683" cy="5990273"/>
          </a:xfrm>
        </p:spPr>
        <p:txBody>
          <a:bodyPr lIns="0" tIns="0" rIns="0" bIns="0" anchor="t"/>
          <a:lstStyle/>
          <a:p>
            <a:r>
              <a:rPr lang="en-US" dirty="0">
                <a:solidFill>
                  <a:srgbClr val="0F62FE"/>
                </a:solidFill>
              </a:rPr>
              <a:t>IBM Financial Services Market</a:t>
            </a:r>
            <a:br>
              <a:rPr lang="en-US" dirty="0">
                <a:solidFill>
                  <a:srgbClr val="0F62FE"/>
                </a:solidFill>
              </a:rPr>
            </a:br>
            <a:br>
              <a:rPr lang="en-US" dirty="0">
                <a:solidFill>
                  <a:srgbClr val="0F62FE"/>
                </a:solidFill>
              </a:rPr>
            </a:br>
            <a:r>
              <a:rPr lang="en-US" sz="2999" i="1" dirty="0"/>
              <a:t>Core to Modernization Pilot Program</a:t>
            </a:r>
            <a:br>
              <a:rPr lang="en-US" sz="2999" i="1" dirty="0"/>
            </a:br>
            <a:r>
              <a:rPr lang="en-US" sz="2999" i="1" dirty="0"/>
              <a:t>FSM – Product Connect, June 19</a:t>
            </a:r>
            <a:br>
              <a:rPr lang="en-US" sz="2999" i="1" dirty="0"/>
            </a:br>
            <a:br>
              <a:rPr lang="en-US" sz="2999" i="1" dirty="0"/>
            </a:br>
            <a:r>
              <a:rPr lang="en-US" sz="2000" b="1" i="1" dirty="0"/>
              <a:t>Meeting attendees:</a:t>
            </a:r>
            <a:br>
              <a:rPr lang="en-US" sz="2999" i="1" dirty="0"/>
            </a:br>
            <a:br>
              <a:rPr lang="en-US" sz="2999" i="1" dirty="0"/>
            </a:br>
            <a:r>
              <a:rPr lang="en-US" sz="2000" i="1" dirty="0"/>
              <a:t>Core Software Product Management:</a:t>
            </a:r>
            <a:br>
              <a:rPr lang="en-US" sz="2000" i="1" dirty="0"/>
            </a:br>
            <a:r>
              <a:rPr lang="en-US" sz="2000" i="1" dirty="0"/>
              <a:t>Priya Srinivasan, Carrie Rogers, Stacy Nawrocki, </a:t>
            </a:r>
            <a:br>
              <a:rPr lang="en-US" sz="2000" i="1" dirty="0"/>
            </a:br>
            <a:r>
              <a:rPr lang="en-US" sz="2000" i="1" dirty="0"/>
              <a:t>Will Streit, Martin Oberhofer, Melissa Modjeski</a:t>
            </a:r>
            <a:br>
              <a:rPr lang="en-US" sz="2000" i="1" dirty="0"/>
            </a:br>
            <a:br>
              <a:rPr lang="en-US" sz="2000" i="1" dirty="0"/>
            </a:br>
            <a:r>
              <a:rPr lang="en-US" sz="2000" i="1" dirty="0"/>
              <a:t>FSM Technical Sales:</a:t>
            </a:r>
            <a:br>
              <a:rPr lang="en-US" sz="2000" i="1" dirty="0"/>
            </a:br>
            <a:r>
              <a:rPr lang="en-US" sz="2000" i="1" dirty="0"/>
              <a:t>Krishnan NR, Rolando Franco, Monika Aggarwal</a:t>
            </a:r>
            <a:br>
              <a:rPr lang="en-US" sz="2000" i="1" dirty="0"/>
            </a:br>
            <a:br>
              <a:rPr lang="en-US" sz="2000" i="1" dirty="0"/>
            </a:br>
            <a:br>
              <a:rPr lang="en-US" sz="2000" i="1" dirty="0"/>
            </a:br>
            <a:br>
              <a:rPr lang="en-US" sz="2999" i="1" dirty="0"/>
            </a:br>
            <a:br>
              <a:rPr lang="en-US" sz="2999" i="1" dirty="0"/>
            </a:br>
            <a:br>
              <a:rPr lang="en-US" sz="2999" i="1" dirty="0"/>
            </a:br>
            <a:br>
              <a:rPr lang="en-US" sz="2999" i="1" dirty="0"/>
            </a:br>
            <a:br>
              <a:rPr lang="en-US" sz="2999" i="1" dirty="0"/>
            </a:br>
            <a:br>
              <a:rPr lang="en-US" sz="3299" i="1" dirty="0">
                <a:latin typeface="IBM Plex Sans Light" pitchFamily="34"/>
              </a:rPr>
            </a:br>
            <a:br>
              <a:rPr lang="en-US" sz="3299" i="1" dirty="0"/>
            </a:br>
            <a:r>
              <a:rPr lang="en-US" sz="1400" i="1" dirty="0"/>
              <a:t>May 11, </a:t>
            </a:r>
            <a:r>
              <a:rPr lang="en-US" sz="1400" dirty="0"/>
              <a:t>2026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347472"/>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FSM Product Connect with | Meeting Agenda</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30352" y="749808"/>
            <a:ext cx="964692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6B7280"/>
                </a:solidFill>
                <a:effectLst/>
                <a:uLnTx/>
                <a:uFillTx/>
                <a:latin typeface="Aptos" pitchFamily="34" charset="0"/>
                <a:ea typeface="Aptos" pitchFamily="34" charset="-122"/>
                <a:cs typeface="Aptos" pitchFamily="34" charset="-120"/>
              </a:rPr>
              <a:t>Focus: validate where Core Product is involved, what needs leadership help, and how we support client-facing modernization.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502920" y="1115568"/>
            <a:ext cx="11201400" cy="0"/>
          </a:xfrm>
          <a:prstGeom prst="line">
            <a:avLst/>
          </a:prstGeom>
          <a:noFill/>
          <a:ln w="12700">
            <a:solidFill>
              <a:srgbClr val="D9E1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4"/>
          <p:cNvSpPr/>
          <p:nvPr/>
        </p:nvSpPr>
        <p:spPr>
          <a:xfrm>
            <a:off x="502920" y="6089904"/>
            <a:ext cx="11201400" cy="0"/>
          </a:xfrm>
          <a:prstGeom prst="line">
            <a:avLst/>
          </a:prstGeom>
          <a:noFill/>
          <a:ln w="12700">
            <a:solidFill>
              <a:srgbClr val="D9E1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5029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Shape 6"/>
          <p:cNvSpPr/>
          <p:nvPr/>
        </p:nvSpPr>
        <p:spPr>
          <a:xfrm>
            <a:off x="685800" y="1627632"/>
            <a:ext cx="3246120" cy="0"/>
          </a:xfrm>
          <a:prstGeom prst="line">
            <a:avLst/>
          </a:prstGeom>
          <a:noFill/>
          <a:ln w="2667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Text 7"/>
          <p:cNvSpPr/>
          <p:nvPr/>
        </p:nvSpPr>
        <p:spPr>
          <a:xfrm>
            <a:off x="704088" y="1819656"/>
            <a:ext cx="475488" cy="292608"/>
          </a:xfrm>
          <a:prstGeom prst="rect">
            <a:avLst/>
          </a:prstGeom>
          <a:solidFill>
            <a:srgbClr val="E8F0FF"/>
          </a:solidFill>
          <a:ln w="10160">
            <a:solidFill>
              <a:srgbClr val="CFE1F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01</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10" name="Image 0" descr="/mnt/data/icon_bullseye4.png"/>
          <p:cNvPicPr>
            <a:picLocks noChangeAspect="1"/>
          </p:cNvPicPr>
          <p:nvPr/>
        </p:nvPicPr>
        <p:blipFill>
          <a:blip r:embed="rId3"/>
          <a:stretch>
            <a:fillRect/>
          </a:stretch>
        </p:blipFill>
        <p:spPr>
          <a:xfrm>
            <a:off x="3474720" y="1783080"/>
            <a:ext cx="329184" cy="329184"/>
          </a:xfrm>
          <a:prstGeom prst="rect">
            <a:avLst/>
          </a:prstGeom>
        </p:spPr>
      </p:pic>
      <p:sp>
        <p:nvSpPr>
          <p:cNvPr id="11" name="Text 8"/>
          <p:cNvSpPr/>
          <p:nvPr/>
        </p:nvSpPr>
        <p:spPr>
          <a:xfrm>
            <a:off x="1252728" y="1819656"/>
            <a:ext cx="2103120" cy="320040"/>
          </a:xfrm>
          <a:prstGeom prst="rect">
            <a:avLst/>
          </a:prstGeom>
          <a:noFill/>
          <a:ln/>
        </p:spPr>
        <p:txBody>
          <a:bodyPr wrap="square" lIns="127" tIns="127" rIns="127" bIns="127"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Status: Blueprint assets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9"/>
          <p:cNvSpPr/>
          <p:nvPr/>
        </p:nvSpPr>
        <p:spPr>
          <a:xfrm>
            <a:off x="8321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Quick recap of core assets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Business Value Assessment (BVA)</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Product Modernization Technical View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prstClr val="black"/>
                </a:solidFill>
                <a:effectLst/>
                <a:highlight>
                  <a:srgbClr val="FFFF00"/>
                </a:highlight>
                <a:uLnTx/>
                <a:uFillTx/>
                <a:latin typeface="Aptos"/>
                <a:ea typeface="+mn-ea"/>
                <a:cs typeface="+mn-cs"/>
              </a:rPr>
              <a:t>CSE credibility: Product Modernization Technical View + </a:t>
            </a:r>
            <a:r>
              <a:rPr lang="en-US" sz="1250" dirty="0">
                <a:solidFill>
                  <a:prstClr val="black"/>
                </a:solidFill>
                <a:highlight>
                  <a:srgbClr val="FFFF00"/>
                </a:highlight>
                <a:latin typeface="Aptos"/>
              </a:rPr>
              <a:t>BVA </a:t>
            </a:r>
            <a:r>
              <a:rPr kumimoji="0" lang="en-US" sz="1250" b="0" i="0" u="none" strike="noStrike" kern="1200" cap="none" spc="0" normalizeH="0" baseline="0" noProof="0" dirty="0">
                <a:ln>
                  <a:noFill/>
                </a:ln>
                <a:solidFill>
                  <a:prstClr val="black"/>
                </a:solidFill>
                <a:effectLst/>
                <a:highlight>
                  <a:srgbClr val="FFFF00"/>
                </a:highlight>
                <a:uLnTx/>
                <a:uFillTx/>
                <a:latin typeface="Aptos"/>
                <a:ea typeface="+mn-ea"/>
                <a:cs typeface="+mn-cs"/>
              </a:rPr>
              <a:t>+ product proof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0"/>
          <p:cNvSpPr/>
          <p:nvPr/>
        </p:nvSpPr>
        <p:spPr>
          <a:xfrm>
            <a:off x="731520" y="5001768"/>
            <a:ext cx="3154680" cy="457200"/>
          </a:xfrm>
          <a:prstGeom prst="rect">
            <a:avLst/>
          </a:prstGeom>
          <a:solidFill>
            <a:srgbClr val="F3F7FF"/>
          </a:solidFill>
          <a:ln w="8890">
            <a:solidFill>
              <a:srgbClr val="D8E6FF"/>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validate asset purpose and usage.</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1"/>
          <p:cNvSpPr/>
          <p:nvPr/>
        </p:nvSpPr>
        <p:spPr>
          <a:xfrm>
            <a:off x="43891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2"/>
          <p:cNvSpPr/>
          <p:nvPr/>
        </p:nvSpPr>
        <p:spPr>
          <a:xfrm>
            <a:off x="4572000" y="1627632"/>
            <a:ext cx="3246120" cy="0"/>
          </a:xfrm>
          <a:prstGeom prst="line">
            <a:avLst/>
          </a:prstGeom>
          <a:noFill/>
          <a:ln w="26670">
            <a:solidFill>
              <a:srgbClr val="0E7C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3"/>
          <p:cNvSpPr/>
          <p:nvPr/>
        </p:nvSpPr>
        <p:spPr>
          <a:xfrm>
            <a:off x="4590288" y="1819656"/>
            <a:ext cx="475488" cy="292608"/>
          </a:xfrm>
          <a:prstGeom prst="rect">
            <a:avLst/>
          </a:prstGeom>
          <a:solidFill>
            <a:srgbClr val="E5F4EF"/>
          </a:solidFill>
          <a:ln w="10160">
            <a:solidFill>
              <a:srgbClr val="C8E6DA"/>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7C66"/>
                </a:solidFill>
                <a:effectLst/>
                <a:uLnTx/>
                <a:uFillTx/>
                <a:latin typeface="Aptos" pitchFamily="34" charset="0"/>
                <a:ea typeface="Aptos" pitchFamily="34" charset="-122"/>
                <a:cs typeface="Aptos" pitchFamily="34" charset="-120"/>
              </a:rPr>
              <a:t>02</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17" name="Image 1" descr="/mnt/data/icon_barchart_fixed.png"/>
          <p:cNvPicPr>
            <a:picLocks noChangeAspect="1"/>
          </p:cNvPicPr>
          <p:nvPr/>
        </p:nvPicPr>
        <p:blipFill>
          <a:blip r:embed="rId4"/>
          <a:stretch>
            <a:fillRect/>
          </a:stretch>
        </p:blipFill>
        <p:spPr>
          <a:xfrm>
            <a:off x="7434072" y="1792224"/>
            <a:ext cx="329184" cy="329184"/>
          </a:xfrm>
          <a:prstGeom prst="rect">
            <a:avLst/>
          </a:prstGeom>
        </p:spPr>
      </p:pic>
      <p:sp>
        <p:nvSpPr>
          <p:cNvPr id="18" name="Text 14"/>
          <p:cNvSpPr/>
          <p:nvPr/>
        </p:nvSpPr>
        <p:spPr>
          <a:xfrm>
            <a:off x="5138928" y="1760220"/>
            <a:ext cx="2221992" cy="320040"/>
          </a:xfrm>
          <a:prstGeom prst="rect">
            <a:avLst/>
          </a:prstGeom>
          <a:noFill/>
          <a:ln/>
        </p:spPr>
        <p:txBody>
          <a:bodyPr wrap="square" lIns="127" tIns="127" rIns="127" bIns="127"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mn-ea"/>
                <a:cs typeface="+mn-cs"/>
              </a:rPr>
              <a:t>Product</a:t>
            </a: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 </a:t>
            </a:r>
            <a:r>
              <a:rPr kumimoji="0" lang="en-US" sz="1600" b="1" i="0" u="none" strike="noStrike" kern="1200" cap="none" spc="0" normalizeH="0" baseline="0" noProof="0" dirty="0">
                <a:ln>
                  <a:noFill/>
                </a:ln>
                <a:solidFill>
                  <a:srgbClr val="0F2742"/>
                </a:solidFill>
                <a:effectLst/>
                <a:uLnTx/>
                <a:uFillTx/>
                <a:latin typeface="Aptos" pitchFamily="34" charset="0"/>
                <a:ea typeface="+mn-ea"/>
                <a:cs typeface="+mn-cs"/>
              </a:rPr>
              <a:t>Engagement</a:t>
            </a: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 on Modernization pilots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5"/>
          <p:cNvSpPr/>
          <p:nvPr/>
        </p:nvSpPr>
        <p:spPr>
          <a:xfrm>
            <a:off x="47183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Product Engagement Review: where Product is already engaged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Executive Ask View: what needs Product leadership help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Portfolio Heatmap: patterns across products and pillars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6"/>
          <p:cNvSpPr/>
          <p:nvPr/>
        </p:nvSpPr>
        <p:spPr>
          <a:xfrm>
            <a:off x="4617720" y="5001768"/>
            <a:ext cx="3154680" cy="457200"/>
          </a:xfrm>
          <a:prstGeom prst="rect">
            <a:avLst/>
          </a:prstGeom>
          <a:solidFill>
            <a:srgbClr val="F2FAF7"/>
          </a:solidFill>
          <a:ln w="8890">
            <a:solidFill>
              <a:srgbClr val="D6EDE4"/>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agree on visibility and routing.</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7"/>
          <p:cNvSpPr/>
          <p:nvPr/>
        </p:nvSpPr>
        <p:spPr>
          <a:xfrm>
            <a:off x="82753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18"/>
          <p:cNvSpPr/>
          <p:nvPr/>
        </p:nvSpPr>
        <p:spPr>
          <a:xfrm>
            <a:off x="8458200" y="1627632"/>
            <a:ext cx="3246120" cy="0"/>
          </a:xfrm>
          <a:prstGeom prst="line">
            <a:avLst/>
          </a:prstGeom>
          <a:noFill/>
          <a:ln w="26670">
            <a:solidFill>
              <a:srgbClr val="B779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19"/>
          <p:cNvSpPr/>
          <p:nvPr/>
        </p:nvSpPr>
        <p:spPr>
          <a:xfrm>
            <a:off x="8476488" y="1819656"/>
            <a:ext cx="475488" cy="292608"/>
          </a:xfrm>
          <a:prstGeom prst="rect">
            <a:avLst/>
          </a:prstGeom>
          <a:solidFill>
            <a:srgbClr val="FFF4DA"/>
          </a:solidFill>
          <a:ln w="10160">
            <a:solidFill>
              <a:srgbClr val="F5D99A"/>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791F"/>
                </a:solidFill>
                <a:effectLst/>
                <a:uLnTx/>
                <a:uFillTx/>
                <a:latin typeface="Aptos" pitchFamily="34" charset="0"/>
                <a:ea typeface="Aptos" pitchFamily="34" charset="-122"/>
                <a:cs typeface="Aptos" pitchFamily="34" charset="-120"/>
              </a:rPr>
              <a:t>03</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24" name="Image 2" descr="/mnt/data/icon_rocket_fixed.png"/>
          <p:cNvPicPr>
            <a:picLocks noChangeAspect="1"/>
          </p:cNvPicPr>
          <p:nvPr/>
        </p:nvPicPr>
        <p:blipFill>
          <a:blip r:embed="rId5"/>
          <a:stretch>
            <a:fillRect/>
          </a:stretch>
        </p:blipFill>
        <p:spPr>
          <a:xfrm>
            <a:off x="11247120" y="1783080"/>
            <a:ext cx="329184" cy="329184"/>
          </a:xfrm>
          <a:prstGeom prst="rect">
            <a:avLst/>
          </a:prstGeom>
        </p:spPr>
      </p:pic>
      <p:sp>
        <p:nvSpPr>
          <p:cNvPr id="25" name="Text 20"/>
          <p:cNvSpPr/>
          <p:nvPr/>
        </p:nvSpPr>
        <p:spPr>
          <a:xfrm>
            <a:off x="9025128" y="1819656"/>
            <a:ext cx="2103120" cy="320040"/>
          </a:xfrm>
          <a:prstGeom prst="rect">
            <a:avLst/>
          </a:prstGeom>
          <a:noFill/>
          <a:ln/>
        </p:spPr>
        <p:txBody>
          <a:bodyPr wrap="square" lIns="127" tIns="127" rIns="127" bIns="127"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Client briefing sessions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1"/>
          <p:cNvSpPr/>
          <p:nvPr/>
        </p:nvSpPr>
        <p:spPr>
          <a:xfrm>
            <a:off x="86045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Align on Product role in client-facing modernization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Confirm PM, roadmap, and product proof support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Identify where executive presence or sponsorship is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Connect briefings to account motion and follow-up ownership</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2"/>
          <p:cNvSpPr/>
          <p:nvPr/>
        </p:nvSpPr>
        <p:spPr>
          <a:xfrm>
            <a:off x="8503920" y="5001768"/>
            <a:ext cx="3154680" cy="457200"/>
          </a:xfrm>
          <a:prstGeom prst="rect">
            <a:avLst/>
          </a:prstGeom>
          <a:solidFill>
            <a:srgbClr val="FFF9EC"/>
          </a:solidFill>
          <a:ln w="8890">
            <a:solidFill>
              <a:srgbClr val="F6E2B5"/>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confirm support model and next events.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3"/>
          <p:cNvSpPr/>
          <p:nvPr/>
        </p:nvSpPr>
        <p:spPr>
          <a:xfrm>
            <a:off x="566928" y="6245352"/>
            <a:ext cx="256032" cy="256032"/>
          </a:xfrm>
          <a:prstGeom prst="rect">
            <a:avLst/>
          </a:prstGeom>
          <a:solidFill>
            <a:srgbClr val="0F62FE"/>
          </a:solidFill>
          <a:ln>
            <a:solidFill>
              <a:srgbClr val="0F62FE">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24"/>
          <p:cNvSpPr/>
          <p:nvPr/>
        </p:nvSpPr>
        <p:spPr>
          <a:xfrm>
            <a:off x="932688" y="6254496"/>
            <a:ext cx="804672" cy="237744"/>
          </a:xfrm>
          <a:prstGeom prst="rect">
            <a:avLst/>
          </a:prstGeom>
          <a:noFill/>
          <a:ln/>
        </p:spPr>
        <p:txBody>
          <a:bodyPr wrap="square" lIns="0" tIns="0" rIns="0" bIns="0" rtlCol="0" anchor="t">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Target close: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5"/>
          <p:cNvSpPr/>
          <p:nvPr/>
        </p:nvSpPr>
        <p:spPr>
          <a:xfrm>
            <a:off x="2011680" y="6254496"/>
            <a:ext cx="882396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Validate Product involvement views, confirm leadership asks, and align on client briefing support model.</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6"/>
          <p:cNvSpPr/>
          <p:nvPr/>
        </p:nvSpPr>
        <p:spPr>
          <a:xfrm>
            <a:off x="9464040" y="6519672"/>
            <a:ext cx="2103120" cy="164592"/>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8A94A6"/>
                </a:solidFill>
                <a:effectLst/>
                <a:uLnTx/>
                <a:uFillTx/>
                <a:latin typeface="Aptos" pitchFamily="34" charset="0"/>
                <a:ea typeface="Aptos" pitchFamily="34" charset="-122"/>
                <a:cs typeface="Aptos" pitchFamily="34" charset="-120"/>
              </a:rPr>
              <a:t>Core Software Modernization | Product Connect</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53A7-21FE-D684-BDE0-BED3B896E7D9}"/>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A7E65938-A63C-9F0A-9A39-D0BD2D5D8954}"/>
              </a:ext>
            </a:extLst>
          </p:cNvPr>
          <p:cNvSpPr txBox="1"/>
          <p:nvPr/>
        </p:nvSpPr>
        <p:spPr>
          <a:xfrm>
            <a:off x="11769264" y="6475462"/>
            <a:ext cx="135437" cy="123094"/>
          </a:xfrm>
          <a:prstGeom prst="rect">
            <a:avLst/>
          </a:prstGeom>
          <a:noFill/>
          <a:ln cap="flat">
            <a:noFill/>
          </a:ln>
        </p:spPr>
        <p:txBody>
          <a:bodyPr vert="horz" wrap="square" lIns="0" tIns="0" rIns="0" bIns="0" anchor="b" anchorCtr="0" compatLnSpc="1">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F236CF04-9176-8B4F-A590-9E50191D84F4}" type="slidenum">
              <a:rPr kumimoji="0" lang="en-US" sz="800" b="0" i="0" u="none" strike="noStrike" kern="1200" cap="none" spc="0" normalizeH="0" baseline="0" noProof="0">
                <a:ln>
                  <a:noFill/>
                </a:ln>
                <a:solidFill>
                  <a:srgbClr val="000000"/>
                </a:solidFill>
                <a:effectLst/>
                <a:uLnTx/>
                <a:uFillTx/>
                <a:latin typeface="IBM Plex Sans" pitchFamily="34"/>
                <a:ea typeface="+mn-ea"/>
                <a:cs typeface="+mn-cs"/>
              </a:rPr>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800" b="0" i="0" u="none" strike="noStrike" kern="1200" cap="none" spc="0" normalizeH="0" baseline="0" noProof="0">
              <a:ln>
                <a:noFill/>
              </a:ln>
              <a:solidFill>
                <a:srgbClr val="000000"/>
              </a:solidFill>
              <a:effectLst/>
              <a:uLnTx/>
              <a:uFillTx/>
              <a:latin typeface="IBM Plex Sans" pitchFamily="34"/>
              <a:ea typeface="+mn-ea"/>
              <a:cs typeface="+mn-cs"/>
            </a:endParaRPr>
          </a:p>
        </p:txBody>
      </p:sp>
      <p:sp>
        <p:nvSpPr>
          <p:cNvPr id="2" name="Content Placeholder 1">
            <a:extLst>
              <a:ext uri="{FF2B5EF4-FFF2-40B4-BE49-F238E27FC236}">
                <a16:creationId xmlns:a16="http://schemas.microsoft.com/office/drawing/2014/main" id="{60413399-27BF-DE8B-1EA7-DE8813E2241D}"/>
              </a:ext>
            </a:extLst>
          </p:cNvPr>
          <p:cNvSpPr txBox="1">
            <a:spLocks/>
          </p:cNvSpPr>
          <p:nvPr/>
        </p:nvSpPr>
        <p:spPr>
          <a:xfrm>
            <a:off x="305550" y="229017"/>
            <a:ext cx="7946684" cy="319394"/>
          </a:xfrm>
          <a:prstGeom prst="rect">
            <a:avLst/>
          </a:prstGeom>
        </p:spPr>
        <p:txBody>
          <a:bodyPr vert="horz"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2200" dirty="0"/>
              <a:t>Core to Modernization (C2M)</a:t>
            </a:r>
          </a:p>
        </p:txBody>
      </p:sp>
      <p:grpSp>
        <p:nvGrpSpPr>
          <p:cNvPr id="28" name="Group 27">
            <a:extLst>
              <a:ext uri="{FF2B5EF4-FFF2-40B4-BE49-F238E27FC236}">
                <a16:creationId xmlns:a16="http://schemas.microsoft.com/office/drawing/2014/main" id="{29228CA3-6647-500D-1304-3DB97368908F}"/>
              </a:ext>
            </a:extLst>
          </p:cNvPr>
          <p:cNvGrpSpPr/>
          <p:nvPr/>
        </p:nvGrpSpPr>
        <p:grpSpPr>
          <a:xfrm>
            <a:off x="10482535" y="183198"/>
            <a:ext cx="1434137" cy="790956"/>
            <a:chOff x="9182872" y="11160287"/>
            <a:chExt cx="2868648" cy="1582118"/>
          </a:xfrm>
        </p:grpSpPr>
        <p:sp>
          <p:nvSpPr>
            <p:cNvPr id="29" name="Rectangle 28">
              <a:extLst>
                <a:ext uri="{FF2B5EF4-FFF2-40B4-BE49-F238E27FC236}">
                  <a16:creationId xmlns:a16="http://schemas.microsoft.com/office/drawing/2014/main" id="{86F5AA37-A613-FA33-E934-30D97EF0F8F3}"/>
                </a:ext>
              </a:extLst>
            </p:cNvPr>
            <p:cNvSpPr/>
            <p:nvPr/>
          </p:nvSpPr>
          <p:spPr bwMode="auto">
            <a:xfrm>
              <a:off x="9182872" y="11458947"/>
              <a:ext cx="1434325" cy="1283458"/>
            </a:xfrm>
            <a:prstGeom prst="rect">
              <a:avLst/>
            </a:prstGeom>
            <a:gradFill>
              <a:gsLst>
                <a:gs pos="0">
                  <a:schemeClr val="accent1">
                    <a:lumMod val="20000"/>
                    <a:lumOff val="80000"/>
                  </a:schemeClr>
                </a:gs>
                <a:gs pos="100000">
                  <a:schemeClr val="accent2">
                    <a:lumMod val="20000"/>
                    <a:lumOff val="8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0" name="Freeform 29">
              <a:extLst>
                <a:ext uri="{FF2B5EF4-FFF2-40B4-BE49-F238E27FC236}">
                  <a16:creationId xmlns:a16="http://schemas.microsoft.com/office/drawing/2014/main" id="{C362A993-D677-982B-3CA1-E0EF3FE9847D}"/>
                </a:ext>
              </a:extLst>
            </p:cNvPr>
            <p:cNvSpPr/>
            <p:nvPr/>
          </p:nvSpPr>
          <p:spPr bwMode="auto">
            <a:xfrm>
              <a:off x="9371005" y="11599685"/>
              <a:ext cx="1058057" cy="500122"/>
            </a:xfrm>
            <a:custGeom>
              <a:avLst/>
              <a:gdLst>
                <a:gd name="csX0" fmla="*/ 4285462 w 8570925"/>
                <a:gd name="csY0" fmla="*/ 0 h 4051300"/>
                <a:gd name="csX1" fmla="*/ 8555900 w 8570925"/>
                <a:gd name="csY1" fmla="*/ 3853707 h 4051300"/>
                <a:gd name="csX2" fmla="*/ 8570925 w 8570925"/>
                <a:gd name="csY2" fmla="*/ 4051300 h 4051300"/>
                <a:gd name="csX3" fmla="*/ 0 w 8570925"/>
                <a:gd name="csY3" fmla="*/ 4051300 h 4051300"/>
                <a:gd name="csX4" fmla="*/ 15024 w 8570925"/>
                <a:gd name="csY4" fmla="*/ 3853707 h 4051300"/>
                <a:gd name="csX5" fmla="*/ 4285462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4285462" y="0"/>
                  </a:moveTo>
                  <a:cubicBezTo>
                    <a:pt x="6508029" y="0"/>
                    <a:pt x="8336076" y="1689136"/>
                    <a:pt x="8555900" y="3853707"/>
                  </a:cubicBezTo>
                  <a:lnTo>
                    <a:pt x="8570925" y="4051300"/>
                  </a:lnTo>
                  <a:lnTo>
                    <a:pt x="0" y="4051300"/>
                  </a:lnTo>
                  <a:lnTo>
                    <a:pt x="15024" y="3853707"/>
                  </a:lnTo>
                  <a:cubicBezTo>
                    <a:pt x="234848" y="1689136"/>
                    <a:pt x="2062895" y="0"/>
                    <a:pt x="4285462" y="0"/>
                  </a:cubicBezTo>
                  <a:close/>
                </a:path>
              </a:pathLst>
            </a:cu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1" name="Freeform 30">
              <a:extLst>
                <a:ext uri="{FF2B5EF4-FFF2-40B4-BE49-F238E27FC236}">
                  <a16:creationId xmlns:a16="http://schemas.microsoft.com/office/drawing/2014/main" id="{6DF3DB8B-5ADF-F14E-025D-844578FFC894}"/>
                </a:ext>
              </a:extLst>
            </p:cNvPr>
            <p:cNvSpPr/>
            <p:nvPr/>
          </p:nvSpPr>
          <p:spPr bwMode="auto">
            <a:xfrm>
              <a:off x="9371005" y="12171045"/>
              <a:ext cx="1058057" cy="500122"/>
            </a:xfrm>
            <a:custGeom>
              <a:avLst/>
              <a:gdLst>
                <a:gd name="csX0" fmla="*/ 0 w 8570925"/>
                <a:gd name="csY0" fmla="*/ 0 h 4051300"/>
                <a:gd name="csX1" fmla="*/ 8570925 w 8570925"/>
                <a:gd name="csY1" fmla="*/ 0 h 4051300"/>
                <a:gd name="csX2" fmla="*/ 8555900 w 8570925"/>
                <a:gd name="csY2" fmla="*/ 197593 h 4051300"/>
                <a:gd name="csX3" fmla="*/ 4285462 w 8570925"/>
                <a:gd name="csY3" fmla="*/ 4051300 h 4051300"/>
                <a:gd name="csX4" fmla="*/ 15024 w 8570925"/>
                <a:gd name="csY4" fmla="*/ 197593 h 4051300"/>
                <a:gd name="csX5" fmla="*/ 0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0" y="0"/>
                  </a:moveTo>
                  <a:lnTo>
                    <a:pt x="8570925" y="0"/>
                  </a:lnTo>
                  <a:lnTo>
                    <a:pt x="8555900" y="197593"/>
                  </a:lnTo>
                  <a:cubicBezTo>
                    <a:pt x="8336076" y="2362163"/>
                    <a:pt x="6508029" y="4051300"/>
                    <a:pt x="4285462" y="4051300"/>
                  </a:cubicBezTo>
                  <a:cubicBezTo>
                    <a:pt x="2062895" y="4051300"/>
                    <a:pt x="234848" y="2362163"/>
                    <a:pt x="15024" y="197593"/>
                  </a:cubicBezTo>
                  <a:lnTo>
                    <a:pt x="0" y="0"/>
                  </a:lnTo>
                  <a:close/>
                </a:path>
              </a:pathLst>
            </a:cu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5" name="Rectangle 34">
              <a:extLst>
                <a:ext uri="{FF2B5EF4-FFF2-40B4-BE49-F238E27FC236}">
                  <a16:creationId xmlns:a16="http://schemas.microsoft.com/office/drawing/2014/main" id="{8178D921-2D3D-F728-A08A-2C72C1B53CF4}"/>
                </a:ext>
              </a:extLst>
            </p:cNvPr>
            <p:cNvSpPr/>
            <p:nvPr/>
          </p:nvSpPr>
          <p:spPr bwMode="auto">
            <a:xfrm>
              <a:off x="10617195" y="11458947"/>
              <a:ext cx="1434325" cy="1283458"/>
            </a:xfrm>
            <a:prstGeom prst="rect">
              <a:avLst/>
            </a:prstGeom>
            <a:gradFill>
              <a:gsLst>
                <a:gs pos="0">
                  <a:schemeClr val="accent2">
                    <a:lumMod val="20000"/>
                    <a:lumOff val="80000"/>
                  </a:schemeClr>
                </a:gs>
                <a:gs pos="100000">
                  <a:schemeClr val="accent1">
                    <a:lumMod val="40000"/>
                    <a:lumOff val="6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6" name="Oval 35">
              <a:extLst>
                <a:ext uri="{FF2B5EF4-FFF2-40B4-BE49-F238E27FC236}">
                  <a16:creationId xmlns:a16="http://schemas.microsoft.com/office/drawing/2014/main" id="{CFA58AEB-A62E-F04C-02EB-7689C3FD73F8}"/>
                </a:ext>
              </a:extLst>
            </p:cNvPr>
            <p:cNvSpPr/>
            <p:nvPr/>
          </p:nvSpPr>
          <p:spPr bwMode="auto">
            <a:xfrm>
              <a:off x="10803564" y="11569896"/>
              <a:ext cx="1059821" cy="1059821"/>
            </a:xfrm>
            <a:prstGeom prst="ellipse">
              <a:avLst/>
            </a:pr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7" name="TextBox 36">
              <a:extLst>
                <a:ext uri="{FF2B5EF4-FFF2-40B4-BE49-F238E27FC236}">
                  <a16:creationId xmlns:a16="http://schemas.microsoft.com/office/drawing/2014/main" id="{D3C19645-E975-816A-0AAE-0E93FC806D55}"/>
                </a:ext>
              </a:extLst>
            </p:cNvPr>
            <p:cNvSpPr txBox="1"/>
            <p:nvPr/>
          </p:nvSpPr>
          <p:spPr>
            <a:xfrm>
              <a:off x="9241092"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rgbClr val="000000"/>
                  </a:solidFill>
                  <a:latin typeface="IBM Plex Sans Medm" panose="020B0503050203000203" pitchFamily="34" charset="0"/>
                  <a:sym typeface="IBM Plex Sans Light"/>
                </a:rPr>
                <a:t>Heritage</a:t>
              </a:r>
            </a:p>
          </p:txBody>
        </p:sp>
        <p:sp>
          <p:nvSpPr>
            <p:cNvPr id="38" name="TextBox 37">
              <a:extLst>
                <a:ext uri="{FF2B5EF4-FFF2-40B4-BE49-F238E27FC236}">
                  <a16:creationId xmlns:a16="http://schemas.microsoft.com/office/drawing/2014/main" id="{25CD548D-609A-CF88-A46D-31DD05D2081E}"/>
                </a:ext>
              </a:extLst>
            </p:cNvPr>
            <p:cNvSpPr txBox="1"/>
            <p:nvPr/>
          </p:nvSpPr>
          <p:spPr>
            <a:xfrm>
              <a:off x="10675415"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New</a:t>
              </a:r>
            </a:p>
          </p:txBody>
        </p:sp>
        <p:sp>
          <p:nvSpPr>
            <p:cNvPr id="42" name="TextBox 41">
              <a:extLst>
                <a:ext uri="{FF2B5EF4-FFF2-40B4-BE49-F238E27FC236}">
                  <a16:creationId xmlns:a16="http://schemas.microsoft.com/office/drawing/2014/main" id="{010594BB-CA3B-38E5-87B3-B13CEA62B8F7}"/>
                </a:ext>
              </a:extLst>
            </p:cNvPr>
            <p:cNvSpPr txBox="1"/>
            <p:nvPr/>
          </p:nvSpPr>
          <p:spPr>
            <a:xfrm>
              <a:off x="9538283" y="11766473"/>
              <a:ext cx="723500"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solidFill>
                  <a:latin typeface="IBM Plex Sans Medm" panose="020B0503050203000203" pitchFamily="34" charset="0"/>
                  <a:sym typeface="IBM Plex Sans Light"/>
                </a:rPr>
                <a:t>C2M</a:t>
              </a:r>
            </a:p>
          </p:txBody>
        </p:sp>
        <p:sp>
          <p:nvSpPr>
            <p:cNvPr id="44" name="TextBox 43">
              <a:extLst>
                <a:ext uri="{FF2B5EF4-FFF2-40B4-BE49-F238E27FC236}">
                  <a16:creationId xmlns:a16="http://schemas.microsoft.com/office/drawing/2014/main" id="{BF56CBD9-9852-4B44-31B7-3E14749C49CF}"/>
                </a:ext>
              </a:extLst>
            </p:cNvPr>
            <p:cNvSpPr txBox="1"/>
            <p:nvPr/>
          </p:nvSpPr>
          <p:spPr>
            <a:xfrm>
              <a:off x="9538287" y="12241348"/>
              <a:ext cx="723498"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MMA</a:t>
              </a:r>
            </a:p>
          </p:txBody>
        </p:sp>
        <p:sp>
          <p:nvSpPr>
            <p:cNvPr id="45" name="TextBox 44">
              <a:extLst>
                <a:ext uri="{FF2B5EF4-FFF2-40B4-BE49-F238E27FC236}">
                  <a16:creationId xmlns:a16="http://schemas.microsoft.com/office/drawing/2014/main" id="{20095C18-BF50-6D2D-366A-3F51C1663EB8}"/>
                </a:ext>
              </a:extLst>
            </p:cNvPr>
            <p:cNvSpPr txBox="1"/>
            <p:nvPr/>
          </p:nvSpPr>
          <p:spPr>
            <a:xfrm>
              <a:off x="10818435" y="11818704"/>
              <a:ext cx="1030077" cy="352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Sales Plays</a:t>
              </a:r>
            </a:p>
          </p:txBody>
        </p:sp>
      </p:grpSp>
      <p:sp>
        <p:nvSpPr>
          <p:cNvPr id="4" name="Text Placeholder 3">
            <a:extLst>
              <a:ext uri="{FF2B5EF4-FFF2-40B4-BE49-F238E27FC236}">
                <a16:creationId xmlns:a16="http://schemas.microsoft.com/office/drawing/2014/main" id="{D820B7C2-F545-9697-1F85-07EE33C02A74}"/>
              </a:ext>
            </a:extLst>
          </p:cNvPr>
          <p:cNvSpPr txBox="1">
            <a:spLocks/>
          </p:cNvSpPr>
          <p:nvPr/>
        </p:nvSpPr>
        <p:spPr>
          <a:xfrm>
            <a:off x="3333317" y="1916082"/>
            <a:ext cx="2475384" cy="4440793"/>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50" kern="0" dirty="0">
                <a:solidFill>
                  <a:schemeClr val="accent1"/>
                </a:solidFill>
                <a:latin typeface="IBM Plex Sans Medm" panose="020B0503050203000203" pitchFamily="34" charset="0"/>
              </a:rPr>
              <a:t>Apps &amp; Runtime</a:t>
            </a:r>
          </a:p>
          <a:p>
            <a:pPr marL="142846" indent="-142846">
              <a:spcAft>
                <a:spcPts val="800"/>
              </a:spcAft>
              <a:buSzPct val="100000"/>
              <a:buFont typeface="Arial" panose="020B0604020202020204" pitchFamily="34" charset="0"/>
              <a:buChar char="•"/>
            </a:pPr>
            <a:r>
              <a:rPr lang="en-US" sz="900" kern="0" dirty="0">
                <a:solidFill>
                  <a:srgbClr val="000000"/>
                </a:solidFill>
              </a:rPr>
              <a:t>How the bank’s core and customer-facing applications actually run day-to-day (securely, reliably, and at scale) so money moves correctly, decisions execute instantly, and services stay available.</a:t>
            </a:r>
          </a:p>
          <a:p>
            <a:pPr>
              <a:spcAft>
                <a:spcPts val="800"/>
              </a:spcAft>
              <a:buSzPct val="100000"/>
            </a:pPr>
            <a:r>
              <a:rPr lang="en-US" sz="1250" kern="0" dirty="0">
                <a:solidFill>
                  <a:schemeClr val="accent1"/>
                </a:solidFill>
                <a:latin typeface="IBM Plex Sans Medm" panose="020B0503050203000203" pitchFamily="34" charset="0"/>
              </a:rPr>
              <a:t>Application Integration</a:t>
            </a:r>
          </a:p>
          <a:p>
            <a:pPr marL="142846" indent="-142846">
              <a:spcAft>
                <a:spcPts val="800"/>
              </a:spcAft>
              <a:buFont typeface="Arial" panose="020B0604020202020204" pitchFamily="34" charset="0"/>
              <a:buChar char="•"/>
            </a:pPr>
            <a:r>
              <a:rPr lang="en-US" sz="900" kern="0" dirty="0"/>
              <a:t>How data and transactions flow in real time between channels, decision engines, and systems of record so a customer action becomes a completed banking outcome.</a:t>
            </a:r>
          </a:p>
          <a:p>
            <a:pPr>
              <a:spcAft>
                <a:spcPts val="800"/>
              </a:spcAft>
            </a:pPr>
            <a:r>
              <a:rPr lang="en-US" sz="1250" kern="0" dirty="0">
                <a:solidFill>
                  <a:schemeClr val="accent1"/>
                </a:solidFill>
                <a:latin typeface="IBM Plex Sans Medm" panose="020B0503050203000203" pitchFamily="34" charset="0"/>
              </a:rPr>
              <a:t>Business Automation</a:t>
            </a:r>
          </a:p>
          <a:p>
            <a:pPr marL="142846" indent="-142846">
              <a:spcAft>
                <a:spcPts val="800"/>
              </a:spcAft>
              <a:buFont typeface="Arial" panose="020B0604020202020204" pitchFamily="34" charset="0"/>
              <a:buChar char="•"/>
            </a:pPr>
            <a:r>
              <a:rPr lang="en-US" sz="900" kern="0" dirty="0"/>
              <a:t>How lending, payments, compliance, and servicing decisions are executed consistently and at speed — combining rules, workflows, and AI to reduce manual effort and human error.</a:t>
            </a:r>
          </a:p>
          <a:p>
            <a:pPr>
              <a:spcAft>
                <a:spcPts val="800"/>
              </a:spcAft>
            </a:pPr>
            <a:r>
              <a:rPr lang="en-US" sz="1250" kern="0" dirty="0">
                <a:solidFill>
                  <a:schemeClr val="accent1"/>
                </a:solidFill>
                <a:latin typeface="IBM Plex Sans Medm" panose="020B0503050203000203" pitchFamily="34" charset="0"/>
              </a:rPr>
              <a:t>Data Architecture</a:t>
            </a:r>
          </a:p>
          <a:p>
            <a:pPr marL="142846" indent="-142846">
              <a:spcAft>
                <a:spcPts val="800"/>
              </a:spcAft>
              <a:buFont typeface="Arial" panose="020B0604020202020204" pitchFamily="34" charset="0"/>
              <a:buChar char="•"/>
            </a:pPr>
            <a:r>
              <a:rPr lang="en-US" sz="900" kern="0" dirty="0"/>
              <a:t>How financial data is structured, governed, and shared so decisions are based on trusted, well-understood information that both humans and machines can interpret and audit.</a:t>
            </a:r>
          </a:p>
        </p:txBody>
      </p:sp>
      <p:sp>
        <p:nvSpPr>
          <p:cNvPr id="5" name="Text Placeholder 5">
            <a:extLst>
              <a:ext uri="{FF2B5EF4-FFF2-40B4-BE49-F238E27FC236}">
                <a16:creationId xmlns:a16="http://schemas.microsoft.com/office/drawing/2014/main" id="{1EA06270-E531-0463-881B-29793D31A3E6}"/>
              </a:ext>
            </a:extLst>
          </p:cNvPr>
          <p:cNvSpPr txBox="1">
            <a:spLocks/>
          </p:cNvSpPr>
          <p:nvPr/>
        </p:nvSpPr>
        <p:spPr>
          <a:xfrm>
            <a:off x="6380919" y="1900620"/>
            <a:ext cx="2476178" cy="4099795"/>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solidFill>
                  <a:srgbClr val="33B1FF"/>
                </a:solidFill>
                <a:latin typeface="IBM Plex Sans Medm" panose="020B0503050203000203" pitchFamily="34" charset="0"/>
              </a:rPr>
              <a:t>Vitality </a:t>
            </a:r>
          </a:p>
          <a:p>
            <a:pPr marL="142846" indent="-142846">
              <a:spcAft>
                <a:spcPts val="800"/>
              </a:spcAft>
              <a:buSzPct val="100000"/>
              <a:buFont typeface="Arial" panose="020B0604020202020204" pitchFamily="34" charset="0"/>
              <a:buChar char="•"/>
            </a:pPr>
            <a:r>
              <a:rPr lang="en-US" sz="1200" kern="0" dirty="0">
                <a:solidFill>
                  <a:srgbClr val="000000"/>
                </a:solidFill>
              </a:rPr>
              <a:t> Keep platforms current, secure, supported</a:t>
            </a:r>
          </a:p>
          <a:p>
            <a:pPr>
              <a:spcAft>
                <a:spcPts val="800"/>
              </a:spcAft>
              <a:buSzPct val="100000"/>
            </a:pPr>
            <a:r>
              <a:rPr lang="en-US" sz="1200" kern="0" dirty="0">
                <a:solidFill>
                  <a:srgbClr val="33B1FF"/>
                </a:solidFill>
                <a:latin typeface="IBM Plex Sans Medm" panose="020B0503050203000203" pitchFamily="34" charset="0"/>
              </a:rPr>
              <a:t>Containerization</a:t>
            </a:r>
          </a:p>
          <a:p>
            <a:pPr marL="142846" indent="-142846">
              <a:spcAft>
                <a:spcPts val="800"/>
              </a:spcAft>
              <a:buFont typeface="Arial" panose="020B0604020202020204" pitchFamily="34" charset="0"/>
              <a:buChar char="•"/>
            </a:pPr>
            <a:r>
              <a:rPr lang="en-US" sz="1200" kern="0" dirty="0"/>
              <a:t> Modernize with flexibility while protecting the core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Managed or as a Service</a:t>
            </a:r>
          </a:p>
          <a:p>
            <a:pPr marL="142846" indent="-142846">
              <a:spcAft>
                <a:spcPts val="800"/>
              </a:spcAft>
              <a:buFont typeface="Arial" panose="020B0604020202020204" pitchFamily="34" charset="0"/>
              <a:buChar char="•"/>
            </a:pPr>
            <a:r>
              <a:rPr lang="en-US" sz="1200" kern="0" dirty="0"/>
              <a:t> Maximize operational value at scale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Expansion</a:t>
            </a:r>
          </a:p>
          <a:p>
            <a:pPr marL="142846" indent="-142846">
              <a:spcAft>
                <a:spcPts val="800"/>
              </a:spcAft>
              <a:buFont typeface="Arial" panose="020B0604020202020204" pitchFamily="34" charset="0"/>
              <a:buChar char="•"/>
            </a:pPr>
            <a:r>
              <a:rPr lang="en-US" sz="1200" kern="0" dirty="0"/>
              <a:t>Grow adjacent usage based on proven value</a:t>
            </a:r>
          </a:p>
          <a:p>
            <a:pPr>
              <a:spcAft>
                <a:spcPts val="800"/>
              </a:spcAft>
              <a:buSzPct val="100000"/>
            </a:pPr>
            <a:endParaRPr lang="en-US" sz="1200" kern="0" dirty="0"/>
          </a:p>
          <a:p>
            <a:pPr>
              <a:spcAft>
                <a:spcPts val="800"/>
              </a:spcAft>
            </a:pPr>
            <a:endParaRPr lang="en-US" sz="1200" kern="0" dirty="0"/>
          </a:p>
        </p:txBody>
      </p:sp>
      <p:sp>
        <p:nvSpPr>
          <p:cNvPr id="6" name="Text Placeholder 7">
            <a:extLst>
              <a:ext uri="{FF2B5EF4-FFF2-40B4-BE49-F238E27FC236}">
                <a16:creationId xmlns:a16="http://schemas.microsoft.com/office/drawing/2014/main" id="{4F7E3387-01B6-1F43-21AC-E3A0F5478F77}"/>
              </a:ext>
            </a:extLst>
          </p:cNvPr>
          <p:cNvSpPr txBox="1">
            <a:spLocks/>
          </p:cNvSpPr>
          <p:nvPr/>
        </p:nvSpPr>
        <p:spPr>
          <a:xfrm>
            <a:off x="9428523" y="1900620"/>
            <a:ext cx="2479352" cy="4099795"/>
          </a:xfrm>
          <a:prstGeom prst="rect">
            <a:avLst/>
          </a:prstGeo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latin typeface="IBM Plex Sans Medm" panose="020B0503050203000203" pitchFamily="34" charset="0"/>
              </a:rPr>
              <a:t>Client</a:t>
            </a:r>
          </a:p>
          <a:p>
            <a:pPr marL="142846" indent="-142846">
              <a:spcAft>
                <a:spcPts val="800"/>
              </a:spcAft>
              <a:buSzPct val="100000"/>
              <a:buFont typeface="Arial" panose="020B0604020202020204" pitchFamily="34" charset="0"/>
              <a:buChar char="•"/>
            </a:pPr>
            <a:r>
              <a:rPr lang="en-US" sz="1200" kern="0" dirty="0">
                <a:solidFill>
                  <a:srgbClr val="000000"/>
                </a:solidFill>
              </a:rPr>
              <a:t>Operational stability &amp; resilience</a:t>
            </a:r>
          </a:p>
          <a:p>
            <a:pPr marL="142846" indent="-142846">
              <a:spcAft>
                <a:spcPts val="800"/>
              </a:spcAft>
              <a:buSzPct val="100000"/>
              <a:buFont typeface="Arial" panose="020B0604020202020204" pitchFamily="34" charset="0"/>
              <a:buChar char="•"/>
            </a:pPr>
            <a:r>
              <a:rPr lang="en-US" sz="1200" kern="0" dirty="0">
                <a:solidFill>
                  <a:srgbClr val="000000"/>
                </a:solidFill>
              </a:rPr>
              <a:t>Faster time to value</a:t>
            </a:r>
          </a:p>
          <a:p>
            <a:pPr marL="142846" indent="-142846">
              <a:spcAft>
                <a:spcPts val="800"/>
              </a:spcAft>
              <a:buSzPct val="100000"/>
              <a:buFont typeface="Arial" panose="020B0604020202020204" pitchFamily="34" charset="0"/>
              <a:buChar char="•"/>
            </a:pPr>
            <a:r>
              <a:rPr lang="en-US" sz="1200" kern="0" dirty="0">
                <a:solidFill>
                  <a:srgbClr val="000000"/>
                </a:solidFill>
              </a:rPr>
              <a:t>Reduced risk &amp; technical debt</a:t>
            </a:r>
          </a:p>
          <a:p>
            <a:pPr>
              <a:spcAft>
                <a:spcPts val="800"/>
              </a:spcAft>
              <a:buSzPct val="100000"/>
            </a:pPr>
            <a:endParaRPr lang="en-US" sz="1200" kern="0" dirty="0"/>
          </a:p>
          <a:p>
            <a:pPr>
              <a:spcAft>
                <a:spcPts val="800"/>
              </a:spcAft>
              <a:buSzPct val="100000"/>
            </a:pPr>
            <a:r>
              <a:rPr lang="en-US" sz="1200" kern="0" dirty="0">
                <a:latin typeface="IBM Plex Sans Medm"/>
              </a:rPr>
              <a:t>IBM</a:t>
            </a:r>
          </a:p>
          <a:p>
            <a:pPr marL="142846" indent="-142846">
              <a:spcAft>
                <a:spcPts val="800"/>
              </a:spcAft>
              <a:buSzPct val="100000"/>
              <a:buFont typeface="Arial" panose="020B0604020202020204" pitchFamily="34" charset="0"/>
              <a:buChar char="•"/>
            </a:pPr>
            <a:r>
              <a:rPr lang="en-US" sz="1200" kern="0" dirty="0">
                <a:solidFill>
                  <a:srgbClr val="000000"/>
                </a:solidFill>
              </a:rPr>
              <a:t>Protected annuity revenue</a:t>
            </a:r>
          </a:p>
          <a:p>
            <a:pPr marL="142846" indent="-142846">
              <a:spcAft>
                <a:spcPts val="800"/>
              </a:spcAft>
              <a:buSzPct val="100000"/>
              <a:buFont typeface="Arial" panose="020B0604020202020204" pitchFamily="34" charset="0"/>
              <a:buChar char="•"/>
            </a:pPr>
            <a:r>
              <a:rPr lang="en-US" sz="1200" kern="0">
                <a:solidFill>
                  <a:srgbClr val="000000"/>
                </a:solidFill>
              </a:rPr>
              <a:t>Deeper trust &amp; loyalty</a:t>
            </a:r>
            <a:endParaRPr lang="en-US" sz="1200" kern="0" dirty="0">
              <a:solidFill>
                <a:srgbClr val="000000"/>
              </a:solidFill>
            </a:endParaRPr>
          </a:p>
          <a:p>
            <a:pPr marL="142846" indent="-142846">
              <a:spcAft>
                <a:spcPts val="800"/>
              </a:spcAft>
              <a:buSzPct val="100000"/>
              <a:buFont typeface="Arial" panose="020B0604020202020204" pitchFamily="34" charset="0"/>
              <a:buChar char="•"/>
            </a:pPr>
            <a:r>
              <a:rPr lang="en-US" sz="1200" kern="0" dirty="0">
                <a:solidFill>
                  <a:srgbClr val="000000"/>
                </a:solidFill>
              </a:rPr>
              <a:t>Repeatable modernization at scale</a:t>
            </a:r>
          </a:p>
        </p:txBody>
      </p:sp>
      <p:sp>
        <p:nvSpPr>
          <p:cNvPr id="10" name="Text Placeholder 3">
            <a:extLst>
              <a:ext uri="{FF2B5EF4-FFF2-40B4-BE49-F238E27FC236}">
                <a16:creationId xmlns:a16="http://schemas.microsoft.com/office/drawing/2014/main" id="{D96D596B-D631-4A44-4318-D387CECBB93B}"/>
              </a:ext>
            </a:extLst>
          </p:cNvPr>
          <p:cNvSpPr txBox="1">
            <a:spLocks/>
          </p:cNvSpPr>
          <p:nvPr/>
        </p:nvSpPr>
        <p:spPr>
          <a:xfrm>
            <a:off x="277464" y="1905027"/>
            <a:ext cx="2475384" cy="41969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300" dirty="0">
                <a:latin typeface="IBM Plex Sans Medm" panose="020B0503050203000203" pitchFamily="34" charset="0"/>
              </a:rPr>
              <a:t>Core to Modernize ensures modernization is purposeful, repeatable, and value-driven.</a:t>
            </a:r>
            <a:br>
              <a:rPr lang="en-US" sz="900" dirty="0"/>
            </a:br>
            <a:br>
              <a:rPr lang="en-US" sz="900" dirty="0"/>
            </a:br>
            <a:r>
              <a:rPr lang="en-US" sz="900" dirty="0"/>
              <a:t>The mission of our FSM Core to Modernization organization is to establish a standardized, repeatable technical engagement model across IBM’s Core Software portfolio focused on protecting our client’s core, modernizing it with intent, and expanding value where trust and adoption are proven.</a:t>
            </a:r>
            <a:br>
              <a:rPr lang="en-US" sz="900" dirty="0"/>
            </a:br>
            <a:endParaRPr lang="en-US" sz="900" kern="0" dirty="0"/>
          </a:p>
        </p:txBody>
      </p:sp>
      <p:sp>
        <p:nvSpPr>
          <p:cNvPr id="14" name="Text Placeholder 1">
            <a:extLst>
              <a:ext uri="{FF2B5EF4-FFF2-40B4-BE49-F238E27FC236}">
                <a16:creationId xmlns:a16="http://schemas.microsoft.com/office/drawing/2014/main" id="{47C31314-6039-385C-F834-03506A922B69}"/>
              </a:ext>
            </a:extLst>
          </p:cNvPr>
          <p:cNvSpPr txBox="1">
            <a:spLocks/>
          </p:cNvSpPr>
          <p:nvPr/>
        </p:nvSpPr>
        <p:spPr>
          <a:xfrm>
            <a:off x="277464"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Why</a:t>
            </a:r>
          </a:p>
        </p:txBody>
      </p:sp>
      <p:sp>
        <p:nvSpPr>
          <p:cNvPr id="15" name="Text Placeholder 1">
            <a:extLst>
              <a:ext uri="{FF2B5EF4-FFF2-40B4-BE49-F238E27FC236}">
                <a16:creationId xmlns:a16="http://schemas.microsoft.com/office/drawing/2014/main" id="{64C25AC8-B0B7-6AB6-C01A-D32AA114D375}"/>
              </a:ext>
            </a:extLst>
          </p:cNvPr>
          <p:cNvSpPr txBox="1">
            <a:spLocks/>
          </p:cNvSpPr>
          <p:nvPr/>
        </p:nvSpPr>
        <p:spPr>
          <a:xfrm>
            <a:off x="6243482"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How</a:t>
            </a:r>
          </a:p>
        </p:txBody>
      </p:sp>
      <p:sp>
        <p:nvSpPr>
          <p:cNvPr id="16" name="Text Placeholder 1">
            <a:extLst>
              <a:ext uri="{FF2B5EF4-FFF2-40B4-BE49-F238E27FC236}">
                <a16:creationId xmlns:a16="http://schemas.microsoft.com/office/drawing/2014/main" id="{04A6CC59-0B21-91A9-CFF9-BAF4136AAAAB}"/>
              </a:ext>
            </a:extLst>
          </p:cNvPr>
          <p:cNvSpPr txBox="1">
            <a:spLocks/>
          </p:cNvSpPr>
          <p:nvPr/>
        </p:nvSpPr>
        <p:spPr>
          <a:xfrm>
            <a:off x="3229240"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What</a:t>
            </a:r>
          </a:p>
        </p:txBody>
      </p:sp>
      <p:sp>
        <p:nvSpPr>
          <p:cNvPr id="17" name="Text Placeholder 1">
            <a:extLst>
              <a:ext uri="{FF2B5EF4-FFF2-40B4-BE49-F238E27FC236}">
                <a16:creationId xmlns:a16="http://schemas.microsoft.com/office/drawing/2014/main" id="{356B0950-06CF-66C6-64E1-78CF9CA011A1}"/>
              </a:ext>
            </a:extLst>
          </p:cNvPr>
          <p:cNvSpPr txBox="1">
            <a:spLocks/>
          </p:cNvSpPr>
          <p:nvPr/>
        </p:nvSpPr>
        <p:spPr>
          <a:xfrm>
            <a:off x="9257725"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Measures of Success</a:t>
            </a:r>
          </a:p>
        </p:txBody>
      </p:sp>
      <p:cxnSp>
        <p:nvCxnSpPr>
          <p:cNvPr id="19" name="Straight Connector 18">
            <a:extLst>
              <a:ext uri="{FF2B5EF4-FFF2-40B4-BE49-F238E27FC236}">
                <a16:creationId xmlns:a16="http://schemas.microsoft.com/office/drawing/2014/main" id="{027EFA74-B964-7522-36A5-BA1C439E5479}"/>
              </a:ext>
            </a:extLst>
          </p:cNvPr>
          <p:cNvCxnSpPr>
            <a:cxnSpLocks/>
          </p:cNvCxnSpPr>
          <p:nvPr/>
        </p:nvCxnSpPr>
        <p:spPr bwMode="auto">
          <a:xfrm>
            <a:off x="3004066"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A98DAED-46DB-7C6F-228F-FEA45AE2A0C2}"/>
              </a:ext>
            </a:extLst>
          </p:cNvPr>
          <p:cNvCxnSpPr>
            <a:cxnSpLocks/>
          </p:cNvCxnSpPr>
          <p:nvPr/>
        </p:nvCxnSpPr>
        <p:spPr bwMode="auto">
          <a:xfrm>
            <a:off x="6008132"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4C68195-559B-F8ED-839E-2DEDDA29517C}"/>
              </a:ext>
            </a:extLst>
          </p:cNvPr>
          <p:cNvCxnSpPr>
            <a:cxnSpLocks/>
          </p:cNvCxnSpPr>
          <p:nvPr/>
        </p:nvCxnSpPr>
        <p:spPr bwMode="auto">
          <a:xfrm>
            <a:off x="9077503"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2">
            <a:extLst>
              <a:ext uri="{FF2B5EF4-FFF2-40B4-BE49-F238E27FC236}">
                <a16:creationId xmlns:a16="http://schemas.microsoft.com/office/drawing/2014/main" id="{BC8728C1-B0C2-EA68-5DBA-7345140B4CC4}"/>
              </a:ext>
            </a:extLst>
          </p:cNvPr>
          <p:cNvSpPr txBox="1">
            <a:spLocks/>
          </p:cNvSpPr>
          <p:nvPr/>
        </p:nvSpPr>
        <p:spPr>
          <a:xfrm>
            <a:off x="3181730" y="1311823"/>
            <a:ext cx="2477765"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Product Pillars</a:t>
            </a:r>
          </a:p>
        </p:txBody>
      </p:sp>
      <p:sp>
        <p:nvSpPr>
          <p:cNvPr id="23" name="Text Placeholder 4">
            <a:extLst>
              <a:ext uri="{FF2B5EF4-FFF2-40B4-BE49-F238E27FC236}">
                <a16:creationId xmlns:a16="http://schemas.microsoft.com/office/drawing/2014/main" id="{7CC06B10-62E1-CC38-1B9E-12808775F422}"/>
              </a:ext>
            </a:extLst>
          </p:cNvPr>
          <p:cNvSpPr txBox="1">
            <a:spLocks/>
          </p:cNvSpPr>
          <p:nvPr/>
        </p:nvSpPr>
        <p:spPr>
          <a:xfrm>
            <a:off x="6207564" y="1324038"/>
            <a:ext cx="2476178"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Core to Modernization Motions</a:t>
            </a:r>
          </a:p>
        </p:txBody>
      </p:sp>
      <p:sp>
        <p:nvSpPr>
          <p:cNvPr id="24" name="Text Placeholder 6">
            <a:extLst>
              <a:ext uri="{FF2B5EF4-FFF2-40B4-BE49-F238E27FC236}">
                <a16:creationId xmlns:a16="http://schemas.microsoft.com/office/drawing/2014/main" id="{602AF59A-1929-CB53-8702-22AC1F5ADCAB}"/>
              </a:ext>
            </a:extLst>
          </p:cNvPr>
          <p:cNvSpPr txBox="1">
            <a:spLocks/>
          </p:cNvSpPr>
          <p:nvPr/>
        </p:nvSpPr>
        <p:spPr>
          <a:xfrm>
            <a:off x="9225073" y="1309607"/>
            <a:ext cx="2479352"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a:t>Outcomes</a:t>
            </a:r>
            <a:endParaRPr lang="en-US" sz="1200" kern="0" dirty="0"/>
          </a:p>
        </p:txBody>
      </p:sp>
    </p:spTree>
    <p:extLst>
      <p:ext uri="{BB962C8B-B14F-4D97-AF65-F5344CB8AC3E}">
        <p14:creationId xmlns:p14="http://schemas.microsoft.com/office/powerpoint/2010/main" val="55102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201168"/>
            <a:ext cx="7772400" cy="384048"/>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1E1E"/>
                </a:solidFill>
                <a:effectLst/>
                <a:uLnTx/>
                <a:uFillTx/>
                <a:latin typeface="Aptos Display" pitchFamily="34" charset="0"/>
                <a:ea typeface="Aptos Display" pitchFamily="34" charset="-122"/>
                <a:cs typeface="Aptos Display" pitchFamily="34" charset="-120"/>
              </a:rPr>
              <a:t>FSM Product Connect</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85216" y="658368"/>
            <a:ext cx="274320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F6673"/>
                </a:solidFill>
                <a:effectLst/>
                <a:uLnTx/>
                <a:uFillTx/>
                <a:latin typeface="Aptos" pitchFamily="34" charset="0"/>
                <a:ea typeface="Aptos" pitchFamily="34" charset="-122"/>
                <a:cs typeface="Aptos" pitchFamily="34" charset="-120"/>
              </a:rPr>
              <a:t>Executive update | May 2026</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457200" y="960120"/>
            <a:ext cx="11292840" cy="658368"/>
          </a:xfrm>
          <a:prstGeom prst="roundRect">
            <a:avLst>
              <a:gd name="adj" fmla="val 6944"/>
            </a:avLst>
          </a:prstGeom>
          <a:solidFill>
            <a:srgbClr val="FFFFFF"/>
          </a:solidFill>
          <a:ln w="12700">
            <a:solidFill>
              <a:srgbClr val="D8DDE6"/>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658368" y="1097280"/>
            <a:ext cx="256032"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F62FE"/>
                </a:solidFill>
                <a:effectLst/>
                <a:uLnTx/>
                <a:uFillTx/>
                <a:latin typeface="Aptos"/>
                <a:ea typeface="+mn-ea"/>
                <a:cs typeface="+mn-cs"/>
              </a:rPr>
              <a:t>◎</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950976" y="1097280"/>
            <a:ext cx="10424160" cy="310896"/>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2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Objective: </a:t>
            </a:r>
            <a:r>
              <a:rPr kumimoji="0" lang="en-US" sz="132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convert reactive product escalations into a proactive modernization motion across FSM with clearer roadmap alignment, named product coverage, and reusable field assets.</a:t>
            </a:r>
            <a:endParaRPr kumimoji="0" lang="en-US" sz="13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457200" y="1965960"/>
            <a:ext cx="11292840" cy="347472"/>
          </a:xfrm>
          <a:prstGeom prst="roundRect">
            <a:avLst>
              <a:gd name="adj" fmla="val 10526"/>
            </a:avLst>
          </a:prstGeom>
          <a:solidFill>
            <a:srgbClr val="F2F5F9"/>
          </a:solidFill>
          <a:ln w="10160">
            <a:solidFill>
              <a:srgbClr val="D8DD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877824" y="2020824"/>
            <a:ext cx="25603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Tracks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3867912" y="2020824"/>
            <a:ext cx="1051560" cy="201168"/>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Progress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5001768" y="2020824"/>
            <a:ext cx="269748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Current focus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8028432" y="2020824"/>
            <a:ext cx="32461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Support Needed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457200" y="240487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502920" y="259689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877824" y="260604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Connect governance framework</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4005072" y="260604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4005072" y="261061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Live</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5001768" y="2514600"/>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Monthly interlock call scheduled. Responding to field requests: Project Mystic POVs, 2 blocked modernization motions; Product ownership established; Product versions confirmed for Vitality.</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8028432" y="251460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participation in interlock. Confirm product coverage by pillar, named owners, and fast path for blocked account requests.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457200" y="3150108"/>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3342132"/>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877824" y="3351276"/>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enablement sessions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4005072" y="3351276"/>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4005072" y="3355848"/>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3/12</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5001768" y="3259836"/>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AI Editions enablement completed for DB2, MQ &amp; Cognos. Product interviews recorded/published to Seismic: 5/20.</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8028432" y="3259836"/>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collaboration needed for remaining enablement sessions, product interview review, and Seismic-ready content.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Shape 24"/>
          <p:cNvSpPr/>
          <p:nvPr/>
        </p:nvSpPr>
        <p:spPr>
          <a:xfrm>
            <a:off x="457200" y="3895344"/>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502920" y="4087368"/>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877824" y="4096512"/>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Business value assessments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4005072" y="4096512"/>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4005072" y="4101084"/>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0/54</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5001768" y="4005072"/>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0 completed. 2 in draft. Align PM owners and assumptions per product motion.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8028432" y="4005072"/>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verification needed for BVA value levers, benefit ranges, assumptions, and product-specific proof points.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457200" y="4640580"/>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2"/>
          <p:cNvSpPr/>
          <p:nvPr/>
        </p:nvSpPr>
        <p:spPr>
          <a:xfrm>
            <a:off x="502920" y="4832604"/>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4005072" y="4841748"/>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4005072" y="4846320"/>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0/216</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5001768" y="4750308"/>
            <a:ext cx="2697480" cy="566928"/>
          </a:xfrm>
          <a:prstGeom prst="rect">
            <a:avLst/>
          </a:prstGeom>
          <a:noFill/>
          <a:ln/>
        </p:spPr>
        <p:txBody>
          <a:bodyPr wrap="square" lIns="381" tIns="381" rIns="381" bIns="381"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Draft framework completed. Requests active across priority products. Current architecture delivered from Product in different formats. Core products: 36; reference architecture for 4 motions: 36 × 4.</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8028432" y="4750308"/>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and technical owner collaboration needed to validate current state, target state, deployment paths, and caveats.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8"/>
          <p:cNvSpPr/>
          <p:nvPr/>
        </p:nvSpPr>
        <p:spPr>
          <a:xfrm>
            <a:off x="457200" y="5385816"/>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Text 39"/>
          <p:cNvSpPr/>
          <p:nvPr/>
        </p:nvSpPr>
        <p:spPr>
          <a:xfrm>
            <a:off x="502920" y="5577840"/>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Text 40"/>
          <p:cNvSpPr/>
          <p:nvPr/>
        </p:nvSpPr>
        <p:spPr>
          <a:xfrm>
            <a:off x="877824" y="5586984"/>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Client </a:t>
            </a:r>
            <a:r>
              <a:rPr kumimoji="0" lang="en-US" sz="1070" b="1" i="0" u="none" strike="noStrike" kern="1200" cap="none" spc="0" normalizeH="0" baseline="0" noProof="0">
                <a:ln>
                  <a:noFill/>
                </a:ln>
                <a:solidFill>
                  <a:srgbClr val="1E1E1E"/>
                </a:solidFill>
                <a:effectLst/>
                <a:uLnTx/>
                <a:uFillTx/>
                <a:latin typeface="Aptos" pitchFamily="34" charset="0"/>
                <a:ea typeface="Aptos" pitchFamily="34" charset="-122"/>
                <a:cs typeface="Aptos" pitchFamily="34" charset="-120"/>
              </a:rPr>
              <a:t>briefings sessions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43" name="Shape 41"/>
          <p:cNvSpPr/>
          <p:nvPr/>
        </p:nvSpPr>
        <p:spPr>
          <a:xfrm>
            <a:off x="4005072" y="5586984"/>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4005072" y="5591556"/>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3/12</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Text 43"/>
          <p:cNvSpPr/>
          <p:nvPr/>
        </p:nvSpPr>
        <p:spPr>
          <a:xfrm>
            <a:off x="5001768" y="5495544"/>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1 under development: WAS. 2 scheduled: Cognos, App Integration. Build repeatable narrative per priority: risk, controls, dependency chain, adoption plan.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6" name="Text 44"/>
          <p:cNvSpPr/>
          <p:nvPr/>
        </p:nvSpPr>
        <p:spPr>
          <a:xfrm>
            <a:off x="8028432" y="5495544"/>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support needed for client briefing content, roadmap guardrails, product speakers, and account-specific validation.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Shape 45"/>
          <p:cNvSpPr/>
          <p:nvPr/>
        </p:nvSpPr>
        <p:spPr>
          <a:xfrm>
            <a:off x="457200" y="613105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8" name="Text 46"/>
          <p:cNvSpPr/>
          <p:nvPr/>
        </p:nvSpPr>
        <p:spPr>
          <a:xfrm>
            <a:off x="502920" y="632307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9" name="Text 47"/>
          <p:cNvSpPr/>
          <p:nvPr/>
        </p:nvSpPr>
        <p:spPr>
          <a:xfrm>
            <a:off x="877824" y="633222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engagement model</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4005072" y="633222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4005072" y="633679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5001768" y="6240780"/>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Management Connect Agentic Workflow design ready for review.</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8028432" y="624078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Review multi-agent architecture design for product intake ticketing. Confirm triage rules, workflow owners, and approval path.</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Text 26">
            <a:extLst>
              <a:ext uri="{FF2B5EF4-FFF2-40B4-BE49-F238E27FC236}">
                <a16:creationId xmlns:a16="http://schemas.microsoft.com/office/drawing/2014/main" id="{8D447500-AC87-886B-C05A-A4A6A2B46E31}"/>
              </a:ext>
            </a:extLst>
          </p:cNvPr>
          <p:cNvSpPr/>
          <p:nvPr/>
        </p:nvSpPr>
        <p:spPr>
          <a:xfrm>
            <a:off x="877824" y="4809744"/>
            <a:ext cx="2606040" cy="256032"/>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70" b="1" dirty="0">
                <a:solidFill>
                  <a:srgbClr val="1E1E1E"/>
                </a:solidFill>
                <a:latin typeface="Aptos" pitchFamily="34" charset="0"/>
              </a:rPr>
              <a:t>Product Modernization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70" b="1" dirty="0">
                <a:solidFill>
                  <a:srgbClr val="1E1E1E"/>
                </a:solidFill>
                <a:latin typeface="Aptos" pitchFamily="34" charset="0"/>
              </a:rPr>
              <a:t>Technical View and Benefits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Box 34">
            <a:extLst>
              <a:ext uri="{FF2B5EF4-FFF2-40B4-BE49-F238E27FC236}">
                <a16:creationId xmlns:a16="http://schemas.microsoft.com/office/drawing/2014/main" id="{AFF563D8-53F4-F9FA-B908-C866327A49F7}"/>
              </a:ext>
            </a:extLst>
          </p:cNvPr>
          <p:cNvSpPr txBox="1"/>
          <p:nvPr/>
        </p:nvSpPr>
        <p:spPr>
          <a:xfrm>
            <a:off x="8438812" y="289036"/>
            <a:ext cx="3186260" cy="369332"/>
          </a:xfrm>
          <a:prstGeom prst="rect">
            <a:avLst/>
          </a:prstGeom>
          <a:noFill/>
        </p:spPr>
        <p:txBody>
          <a:bodyPr wrap="square" rtlCol="0">
            <a:spAutoFit/>
          </a:bodyPr>
          <a:lstStyle/>
          <a:p>
            <a:r>
              <a:rPr lang="en-US" dirty="0"/>
              <a:t>Monika to update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F62FE"/>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475487" y="384048"/>
            <a:ext cx="10477215" cy="347472"/>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Product engagement – client outcomes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493776" y="795528"/>
            <a:ext cx="1069848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Positive field examples show where PM partnership improves client confidence, removes blockers, and moves modernization work forward.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502920" y="1234440"/>
            <a:ext cx="11201400" cy="749808"/>
          </a:xfrm>
          <a:prstGeom prst="roundRect">
            <a:avLst>
              <a:gd name="adj" fmla="val 6098"/>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764332" y="1287470"/>
            <a:ext cx="8118257" cy="626364"/>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62FE"/>
                </a:solidFill>
                <a:effectLst/>
                <a:uLnTx/>
                <a:uFillTx/>
                <a:latin typeface="Aptos" pitchFamily="34" charset="0"/>
                <a:ea typeface="+mn-ea"/>
                <a:cs typeface="+mn-cs"/>
              </a:rPr>
              <a:t>Product Management engagement works best at high-leverage moments: roadmap clarity, product blocker resolution, dev engagement, product enhancement request prioritization, and validation of modernization assets.</a:t>
            </a:r>
          </a:p>
        </p:txBody>
      </p:sp>
      <p:sp>
        <p:nvSpPr>
          <p:cNvPr id="8" name="Shape 6"/>
          <p:cNvSpPr/>
          <p:nvPr/>
        </p:nvSpPr>
        <p:spPr>
          <a:xfrm>
            <a:off x="9010859" y="1381196"/>
            <a:ext cx="0" cy="438912"/>
          </a:xfrm>
          <a:prstGeom prst="line">
            <a:avLst/>
          </a:prstGeom>
          <a:no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9189167" y="1435608"/>
            <a:ext cx="2336845" cy="429768"/>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Scale pattern: enablement + reference architecture + BVE validation</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502920" y="2240280"/>
            <a:ext cx="256032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576072" y="2290572"/>
            <a:ext cx="241401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 product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3246120" y="2240280"/>
            <a:ext cx="397764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3319272" y="2290572"/>
            <a:ext cx="383133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PM engagement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7406640" y="2240280"/>
            <a:ext cx="429768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7479792" y="2290572"/>
            <a:ext cx="415137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outcome / field signal</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02920" y="2615184"/>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685800" y="2697480"/>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Wells Fargo</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err="1">
                <a:ln>
                  <a:noFill/>
                </a:ln>
                <a:solidFill>
                  <a:srgbClr val="161616"/>
                </a:solidFill>
                <a:effectLst/>
                <a:uLnTx/>
                <a:uFillTx/>
                <a:latin typeface="Aptos" pitchFamily="34" charset="0"/>
                <a:ea typeface="Aptos" pitchFamily="34" charset="-122"/>
                <a:cs typeface="Aptos" pitchFamily="34" charset="-120"/>
              </a:rPr>
              <a:t>Connect:Direct</a:t>
            </a: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3419856" y="2697480"/>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James Joseph, PM, and Dev worked daily with Wells Fargo on a PoC to containerize Connect:Direct on Red Hat OpenShift.</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7616952" y="2697480"/>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Successful PoC. Wells announced a new internal service offering. Entitlement trade-up likely tied to Q4 ELA pull-ahead.</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8"/>
          <p:cNvSpPr/>
          <p:nvPr/>
        </p:nvSpPr>
        <p:spPr>
          <a:xfrm>
            <a:off x="502920" y="3246120"/>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85800" y="3328416"/>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BofA</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DataStage modernization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3419856" y="3328416"/>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Shreya Sisodia addressed product blockers and gave the client confidence in the modernization path.</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7616952" y="3328416"/>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trust increased. DataStage modernization is moving positively.</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2"/>
          <p:cNvSpPr/>
          <p:nvPr/>
        </p:nvSpPr>
        <p:spPr>
          <a:xfrm>
            <a:off x="502920" y="3877056"/>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685800" y="3959352"/>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MetLife, ADP, JPMC, Fiserv</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Cognos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3419856" y="3959352"/>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Greg McDonald, Jim Daly, and Yong Li supported roadmap briefings, PoCs, readiness testing, and dev review of blockers.</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7616952" y="3959352"/>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$840K MetLife proposal with procurement. $3.1M ADP PoC started. JPMC blocker with Dev. Fiserv readiness near completion.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02920" y="4507992"/>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685800" y="4590288"/>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Citi</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Connect:Direct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3419856" y="4590288"/>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PM prioritized RFEs and pulled Dev into the discussion to understand unique requirements and displacement risk.</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7616952" y="4590288"/>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Adoption path moving again after blocker escalation.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30"/>
          <p:cNvSpPr/>
          <p:nvPr/>
        </p:nvSpPr>
        <p:spPr>
          <a:xfrm>
            <a:off x="502920" y="5138928"/>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85800" y="5221224"/>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Travelers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SaaS + containers on AWS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2"/>
          <p:cNvSpPr/>
          <p:nvPr/>
        </p:nvSpPr>
        <p:spPr>
          <a:xfrm>
            <a:off x="3419856" y="5221224"/>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PM team stepped in during RFP response and supported demo and collaboration needs where no CSE was assigned.</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3"/>
          <p:cNvSpPr/>
          <p:nvPr/>
        </p:nvSpPr>
        <p:spPr>
          <a:xfrm>
            <a:off x="7616952" y="5221224"/>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Stronger RFP response and better client-facing support for a complex modernization ask.</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502920" y="5989320"/>
            <a:ext cx="11201400" cy="512064"/>
          </a:xfrm>
          <a:prstGeom prst="roundRect">
            <a:avLst>
              <a:gd name="adj" fmla="val 8929"/>
            </a:avLst>
          </a:prstGeom>
          <a:solidFill>
            <a:srgbClr val="EAF4EA"/>
          </a:solidFill>
          <a:ln w="12700">
            <a:solidFill>
              <a:srgbClr val="B7E0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713232" y="6144768"/>
            <a:ext cx="777240" cy="137160"/>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4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Takeaway</a:t>
            </a:r>
            <a:endParaRPr kumimoji="0" lang="en-US" sz="104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1627632" y="6071616"/>
            <a:ext cx="9646920" cy="283464"/>
          </a:xfrm>
          <a:prstGeom prst="rect">
            <a:avLst/>
          </a:prstGeom>
          <a:noFill/>
          <a:ln/>
        </p:spPr>
        <p:txBody>
          <a:bodyPr wrap="square" lIns="127" tIns="127" rIns="127" bIns="127"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Product Connect has proof points. The next step is making the model repeatable so CSEs get faster enablement, validated reference architectures, and credible BVE assumptions for priority client work.</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100"/>
          </a:xfrm>
          <a:prstGeom prst="rect">
            <a:avLst/>
          </a:prstGeom>
          <a:solidFill>
            <a:srgbClr val="24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11480" y="292608"/>
            <a:ext cx="7925246" cy="41549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700" b="1">
                <a:solidFill>
                  <a:srgbClr val="14181C"/>
                </a:solidFill>
                <a:latin typeface="Arial"/>
              </a:defRPr>
            </a:pPr>
            <a:r>
              <a:rPr kumimoji="0" sz="2700" b="1" i="0" u="none" strike="noStrike" kern="1200" cap="none" spc="0" normalizeH="0" baseline="0" noProof="0" dirty="0">
                <a:ln>
                  <a:noFill/>
                </a:ln>
                <a:solidFill>
                  <a:srgbClr val="14181C"/>
                </a:solidFill>
                <a:effectLst/>
                <a:uLnTx/>
                <a:uFillTx/>
                <a:latin typeface="Arial"/>
                <a:ea typeface="+mn-ea"/>
                <a:cs typeface="+mn-cs"/>
              </a:rPr>
              <a:t>Product engagement – client outcomes</a:t>
            </a:r>
            <a:r>
              <a:rPr kumimoji="0" lang="en-US" sz="2700" b="1" i="0" u="none" strike="noStrike" kern="1200" cap="none" spc="0" normalizeH="0" baseline="0" noProof="0" dirty="0">
                <a:ln>
                  <a:noFill/>
                </a:ln>
                <a:solidFill>
                  <a:srgbClr val="14181C"/>
                </a:solidFill>
                <a:effectLst/>
                <a:uLnTx/>
                <a:uFillTx/>
                <a:latin typeface="Arial"/>
                <a:ea typeface="+mn-ea"/>
                <a:cs typeface="+mn-cs"/>
              </a:rPr>
              <a:t> (contd..)</a:t>
            </a:r>
            <a:endParaRPr kumimoji="0" sz="2700" b="1" i="0" u="none" strike="noStrike" kern="1200" cap="none" spc="0" normalizeH="0" baseline="0" noProof="0" dirty="0">
              <a:ln>
                <a:noFill/>
              </a:ln>
              <a:solidFill>
                <a:srgbClr val="14181C"/>
              </a:solidFill>
              <a:effectLst/>
              <a:uLnTx/>
              <a:uFillTx/>
              <a:latin typeface="Arial"/>
              <a:ea typeface="+mn-ea"/>
              <a:cs typeface="+mn-cs"/>
            </a:endParaRPr>
          </a:p>
        </p:txBody>
      </p:sp>
      <p:sp>
        <p:nvSpPr>
          <p:cNvPr id="4" name="TextBox 3"/>
          <p:cNvSpPr txBox="1"/>
          <p:nvPr/>
        </p:nvSpPr>
        <p:spPr>
          <a:xfrm>
            <a:off x="429768" y="786384"/>
            <a:ext cx="11155680" cy="29260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464B52"/>
                </a:solidFill>
                <a:latin typeface="Arial"/>
              </a:defRPr>
            </a:pPr>
            <a:r>
              <a:rPr kumimoji="0" sz="1300" b="0" i="0" u="none" strike="noStrike" kern="1200" cap="none" spc="0" normalizeH="0" baseline="0" noProof="0">
                <a:ln>
                  <a:noFill/>
                </a:ln>
                <a:solidFill>
                  <a:srgbClr val="464B52"/>
                </a:solidFill>
                <a:effectLst/>
                <a:uLnTx/>
                <a:uFillTx/>
                <a:latin typeface="Arial"/>
                <a:ea typeface="+mn-ea"/>
                <a:cs typeface="+mn-cs"/>
              </a:rPr>
              <a:t>Positive field examples show where PM partnership improves client confidence, removes blockers, and moves modernization work forward.</a:t>
            </a:r>
          </a:p>
        </p:txBody>
      </p:sp>
      <p:sp>
        <p:nvSpPr>
          <p:cNvPr id="5" name="Rounded Rectangle 4"/>
          <p:cNvSpPr/>
          <p:nvPr/>
        </p:nvSpPr>
        <p:spPr>
          <a:xfrm>
            <a:off x="429768" y="1298448"/>
            <a:ext cx="11320272" cy="713232"/>
          </a:xfrm>
          <a:prstGeom prst="roundRect">
            <a:avLst/>
          </a:prstGeom>
          <a:solidFill>
            <a:srgbClr val="FFFFFF"/>
          </a:solidFill>
          <a:ln w="1270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685800" y="1380744"/>
            <a:ext cx="8138160" cy="5029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45BFF"/>
                </a:solidFill>
                <a:latin typeface="Arial"/>
              </a:defRPr>
            </a:pPr>
            <a:r>
              <a:rPr kumimoji="0" sz="1600" b="1" i="0" u="none" strike="noStrike" kern="1200" cap="none" spc="0" normalizeH="0" baseline="0" noProof="0">
                <a:ln>
                  <a:noFill/>
                </a:ln>
                <a:solidFill>
                  <a:srgbClr val="245BFF"/>
                </a:solidFill>
                <a:effectLst/>
                <a:uLnTx/>
                <a:uFillTx/>
                <a:latin typeface="Arial"/>
                <a:ea typeface="+mn-ea"/>
                <a:cs typeface="+mn-cs"/>
              </a:rPr>
              <a:t>PM engagement is creating leverage in live client opportunities: roadmap clarity, modernization confidence, competitive response, and aligned PoC execution.</a:t>
            </a:r>
          </a:p>
        </p:txBody>
      </p:sp>
      <p:sp>
        <p:nvSpPr>
          <p:cNvPr id="7" name="Rectangle 6"/>
          <p:cNvSpPr/>
          <p:nvPr/>
        </p:nvSpPr>
        <p:spPr>
          <a:xfrm>
            <a:off x="9034272" y="1417320"/>
            <a:ext cx="13970" cy="41148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9235440" y="1362456"/>
            <a:ext cx="2331720" cy="53035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4181C"/>
                </a:solidFill>
                <a:latin typeface="Arial"/>
              </a:defRPr>
            </a:pPr>
            <a:r>
              <a:rPr kumimoji="0" sz="1500" b="1" i="0" u="none" strike="noStrike" kern="1200" cap="none" spc="0" normalizeH="0" baseline="0" noProof="0">
                <a:ln>
                  <a:noFill/>
                </a:ln>
                <a:solidFill>
                  <a:srgbClr val="14181C"/>
                </a:solidFill>
                <a:effectLst/>
                <a:uLnTx/>
                <a:uFillTx/>
                <a:latin typeface="Arial"/>
                <a:ea typeface="+mn-ea"/>
                <a:cs typeface="+mn-cs"/>
              </a:rPr>
              <a:t>Scale pattern: roadmap + modernization story + PoC alignment</a:t>
            </a:r>
          </a:p>
        </p:txBody>
      </p:sp>
      <p:sp>
        <p:nvSpPr>
          <p:cNvPr id="9" name="Rounded Rectangle 8"/>
          <p:cNvSpPr/>
          <p:nvPr/>
        </p:nvSpPr>
        <p:spPr>
          <a:xfrm>
            <a:off x="429768" y="2304288"/>
            <a:ext cx="29718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429768" y="2377440"/>
            <a:ext cx="29718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 product</a:t>
            </a:r>
          </a:p>
        </p:txBody>
      </p:sp>
      <p:sp>
        <p:nvSpPr>
          <p:cNvPr id="11" name="Rounded Rectangle 10"/>
          <p:cNvSpPr/>
          <p:nvPr/>
        </p:nvSpPr>
        <p:spPr>
          <a:xfrm>
            <a:off x="3584448" y="2304288"/>
            <a:ext cx="43434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584448" y="2377440"/>
            <a:ext cx="43434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PM engagement</a:t>
            </a:r>
          </a:p>
        </p:txBody>
      </p:sp>
      <p:sp>
        <p:nvSpPr>
          <p:cNvPr id="13" name="Rounded Rectangle 12"/>
          <p:cNvSpPr/>
          <p:nvPr/>
        </p:nvSpPr>
        <p:spPr>
          <a:xfrm>
            <a:off x="8110728" y="2304288"/>
            <a:ext cx="4005072"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8110728" y="2377440"/>
            <a:ext cx="4005072"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outcome / field signal</a:t>
            </a:r>
          </a:p>
        </p:txBody>
      </p:sp>
      <p:sp>
        <p:nvSpPr>
          <p:cNvPr id="15" name="Rectangle 14"/>
          <p:cNvSpPr/>
          <p:nvPr/>
        </p:nvSpPr>
        <p:spPr>
          <a:xfrm>
            <a:off x="429768" y="2752344"/>
            <a:ext cx="11320272" cy="1143000"/>
          </a:xfrm>
          <a:prstGeom prst="rect">
            <a:avLst/>
          </a:prstGeom>
          <a:solidFill>
            <a:srgbClr val="FFFFFF"/>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349300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801928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30936" y="2916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Content Cortex: CMOD + CM8 modernization</a:t>
            </a:r>
          </a:p>
        </p:txBody>
      </p:sp>
      <p:sp>
        <p:nvSpPr>
          <p:cNvPr id="19" name="TextBox 18"/>
          <p:cNvSpPr txBox="1"/>
          <p:nvPr/>
        </p:nvSpPr>
        <p:spPr>
          <a:xfrm>
            <a:off x="3785616" y="2916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Matt Warta and Matt Vest helped share the roadmap and modernization story while Principal evaluated competitive alternatives.</a:t>
            </a:r>
          </a:p>
        </p:txBody>
      </p:sp>
      <p:sp>
        <p:nvSpPr>
          <p:cNvPr id="20" name="TextBox 19"/>
          <p:cNvSpPr txBox="1"/>
          <p:nvPr/>
        </p:nvSpPr>
        <p:spPr>
          <a:xfrm>
            <a:off x="8311896" y="2916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PoC is underway. Sales, technical, and product teams are aligned around the client modernization path.</a:t>
            </a:r>
          </a:p>
        </p:txBody>
      </p:sp>
      <p:sp>
        <p:nvSpPr>
          <p:cNvPr id="21" name="Rectangle 20"/>
          <p:cNvSpPr/>
          <p:nvPr/>
        </p:nvSpPr>
        <p:spPr>
          <a:xfrm>
            <a:off x="429768" y="3895344"/>
            <a:ext cx="11320272" cy="1143000"/>
          </a:xfrm>
          <a:prstGeom prst="rect">
            <a:avLst/>
          </a:prstGeom>
          <a:solidFill>
            <a:srgbClr val="EFF2F7"/>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349300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p:nvSpPr>
        <p:spPr>
          <a:xfrm>
            <a:off x="801928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30936" y="4059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BAW modernization</a:t>
            </a:r>
          </a:p>
        </p:txBody>
      </p:sp>
      <p:sp>
        <p:nvSpPr>
          <p:cNvPr id="25" name="TextBox 24"/>
          <p:cNvSpPr txBox="1"/>
          <p:nvPr/>
        </p:nvSpPr>
        <p:spPr>
          <a:xfrm>
            <a:off x="3785616" y="4059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Swapnil shared the BAW roadmap and AI capabilities with client stakeholders as they evaluated modernization options and ServiceNow risk.</a:t>
            </a:r>
          </a:p>
        </p:txBody>
      </p:sp>
      <p:sp>
        <p:nvSpPr>
          <p:cNvPr id="26" name="TextBox 25"/>
          <p:cNvSpPr txBox="1"/>
          <p:nvPr/>
        </p:nvSpPr>
        <p:spPr>
          <a:xfrm>
            <a:off x="8311896" y="4059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Two-day client engagement with business users created positive feedback and a path for expansion into new capabilities.</a:t>
            </a:r>
          </a:p>
        </p:txBody>
      </p:sp>
      <p:sp>
        <p:nvSpPr>
          <p:cNvPr id="27" name="Rounded Rectangle 26"/>
          <p:cNvSpPr/>
          <p:nvPr/>
        </p:nvSpPr>
        <p:spPr>
          <a:xfrm>
            <a:off x="429768" y="5669280"/>
            <a:ext cx="11320272" cy="502920"/>
          </a:xfrm>
          <a:prstGeom prst="roundRect">
            <a:avLst/>
          </a:prstGeom>
          <a:solidFill>
            <a:srgbClr val="E8F5E8"/>
          </a:solidFill>
          <a:ln w="12700">
            <a:solidFill>
              <a:srgbClr val="8FC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40080" y="5806440"/>
            <a:ext cx="822960" cy="18288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1">
                <a:solidFill>
                  <a:srgbClr val="1F4A23"/>
                </a:solidFill>
                <a:latin typeface="Arial"/>
              </a:defRPr>
            </a:pPr>
            <a:r>
              <a:rPr kumimoji="0" sz="1050" b="1" i="0" u="none" strike="noStrike" kern="1200" cap="none" spc="0" normalizeH="0" baseline="0" noProof="0">
                <a:ln>
                  <a:noFill/>
                </a:ln>
                <a:solidFill>
                  <a:srgbClr val="1F4A23"/>
                </a:solidFill>
                <a:effectLst/>
                <a:uLnTx/>
                <a:uFillTx/>
                <a:latin typeface="Arial"/>
                <a:ea typeface="+mn-ea"/>
                <a:cs typeface="+mn-cs"/>
              </a:rPr>
              <a:t>Takeaway</a:t>
            </a:r>
          </a:p>
        </p:txBody>
      </p:sp>
      <p:sp>
        <p:nvSpPr>
          <p:cNvPr id="29" name="TextBox 28"/>
          <p:cNvSpPr txBox="1"/>
          <p:nvPr/>
        </p:nvSpPr>
        <p:spPr>
          <a:xfrm>
            <a:off x="1572768" y="5751576"/>
            <a:ext cx="9692640"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1F4A23"/>
                </a:solidFill>
                <a:latin typeface="Arial"/>
              </a:defRPr>
            </a:pPr>
            <a:r>
              <a:rPr kumimoji="0" sz="1200" b="1" i="0" u="none" strike="noStrike" kern="1200" cap="none" spc="0" normalizeH="0" baseline="0" noProof="0">
                <a:ln>
                  <a:noFill/>
                </a:ln>
                <a:solidFill>
                  <a:srgbClr val="1F4A23"/>
                </a:solidFill>
                <a:effectLst/>
                <a:uLnTx/>
                <a:uFillTx/>
                <a:latin typeface="Arial"/>
                <a:ea typeface="+mn-ea"/>
                <a:cs typeface="+mn-cs"/>
              </a:rPr>
              <a:t>Product Connect is proving value where PMs help the field explain the roadmap, respond to competitive pressure, and turn modernization interest into active PoCs and expansion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0F62FE"/>
          </a:solidFill>
          <a:ln w="1270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384048" y="246888"/>
            <a:ext cx="11338560" cy="4114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Briefing (modernization events)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384048" y="859536"/>
            <a:ext cx="11411712" cy="548640"/>
          </a:xfrm>
          <a:prstGeom prst="roundRect">
            <a:avLst>
              <a:gd name="adj" fmla="val 10000"/>
            </a:avLst>
          </a:prstGeom>
          <a:solidFill>
            <a:srgbClr val="FFFFFF"/>
          </a:solidFill>
          <a:ln w="12700">
            <a:solidFill>
              <a:srgbClr val="DDE1E6"/>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594360" y="950976"/>
            <a:ext cx="10744200" cy="365760"/>
          </a:xfrm>
          <a:prstGeom prst="rect">
            <a:avLst/>
          </a:prstGeom>
          <a:noFill/>
          <a:ln/>
        </p:spPr>
        <p:txBody>
          <a:bodyPr wrap="square" lIns="381" tIns="381" rIns="381" bIns="381"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Objective: activate client-facing modernization sessions by product pillar, using a repeatable model that supports urgent single-client needs and scalable multi-client motions.</a:t>
            </a:r>
            <a:endParaRPr kumimoji="0" lang="en-US" sz="138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566928" y="1755648"/>
            <a:ext cx="3886200"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Pillar / briefing</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4773168" y="1755648"/>
            <a:ext cx="1938528"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Progress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6986016" y="1755648"/>
            <a:ext cx="4672584"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Current focus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384048" y="2066544"/>
            <a:ext cx="11411712" cy="0"/>
          </a:xfrm>
          <a:prstGeom prst="line">
            <a:avLst/>
          </a:prstGeom>
          <a:noFill/>
          <a:ln w="1524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768096" y="2084832"/>
            <a:ext cx="5029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5020056" y="2084832"/>
            <a:ext cx="68580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6986016" y="2084832"/>
            <a:ext cx="11887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384048" y="2194560"/>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84048" y="277977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612648" y="2386584"/>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Client Event Activation Framework</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202936" y="232257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5202936" y="233172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986016" y="2304288"/>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Pillar-led model defined. Product, Kelcey, Ecosystem Engineering, Sales, and Marketing support model being aligned.</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384048" y="2843784"/>
            <a:ext cx="11411712" cy="585216"/>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384048" y="342900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12648" y="3035808"/>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 Runtime / WAS</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6986016" y="2953512"/>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Multi-client event – July 14</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384048" y="3493008"/>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384048" y="4078224"/>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612648" y="36850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Application Integration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202936" y="3621024"/>
            <a:ext cx="1243584" cy="329184"/>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5202936" y="3630168"/>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2 confirmed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6986016" y="3602736"/>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May 13: AI-Infused Middleware multi-client session covering Sterling, webMethods, API Connect, and Aspera.</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Shape 29"/>
          <p:cNvSpPr/>
          <p:nvPr/>
        </p:nvSpPr>
        <p:spPr>
          <a:xfrm>
            <a:off x="384048" y="4142232"/>
            <a:ext cx="11411712" cy="932688"/>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Shape 30"/>
          <p:cNvSpPr/>
          <p:nvPr/>
        </p:nvSpPr>
        <p:spPr>
          <a:xfrm>
            <a:off x="384048" y="507492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12648" y="4288536"/>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Business Automation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Shape 32"/>
          <p:cNvSpPr/>
          <p:nvPr/>
        </p:nvSpPr>
        <p:spPr>
          <a:xfrm>
            <a:off x="5202936" y="4251960"/>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5202936" y="4261104"/>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6986016" y="4224528"/>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CP4BA expansion and utilization growth. Confirm target accounts, product support, audience, and event narrative.</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Shape 35"/>
          <p:cNvSpPr/>
          <p:nvPr/>
        </p:nvSpPr>
        <p:spPr>
          <a:xfrm>
            <a:off x="704088" y="4608576"/>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 36"/>
          <p:cNvSpPr/>
          <p:nvPr/>
        </p:nvSpPr>
        <p:spPr>
          <a:xfrm>
            <a:off x="950976" y="4745736"/>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Content Cortex </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Shape 37"/>
          <p:cNvSpPr/>
          <p:nvPr/>
        </p:nvSpPr>
        <p:spPr>
          <a:xfrm>
            <a:off x="5202936" y="4727448"/>
            <a:ext cx="1243584" cy="292608"/>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0" name="Text 38"/>
          <p:cNvSpPr/>
          <p:nvPr/>
        </p:nvSpPr>
        <p:spPr>
          <a:xfrm>
            <a:off x="5202936" y="4700016"/>
            <a:ext cx="1344168"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Product launch</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1" name="Text 39"/>
          <p:cNvSpPr/>
          <p:nvPr/>
        </p:nvSpPr>
        <p:spPr>
          <a:xfrm>
            <a:off x="6986016" y="4645152"/>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June 24: Content Cortex product launch. Position under Business Automation as part of the modernization event path.</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40"/>
          <p:cNvSpPr/>
          <p:nvPr/>
        </p:nvSpPr>
        <p:spPr>
          <a:xfrm>
            <a:off x="384048" y="5138928"/>
            <a:ext cx="11411712" cy="932688"/>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3" name="Shape 41"/>
          <p:cNvSpPr/>
          <p:nvPr/>
        </p:nvSpPr>
        <p:spPr>
          <a:xfrm>
            <a:off x="384048" y="607161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612648" y="52852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Data Architecture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Shape 43"/>
          <p:cNvSpPr/>
          <p:nvPr/>
        </p:nvSpPr>
        <p:spPr>
          <a:xfrm>
            <a:off x="5202936" y="524865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6" name="Text 44"/>
          <p:cNvSpPr/>
          <p:nvPr/>
        </p:nvSpPr>
        <p:spPr>
          <a:xfrm>
            <a:off x="5202936" y="525780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Text 45"/>
          <p:cNvSpPr/>
          <p:nvPr/>
        </p:nvSpPr>
        <p:spPr>
          <a:xfrm>
            <a:off x="6986016" y="5221224"/>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Build repeatable sessions around Db2, DataStage, watsonx.data, and related modernization triggers. Align owners and timing.</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Shape 46"/>
          <p:cNvSpPr/>
          <p:nvPr/>
        </p:nvSpPr>
        <p:spPr>
          <a:xfrm>
            <a:off x="704088" y="5605272"/>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9" name="Text 47"/>
          <p:cNvSpPr/>
          <p:nvPr/>
        </p:nvSpPr>
        <p:spPr>
          <a:xfrm>
            <a:off x="950976" y="5742432"/>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Cognos Analytics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5202936" y="5687568"/>
            <a:ext cx="1243584" cy="329184"/>
          </a:xfrm>
          <a:prstGeom prst="roundRect">
            <a:avLst>
              <a:gd name="adj" fmla="val 50000"/>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5102352" y="5696712"/>
            <a:ext cx="1444752"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Scheduled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6986016" y="5641848"/>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July 16–17: Multi-client Cognos Analytics session scheduled. Focus on agentic analytics, proactive decisions, governance, and PA cross-play.</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411480" y="6537960"/>
            <a:ext cx="11155680" cy="16459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30" b="0" i="1"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Cognos Analytics is shown under Data Architecture. Content Cortex is shown under Business Automation.</a:t>
            </a:r>
            <a:endParaRPr kumimoji="0" lang="en-US" sz="830" b="0" i="0" u="none" strike="noStrike" kern="1200" cap="none" spc="0" normalizeH="0" baseline="0" noProof="0" dirty="0">
              <a:ln>
                <a:noFill/>
              </a:ln>
              <a:solidFill>
                <a:prstClr val="black"/>
              </a:solidFill>
              <a:effectLst/>
              <a:uLnTx/>
              <a:uFillTx/>
              <a:latin typeface="Aptos"/>
              <a:ea typeface="+mn-ea"/>
              <a:cs typeface="+mn-cs"/>
            </a:endParaRPr>
          </a:p>
        </p:txBody>
      </p:sp>
      <p:sp>
        <p:nvSpPr>
          <p:cNvPr id="55" name="Shape 48">
            <a:extLst>
              <a:ext uri="{FF2B5EF4-FFF2-40B4-BE49-F238E27FC236}">
                <a16:creationId xmlns:a16="http://schemas.microsoft.com/office/drawing/2014/main" id="{54AA0B84-6408-83CA-2F66-F61B23581A2C}"/>
              </a:ext>
            </a:extLst>
          </p:cNvPr>
          <p:cNvSpPr/>
          <p:nvPr/>
        </p:nvSpPr>
        <p:spPr>
          <a:xfrm>
            <a:off x="5202936" y="2966804"/>
            <a:ext cx="1243584" cy="329184"/>
          </a:xfrm>
          <a:prstGeom prst="roundRect">
            <a:avLst>
              <a:gd name="adj" fmla="val 50000"/>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algn="ctr">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Scheduled</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5A9B-5E00-99BD-BDC0-FD0173C051D1}"/>
            </a:ext>
          </a:extLst>
        </p:cNvPr>
        <p:cNvGrpSpPr/>
        <p:nvPr/>
      </p:nvGrpSpPr>
      <p:grpSpPr>
        <a:xfrm>
          <a:off x="0" y="0"/>
          <a:ext cx="0" cy="0"/>
          <a:chOff x="0" y="0"/>
          <a:chExt cx="0" cy="0"/>
        </a:xfrm>
      </p:grpSpPr>
    </p:spTree>
    <p:extLst>
      <p:ext uri="{BB962C8B-B14F-4D97-AF65-F5344CB8AC3E}">
        <p14:creationId xmlns:p14="http://schemas.microsoft.com/office/powerpoint/2010/main" val="390777406"/>
      </p:ext>
    </p:extLst>
  </p:cSld>
  <p:clrMapOvr>
    <a:masterClrMapping/>
  </p:clrMapOvr>
  <mc:AlternateContent xmlns:mc="http://schemas.openxmlformats.org/markup-compatibility/2006" xmlns:p14="http://schemas.microsoft.com/office/powerpoint/2010/main">
    <mc:Choice Requires="p14">
      <p:transition spd="med" p14:dur="700" advTm="4041">
        <p:fade/>
      </p:transition>
    </mc:Choice>
    <mc:Fallback xmlns="">
      <p:transition spd="med" advTm="404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CF8735-82F5-4882-1DE5-D3AC3A346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5AC4-6855-F087-F110-0B54F43A259A}"/>
              </a:ext>
            </a:extLst>
          </p:cNvPr>
          <p:cNvSpPr>
            <a:spLocks noGrp="1"/>
          </p:cNvSpPr>
          <p:nvPr>
            <p:ph type="title"/>
          </p:nvPr>
        </p:nvSpPr>
        <p:spPr>
          <a:xfrm>
            <a:off x="287962" y="288445"/>
            <a:ext cx="6360451" cy="762695"/>
          </a:xfrm>
        </p:spPr>
        <p:txBody>
          <a:bodyPr/>
          <a:lstStyle/>
          <a:p>
            <a:r>
              <a:rPr lang="en-US" sz="3599" dirty="0"/>
              <a:t>Why Core to Modernize exists?</a:t>
            </a:r>
          </a:p>
        </p:txBody>
      </p:sp>
      <p:sp>
        <p:nvSpPr>
          <p:cNvPr id="8" name="Slide Number Placeholder 7">
            <a:extLst>
              <a:ext uri="{FF2B5EF4-FFF2-40B4-BE49-F238E27FC236}">
                <a16:creationId xmlns:a16="http://schemas.microsoft.com/office/drawing/2014/main" id="{F827EB9F-4E19-FB44-320D-A7D8EBECE794}"/>
              </a:ext>
            </a:extLst>
          </p:cNvPr>
          <p:cNvSpPr>
            <a:spLocks noGrp="1"/>
          </p:cNvSpPr>
          <p:nvPr>
            <p:ph type="sldNum" sz="quarter" idx="4"/>
          </p:nvPr>
        </p:nvSpPr>
        <p:spPr>
          <a:xfrm>
            <a:off x="5829747" y="3203954"/>
            <a:ext cx="121828" cy="123111"/>
          </a:xfrm>
        </p:spPr>
        <p:txBody>
          <a:bodyPr/>
          <a:lstStyle/>
          <a:p>
            <a:pPr defTabSz="914507"/>
            <a:fld id="{86CB4B4D-7CA3-9044-876B-883B54F8677D}" type="slidenum">
              <a:rPr lang="en-US">
                <a:solidFill>
                  <a:srgbClr val="000000"/>
                </a:solidFill>
              </a:rPr>
              <a:pPr defTabSz="914507"/>
              <a:t>9</a:t>
            </a:fld>
            <a:endParaRPr lang="en-US" dirty="0">
              <a:solidFill>
                <a:srgbClr val="000000"/>
              </a:solidFill>
            </a:endParaRPr>
          </a:p>
        </p:txBody>
      </p:sp>
      <p:sp>
        <p:nvSpPr>
          <p:cNvPr id="3" name="Text Placeholder 2">
            <a:extLst>
              <a:ext uri="{FF2B5EF4-FFF2-40B4-BE49-F238E27FC236}">
                <a16:creationId xmlns:a16="http://schemas.microsoft.com/office/drawing/2014/main" id="{A75DAC3C-6FEB-223F-1273-773E80C5018E}"/>
              </a:ext>
            </a:extLst>
          </p:cNvPr>
          <p:cNvSpPr>
            <a:spLocks noGrp="1"/>
          </p:cNvSpPr>
          <p:nvPr>
            <p:ph type="body" sz="quarter" idx="11"/>
          </p:nvPr>
        </p:nvSpPr>
        <p:spPr>
          <a:xfrm>
            <a:off x="407772" y="1051140"/>
            <a:ext cx="9669194" cy="631343"/>
          </a:xfrm>
        </p:spPr>
        <p:txBody>
          <a:bodyPr/>
          <a:lstStyle/>
          <a:p>
            <a:r>
              <a:rPr lang="en-US" sz="1600" b="1">
                <a:solidFill>
                  <a:schemeClr val="accent1"/>
                </a:solidFill>
                <a:latin typeface="IBM Plex Sans Medm" panose="020B0503050203000203" pitchFamily="34" charset="0"/>
              </a:rPr>
              <a:t>Goal: evolve the existing footprint without disruption and make it resilient and AI-ready</a:t>
            </a:r>
            <a:endParaRPr lang="en-US" sz="1600" b="1" dirty="0">
              <a:solidFill>
                <a:schemeClr val="accent1"/>
              </a:solidFill>
              <a:latin typeface="IBM Plex Sans Medm" panose="020B0503050203000203" pitchFamily="34" charset="0"/>
            </a:endParaRPr>
          </a:p>
        </p:txBody>
      </p:sp>
      <p:sp>
        <p:nvSpPr>
          <p:cNvPr id="5" name="TextBox 4">
            <a:extLst>
              <a:ext uri="{FF2B5EF4-FFF2-40B4-BE49-F238E27FC236}">
                <a16:creationId xmlns:a16="http://schemas.microsoft.com/office/drawing/2014/main" id="{6B947E1D-9567-CD64-FFE6-B8437E290CDF}"/>
              </a:ext>
            </a:extLst>
          </p:cNvPr>
          <p:cNvSpPr txBox="1"/>
          <p:nvPr/>
        </p:nvSpPr>
        <p:spPr>
          <a:xfrm>
            <a:off x="539533" y="1794365"/>
            <a:ext cx="6754839" cy="92333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285693" indent="-285693" defTabSz="914507">
              <a:buFont typeface="Arial" panose="020B0604020202020204" pitchFamily="34" charset="0"/>
              <a:buChar char="•"/>
            </a:pPr>
            <a:r>
              <a:rPr lang="en-US" dirty="0">
                <a:solidFill>
                  <a:srgbClr val="000000"/>
                </a:solidFill>
                <a:latin typeface="IBM Plex Sans Light"/>
              </a:rPr>
              <a:t>Core software runs the business</a:t>
            </a:r>
          </a:p>
          <a:p>
            <a:pPr marL="285693" indent="-285693" defTabSz="914507">
              <a:buFont typeface="Arial" panose="020B0604020202020204" pitchFamily="34" charset="0"/>
              <a:buChar char="•"/>
            </a:pPr>
            <a:r>
              <a:rPr lang="en-US" dirty="0">
                <a:solidFill>
                  <a:srgbClr val="000000"/>
                </a:solidFill>
                <a:latin typeface="IBM Plex Sans Light"/>
              </a:rPr>
              <a:t>Aging estates increase risk, cost, and change friction</a:t>
            </a:r>
          </a:p>
          <a:p>
            <a:pPr marL="285693" indent="-285693" defTabSz="914507">
              <a:buFont typeface="Arial" panose="020B0604020202020204" pitchFamily="34" charset="0"/>
              <a:buChar char="•"/>
            </a:pPr>
            <a:r>
              <a:rPr lang="en-US" dirty="0">
                <a:solidFill>
                  <a:srgbClr val="000000"/>
                </a:solidFill>
                <a:latin typeface="IBM Plex Sans Light"/>
              </a:rPr>
              <a:t>Modernization must be controlled and repeatable</a:t>
            </a:r>
          </a:p>
        </p:txBody>
      </p:sp>
      <p:pic>
        <p:nvPicPr>
          <p:cNvPr id="4" name="Picture 3">
            <a:extLst>
              <a:ext uri="{FF2B5EF4-FFF2-40B4-BE49-F238E27FC236}">
                <a16:creationId xmlns:a16="http://schemas.microsoft.com/office/drawing/2014/main" id="{2CDC069B-064D-CE1E-A119-6260AC71940C}"/>
              </a:ext>
            </a:extLst>
          </p:cNvPr>
          <p:cNvPicPr>
            <a:picLocks noChangeAspect="1"/>
          </p:cNvPicPr>
          <p:nvPr/>
        </p:nvPicPr>
        <p:blipFill>
          <a:blip r:embed="rId3"/>
          <a:srcRect/>
          <a:stretch/>
        </p:blipFill>
        <p:spPr>
          <a:xfrm>
            <a:off x="3786056" y="3116873"/>
            <a:ext cx="5724714" cy="3358499"/>
          </a:xfrm>
          <a:prstGeom prst="rect">
            <a:avLst/>
          </a:prstGeom>
        </p:spPr>
      </p:pic>
      <p:sp>
        <p:nvSpPr>
          <p:cNvPr id="10" name="TextBox 9">
            <a:extLst>
              <a:ext uri="{FF2B5EF4-FFF2-40B4-BE49-F238E27FC236}">
                <a16:creationId xmlns:a16="http://schemas.microsoft.com/office/drawing/2014/main" id="{BD97E0AB-3AB7-676F-D36E-F69625B6954A}"/>
              </a:ext>
            </a:extLst>
          </p:cNvPr>
          <p:cNvSpPr txBox="1"/>
          <p:nvPr/>
        </p:nvSpPr>
        <p:spPr>
          <a:xfrm>
            <a:off x="1708268" y="4787338"/>
            <a:ext cx="2396058"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007D79"/>
                </a:solidFill>
                <a:latin typeface="IBM Plex Sans Light"/>
              </a:rPr>
              <a:t>Controlled Evolution</a:t>
            </a:r>
          </a:p>
        </p:txBody>
      </p:sp>
      <p:sp>
        <p:nvSpPr>
          <p:cNvPr id="12" name="TextBox 11">
            <a:extLst>
              <a:ext uri="{FF2B5EF4-FFF2-40B4-BE49-F238E27FC236}">
                <a16:creationId xmlns:a16="http://schemas.microsoft.com/office/drawing/2014/main" id="{B61373FE-0579-3E7B-7D46-1B966F53F479}"/>
              </a:ext>
            </a:extLst>
          </p:cNvPr>
          <p:cNvSpPr txBox="1"/>
          <p:nvPr/>
        </p:nvSpPr>
        <p:spPr>
          <a:xfrm>
            <a:off x="9780488" y="4796122"/>
            <a:ext cx="2124212"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C00000"/>
                </a:solidFill>
                <a:latin typeface="IBM Plex Sans Light"/>
              </a:rPr>
              <a:t>Rip and Replace</a:t>
            </a:r>
          </a:p>
        </p:txBody>
      </p:sp>
      <p:sp>
        <p:nvSpPr>
          <p:cNvPr id="15" name="TextBox 14">
            <a:extLst>
              <a:ext uri="{FF2B5EF4-FFF2-40B4-BE49-F238E27FC236}">
                <a16:creationId xmlns:a16="http://schemas.microsoft.com/office/drawing/2014/main" id="{14DD3B7C-73EF-9ACE-68BE-A38E1969AB9F}"/>
              </a:ext>
            </a:extLst>
          </p:cNvPr>
          <p:cNvSpPr txBox="1"/>
          <p:nvPr/>
        </p:nvSpPr>
        <p:spPr>
          <a:xfrm>
            <a:off x="1637852" y="5182044"/>
            <a:ext cx="2218622"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r" defTabSz="914507"/>
            <a:r>
              <a:rPr lang="en-US" sz="1200" dirty="0">
                <a:solidFill>
                  <a:srgbClr val="000000"/>
                </a:solidFill>
                <a:latin typeface="IBM Plex Sans Light"/>
              </a:rPr>
              <a:t>Ensures stability and trust while enabling AI adoption without disruption</a:t>
            </a:r>
          </a:p>
        </p:txBody>
      </p:sp>
      <p:sp>
        <p:nvSpPr>
          <p:cNvPr id="18" name="TextBox 17">
            <a:extLst>
              <a:ext uri="{FF2B5EF4-FFF2-40B4-BE49-F238E27FC236}">
                <a16:creationId xmlns:a16="http://schemas.microsoft.com/office/drawing/2014/main" id="{7AF76E2C-CEA9-86D5-1410-7AC465FB8D5F}"/>
              </a:ext>
            </a:extLst>
          </p:cNvPr>
          <p:cNvSpPr txBox="1"/>
          <p:nvPr/>
        </p:nvSpPr>
        <p:spPr>
          <a:xfrm>
            <a:off x="9780488" y="5182044"/>
            <a:ext cx="1988776"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sz="1200" dirty="0">
                <a:solidFill>
                  <a:srgbClr val="000000"/>
                </a:solidFill>
                <a:latin typeface="IBM Plex Sans Light"/>
              </a:rPr>
              <a:t>May introduce risks and costs due to potential disruption</a:t>
            </a:r>
          </a:p>
        </p:txBody>
      </p:sp>
    </p:spTree>
    <p:extLst>
      <p:ext uri="{BB962C8B-B14F-4D97-AF65-F5344CB8AC3E}">
        <p14:creationId xmlns:p14="http://schemas.microsoft.com/office/powerpoint/2010/main" val="342556115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84E4-1949-2B78-ABAA-B474AF4A857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B779685-4550-A851-B0F8-51A6B4F2D802}"/>
              </a:ext>
            </a:extLst>
          </p:cNvPr>
          <p:cNvSpPr>
            <a:spLocks noGrp="1"/>
          </p:cNvSpPr>
          <p:nvPr>
            <p:ph type="title"/>
          </p:nvPr>
        </p:nvSpPr>
        <p:spPr>
          <a:xfrm>
            <a:off x="287963" y="288445"/>
            <a:ext cx="4461209" cy="1234216"/>
          </a:xfrm>
        </p:spPr>
        <p:txBody>
          <a:bodyPr/>
          <a:lstStyle/>
          <a:p>
            <a:r>
              <a:rPr lang="en-US" sz="3599" dirty="0">
                <a:solidFill>
                  <a:schemeClr val="accent1"/>
                </a:solidFill>
              </a:rPr>
              <a:t>Product Pillars - Priya</a:t>
            </a:r>
            <a:br>
              <a:rPr lang="en-US" dirty="0"/>
            </a:br>
            <a:r>
              <a:rPr lang="en-US" sz="900" dirty="0"/>
              <a:t>Four Product Pillars have been prioritized for Core to Modernization Plays</a:t>
            </a:r>
          </a:p>
        </p:txBody>
      </p:sp>
      <p:sp>
        <p:nvSpPr>
          <p:cNvPr id="4" name="Slide Number Placeholder 3">
            <a:extLst>
              <a:ext uri="{FF2B5EF4-FFF2-40B4-BE49-F238E27FC236}">
                <a16:creationId xmlns:a16="http://schemas.microsoft.com/office/drawing/2014/main" id="{5E1CD7D4-44EE-BB88-1F10-35189F355E72}"/>
              </a:ext>
            </a:extLst>
          </p:cNvPr>
          <p:cNvSpPr>
            <a:spLocks noGrp="1"/>
          </p:cNvSpPr>
          <p:nvPr>
            <p:ph type="sldNum" sz="quarter" idx="4"/>
          </p:nvPr>
        </p:nvSpPr>
        <p:spPr>
          <a:xfrm>
            <a:off x="11782872" y="6475769"/>
            <a:ext cx="121828" cy="123111"/>
          </a:xfrm>
        </p:spPr>
        <p:txBody>
          <a:bodyPr/>
          <a:lstStyle/>
          <a:p>
            <a:fld id="{86CB4B4D-7CA3-9044-876B-883B54F8677D}" type="slidenum">
              <a:rPr lang="en-US" smtClean="0"/>
              <a:pPr/>
              <a:t>10</a:t>
            </a:fld>
            <a:endParaRPr lang="en-US" dirty="0"/>
          </a:p>
        </p:txBody>
      </p:sp>
      <p:sp>
        <p:nvSpPr>
          <p:cNvPr id="3" name="Footer Placeholder 2">
            <a:extLst>
              <a:ext uri="{FF2B5EF4-FFF2-40B4-BE49-F238E27FC236}">
                <a16:creationId xmlns:a16="http://schemas.microsoft.com/office/drawing/2014/main" id="{3227371C-C35F-8C67-315F-FDEDE097BB7B}"/>
              </a:ext>
            </a:extLst>
          </p:cNvPr>
          <p:cNvSpPr>
            <a:spLocks noGrp="1"/>
          </p:cNvSpPr>
          <p:nvPr>
            <p:ph type="ftr" sz="quarter" idx="4294967295"/>
          </p:nvPr>
        </p:nvSpPr>
        <p:spPr>
          <a:xfrm>
            <a:off x="0" y="6407556"/>
            <a:ext cx="2477765" cy="190475"/>
          </a:xfrm>
        </p:spPr>
        <p:txBody>
          <a:bodyPr/>
          <a:lstStyle/>
          <a:p>
            <a:r>
              <a:rPr lang="en-US" dirty="0"/>
              <a:t>US FSM / © 2025 IBM Corporation</a:t>
            </a:r>
          </a:p>
        </p:txBody>
      </p:sp>
      <p:sp>
        <p:nvSpPr>
          <p:cNvPr id="2" name="Rectangle 134">
            <a:extLst>
              <a:ext uri="{FF2B5EF4-FFF2-40B4-BE49-F238E27FC236}">
                <a16:creationId xmlns:a16="http://schemas.microsoft.com/office/drawing/2014/main" id="{57FCC733-FDCB-7B16-52E9-936BED725F66}"/>
              </a:ext>
            </a:extLst>
          </p:cNvPr>
          <p:cNvSpPr/>
          <p:nvPr/>
        </p:nvSpPr>
        <p:spPr>
          <a:xfrm>
            <a:off x="381795"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strike="sngStrike" dirty="0">
              <a:solidFill>
                <a:srgbClr val="FFFFFF"/>
              </a:solidFill>
              <a:latin typeface="IBM Plex Sans Light"/>
            </a:endParaRPr>
          </a:p>
        </p:txBody>
      </p:sp>
      <p:sp>
        <p:nvSpPr>
          <p:cNvPr id="11" name="Rectangle 135">
            <a:extLst>
              <a:ext uri="{FF2B5EF4-FFF2-40B4-BE49-F238E27FC236}">
                <a16:creationId xmlns:a16="http://schemas.microsoft.com/office/drawing/2014/main" id="{049F17E2-8FA7-0890-07AA-11F96EBA2686}"/>
              </a:ext>
            </a:extLst>
          </p:cNvPr>
          <p:cNvSpPr/>
          <p:nvPr/>
        </p:nvSpPr>
        <p:spPr>
          <a:xfrm>
            <a:off x="3350397"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2" name="Rectangle 136">
            <a:extLst>
              <a:ext uri="{FF2B5EF4-FFF2-40B4-BE49-F238E27FC236}">
                <a16:creationId xmlns:a16="http://schemas.microsoft.com/office/drawing/2014/main" id="{0DFD5746-146B-F666-19FD-DD997A5A7C1F}"/>
              </a:ext>
            </a:extLst>
          </p:cNvPr>
          <p:cNvSpPr/>
          <p:nvPr/>
        </p:nvSpPr>
        <p:spPr>
          <a:xfrm>
            <a:off x="6319000" y="1168267"/>
            <a:ext cx="2609660" cy="4690810"/>
          </a:xfrm>
          <a:prstGeom prst="rect">
            <a:avLst/>
          </a:prstGeom>
          <a:solidFill>
            <a:srgbClr val="E8DA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dirty="0">
              <a:solidFill>
                <a:srgbClr val="FFFFFF"/>
              </a:solidFill>
              <a:latin typeface="IBM Plex Sans Light"/>
            </a:endParaRPr>
          </a:p>
        </p:txBody>
      </p:sp>
      <p:sp>
        <p:nvSpPr>
          <p:cNvPr id="14" name="Rectangle 137">
            <a:extLst>
              <a:ext uri="{FF2B5EF4-FFF2-40B4-BE49-F238E27FC236}">
                <a16:creationId xmlns:a16="http://schemas.microsoft.com/office/drawing/2014/main" id="{5C528EEC-6984-3332-8708-ABB2798D59DA}"/>
              </a:ext>
            </a:extLst>
          </p:cNvPr>
          <p:cNvSpPr/>
          <p:nvPr/>
        </p:nvSpPr>
        <p:spPr>
          <a:xfrm>
            <a:off x="9287602" y="1168267"/>
            <a:ext cx="2609660" cy="4690810"/>
          </a:xfrm>
          <a:prstGeom prst="rect">
            <a:avLst/>
          </a:prstGeom>
          <a:solidFill>
            <a:srgbClr val="EDE2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5" name="Rectangle 139">
            <a:extLst>
              <a:ext uri="{FF2B5EF4-FFF2-40B4-BE49-F238E27FC236}">
                <a16:creationId xmlns:a16="http://schemas.microsoft.com/office/drawing/2014/main" id="{1B9856D1-AF78-ACD0-16D9-6AD1E5332CD5}"/>
              </a:ext>
            </a:extLst>
          </p:cNvPr>
          <p:cNvSpPr/>
          <p:nvPr/>
        </p:nvSpPr>
        <p:spPr>
          <a:xfrm>
            <a:off x="296926" y="1321006"/>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&amp; Runtimes</a:t>
            </a:r>
          </a:p>
        </p:txBody>
      </p:sp>
      <p:sp>
        <p:nvSpPr>
          <p:cNvPr id="16" name="Rectangle 141">
            <a:extLst>
              <a:ext uri="{FF2B5EF4-FFF2-40B4-BE49-F238E27FC236}">
                <a16:creationId xmlns:a16="http://schemas.microsoft.com/office/drawing/2014/main" id="{5C7F0A29-43DE-5E68-778B-61CC13ADB1EB}"/>
              </a:ext>
            </a:extLst>
          </p:cNvPr>
          <p:cNvSpPr/>
          <p:nvPr/>
        </p:nvSpPr>
        <p:spPr>
          <a:xfrm>
            <a:off x="3260070" y="1325674"/>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Integration</a:t>
            </a:r>
          </a:p>
        </p:txBody>
      </p:sp>
      <p:sp>
        <p:nvSpPr>
          <p:cNvPr id="17" name="Rectangle 142">
            <a:extLst>
              <a:ext uri="{FF2B5EF4-FFF2-40B4-BE49-F238E27FC236}">
                <a16:creationId xmlns:a16="http://schemas.microsoft.com/office/drawing/2014/main" id="{8E91534B-7FB6-6FFB-7751-AB45400C5FCB}"/>
              </a:ext>
            </a:extLst>
          </p:cNvPr>
          <p:cNvSpPr/>
          <p:nvPr/>
        </p:nvSpPr>
        <p:spPr>
          <a:xfrm>
            <a:off x="6210387"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chemeClr val="bg1"/>
                </a:solidFill>
                <a:latin typeface="IBM Plex Sans Medm" pitchFamily="34"/>
              </a:rPr>
              <a:t>Business Automation</a:t>
            </a:r>
          </a:p>
        </p:txBody>
      </p:sp>
      <p:sp>
        <p:nvSpPr>
          <p:cNvPr id="18" name="Rectangle 144">
            <a:extLst>
              <a:ext uri="{FF2B5EF4-FFF2-40B4-BE49-F238E27FC236}">
                <a16:creationId xmlns:a16="http://schemas.microsoft.com/office/drawing/2014/main" id="{1161F499-1FEE-3D9B-5EAF-B3988C4C7BAF}"/>
              </a:ext>
            </a:extLst>
          </p:cNvPr>
          <p:cNvSpPr/>
          <p:nvPr/>
        </p:nvSpPr>
        <p:spPr>
          <a:xfrm>
            <a:off x="9178806"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Data Architecture</a:t>
            </a:r>
          </a:p>
        </p:txBody>
      </p:sp>
      <p:sp>
        <p:nvSpPr>
          <p:cNvPr id="19" name="Rectangle 187">
            <a:extLst>
              <a:ext uri="{FF2B5EF4-FFF2-40B4-BE49-F238E27FC236}">
                <a16:creationId xmlns:a16="http://schemas.microsoft.com/office/drawing/2014/main" id="{3799C392-5974-75A6-CD16-9322DFE68E70}"/>
              </a:ext>
            </a:extLst>
          </p:cNvPr>
          <p:cNvSpPr/>
          <p:nvPr/>
        </p:nvSpPr>
        <p:spPr>
          <a:xfrm>
            <a:off x="528628" y="1619579"/>
            <a:ext cx="1864557"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WebSphere Application Server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Light" pitchFamily="34"/>
              </a:rPr>
              <a:t>JSphere</a:t>
            </a:r>
            <a:r>
              <a:rPr lang="en-US" sz="800" strike="sngStrike" dirty="0">
                <a:solidFill>
                  <a:srgbClr val="000000"/>
                </a:solidFill>
                <a:latin typeface="IBM Plex Sans Light" pitchFamily="34"/>
              </a:rPr>
              <a:t> Suite for Java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Cloud Pak for Applications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Code Assistant for Java</a:t>
            </a:r>
          </a:p>
        </p:txBody>
      </p:sp>
      <p:sp>
        <p:nvSpPr>
          <p:cNvPr id="20" name="Rectangle 189">
            <a:extLst>
              <a:ext uri="{FF2B5EF4-FFF2-40B4-BE49-F238E27FC236}">
                <a16:creationId xmlns:a16="http://schemas.microsoft.com/office/drawing/2014/main" id="{5BC02A40-B7AA-9F3B-E5D2-063CFA8AF713}"/>
              </a:ext>
            </a:extLst>
          </p:cNvPr>
          <p:cNvSpPr/>
          <p:nvPr/>
        </p:nvSpPr>
        <p:spPr>
          <a:xfrm>
            <a:off x="6453578" y="1619579"/>
            <a:ext cx="204599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Robotic Process Automation (RPA)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BPMS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Business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Business Automation Workflow</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Automation Decision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Process Planning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Operational Decision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(CM8)</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On Demand</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Filenet</a:t>
            </a:r>
            <a:r>
              <a:rPr lang="en-US" sz="800" dirty="0">
                <a:solidFill>
                  <a:srgbClr val="000000"/>
                </a:solidFill>
                <a:latin typeface="IBM Plex Sans Light" pitchFamily="34"/>
              </a:rPr>
              <a:t> Content Manager </a:t>
            </a:r>
            <a:r>
              <a:rPr lang="en-US" sz="800">
                <a:solidFill>
                  <a:srgbClr val="000000"/>
                </a:solidFill>
                <a:latin typeface="IBM Plex Sans Light" pitchFamily="34"/>
              </a:rPr>
              <a:t>/ Content Cortex</a:t>
            </a:r>
            <a:endParaRPr lang="en-US" sz="800" dirty="0">
              <a:solidFill>
                <a:srgbClr val="000000"/>
              </a:solidFill>
              <a:latin typeface="IBM Plex Sans Light" pitchFamily="34"/>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Capture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Decision Optimization</a:t>
            </a:r>
          </a:p>
        </p:txBody>
      </p:sp>
      <p:sp>
        <p:nvSpPr>
          <p:cNvPr id="21" name="Rectangle 191">
            <a:extLst>
              <a:ext uri="{FF2B5EF4-FFF2-40B4-BE49-F238E27FC236}">
                <a16:creationId xmlns:a16="http://schemas.microsoft.com/office/drawing/2014/main" id="{56B02A7B-FACD-56CB-83CC-1FFA9D2608D6}"/>
              </a:ext>
            </a:extLst>
          </p:cNvPr>
          <p:cNvSpPr/>
          <p:nvPr/>
        </p:nvSpPr>
        <p:spPr>
          <a:xfrm>
            <a:off x="9453719" y="1619579"/>
            <a:ext cx="1137123" cy="1679780"/>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DataStage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Data Replication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Cloud Pak for Data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Db2</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Informix</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Netezza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err="1">
                <a:latin typeface="IBM Plex Sans" panose="020B0503050203000203" pitchFamily="34" charset="0"/>
              </a:rPr>
              <a:t>watson</a:t>
            </a:r>
            <a:r>
              <a:rPr lang="en-US" sz="800" strike="sngStrike" dirty="0" err="1">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 BI Assistant</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2" name="Rectangle 192">
            <a:extLst>
              <a:ext uri="{FF2B5EF4-FFF2-40B4-BE49-F238E27FC236}">
                <a16:creationId xmlns:a16="http://schemas.microsoft.com/office/drawing/2014/main" id="{B56F756E-2C40-5311-32B6-5CC72153138E}"/>
              </a:ext>
            </a:extLst>
          </p:cNvPr>
          <p:cNvSpPr/>
          <p:nvPr/>
        </p:nvSpPr>
        <p:spPr>
          <a:xfrm>
            <a:off x="3478946" y="1619579"/>
            <a:ext cx="2321024"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DataPower Software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MQ</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Hybrid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API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Event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App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Aspera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Financial Transactions Payments &amp; Insights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Managed File Transfer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Transformation Extender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Data Exchange SaaS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Partner Engagement Manager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B2B Integration</a:t>
            </a:r>
          </a:p>
        </p:txBody>
      </p:sp>
      <p:sp>
        <p:nvSpPr>
          <p:cNvPr id="23" name="TextBox 22">
            <a:extLst>
              <a:ext uri="{FF2B5EF4-FFF2-40B4-BE49-F238E27FC236}">
                <a16:creationId xmlns:a16="http://schemas.microsoft.com/office/drawing/2014/main" id="{BED46EB8-A680-54BF-11DC-9333A30639DF}"/>
              </a:ext>
            </a:extLst>
          </p:cNvPr>
          <p:cNvSpPr txBox="1"/>
          <p:nvPr/>
        </p:nvSpPr>
        <p:spPr>
          <a:xfrm>
            <a:off x="10590842" y="1799931"/>
            <a:ext cx="1358747" cy="144655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Business Analytics Enterprise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Modeler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Cognos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Planning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panose="020B0503050203000203" pitchFamily="34" charset="0"/>
              </a:rPr>
              <a:t>Optim</a:t>
            </a:r>
            <a:endParaRPr lang="en-US" sz="800" strike="sngStrike" dirty="0">
              <a:solidFill>
                <a:srgbClr val="000000"/>
              </a:solidFill>
              <a:latin typeface="IBM Plex Sans" panose="020B0503050203000203" pitchFamily="34" charset="0"/>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Master Data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Statistics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intelligence</a:t>
            </a:r>
          </a:p>
        </p:txBody>
      </p:sp>
      <p:sp>
        <p:nvSpPr>
          <p:cNvPr id="24" name="Rectangle 187">
            <a:extLst>
              <a:ext uri="{FF2B5EF4-FFF2-40B4-BE49-F238E27FC236}">
                <a16:creationId xmlns:a16="http://schemas.microsoft.com/office/drawing/2014/main" id="{C7A642F4-237F-8819-2253-5A404697CCB4}"/>
              </a:ext>
            </a:extLst>
          </p:cNvPr>
          <p:cNvSpPr/>
          <p:nvPr/>
        </p:nvSpPr>
        <p:spPr>
          <a:xfrm>
            <a:off x="528628" y="3699863"/>
            <a:ext cx="1129219"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p:txBody>
      </p:sp>
      <p:sp>
        <p:nvSpPr>
          <p:cNvPr id="25" name="Rectangle 189">
            <a:extLst>
              <a:ext uri="{FF2B5EF4-FFF2-40B4-BE49-F238E27FC236}">
                <a16:creationId xmlns:a16="http://schemas.microsoft.com/office/drawing/2014/main" id="{2F3F618E-017E-DCC3-719D-0C943D075FE5}"/>
              </a:ext>
            </a:extLst>
          </p:cNvPr>
          <p:cNvSpPr/>
          <p:nvPr/>
        </p:nvSpPr>
        <p:spPr>
          <a:xfrm>
            <a:off x="6453578" y="3699863"/>
            <a:ext cx="110883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Credit Union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Allstate Insurance Company</a:t>
            </a:r>
          </a:p>
          <a:p>
            <a:pPr marL="171416" indent="-171416" defTabSz="457109">
              <a:buSzPct val="100000"/>
              <a:buFont typeface="Arial" pitchFamily="34"/>
              <a:buChar char="•"/>
              <a:defRPr sz="1800" b="0" i="0" u="none" strike="noStrike" kern="0" cap="none" spc="0" baseline="0">
                <a:solidFill>
                  <a:srgbClr val="000000"/>
                </a:solidFill>
                <a:uFillTx/>
              </a:defRPr>
            </a:pPr>
            <a:endParaRPr lang="en-US" sz="800" dirty="0">
              <a:solidFill>
                <a:srgbClr val="000000"/>
              </a:solidFill>
              <a:latin typeface="IBM Plex Sans Light" pitchFamily="34"/>
            </a:endParaRPr>
          </a:p>
        </p:txBody>
      </p:sp>
      <p:sp>
        <p:nvSpPr>
          <p:cNvPr id="26" name="Rectangle 191">
            <a:extLst>
              <a:ext uri="{FF2B5EF4-FFF2-40B4-BE49-F238E27FC236}">
                <a16:creationId xmlns:a16="http://schemas.microsoft.com/office/drawing/2014/main" id="{9E00A891-4D53-DBA9-A19C-61BB6C1BDA20}"/>
              </a:ext>
            </a:extLst>
          </p:cNvPr>
          <p:cNvSpPr/>
          <p:nvPr/>
        </p:nvSpPr>
        <p:spPr>
          <a:xfrm>
            <a:off x="9401392" y="3671218"/>
            <a:ext cx="1137123" cy="2018515"/>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US Bancorp</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7" name="Rectangle 192">
            <a:extLst>
              <a:ext uri="{FF2B5EF4-FFF2-40B4-BE49-F238E27FC236}">
                <a16:creationId xmlns:a16="http://schemas.microsoft.com/office/drawing/2014/main" id="{68A33C6E-53DF-E591-D48E-4BF2FC46AD91}"/>
              </a:ext>
            </a:extLst>
          </p:cNvPr>
          <p:cNvSpPr/>
          <p:nvPr/>
        </p:nvSpPr>
        <p:spPr>
          <a:xfrm>
            <a:off x="3478946" y="3699863"/>
            <a:ext cx="1198118"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t>
            </a:r>
            <a:br>
              <a:rPr lang="en-US" sz="800" dirty="0">
                <a:solidFill>
                  <a:srgbClr val="000000"/>
                </a:solidFill>
                <a:latin typeface="IBM Plex Sans Light" pitchFamily="34"/>
              </a:rPr>
            </a:br>
            <a:r>
              <a:rPr lang="en-US" sz="800" dirty="0">
                <a:solidFill>
                  <a:srgbClr val="000000"/>
                </a:solidFill>
                <a:latin typeface="IBM Plex Sans Light" pitchFamily="34"/>
              </a:rPr>
              <a:t>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p:txBody>
      </p:sp>
      <p:sp>
        <p:nvSpPr>
          <p:cNvPr id="28" name="TextBox 27">
            <a:extLst>
              <a:ext uri="{FF2B5EF4-FFF2-40B4-BE49-F238E27FC236}">
                <a16:creationId xmlns:a16="http://schemas.microsoft.com/office/drawing/2014/main" id="{60065A5A-0058-A172-666F-AC44D6E35940}"/>
              </a:ext>
            </a:extLst>
          </p:cNvPr>
          <p:cNvSpPr txBox="1"/>
          <p:nvPr/>
        </p:nvSpPr>
        <p:spPr>
          <a:xfrm>
            <a:off x="10590843" y="3880216"/>
            <a:ext cx="1178422" cy="2062103"/>
          </a:xfrm>
          <a:prstGeom prst="rect">
            <a:avLst/>
          </a:prstGeom>
          <a:noFill/>
        </p:spPr>
        <p:txBody>
          <a:bodyPr wrap="square">
            <a:spAutoFit/>
          </a:bodyPr>
          <a:lstStyle/>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a:t>
            </a:r>
            <a:br>
              <a:rPr lang="en-US" sz="800" dirty="0">
                <a:solidFill>
                  <a:srgbClr val="000000"/>
                </a:solidFill>
                <a:latin typeface="IBM Plex Sans Light" pitchFamily="34"/>
              </a:rPr>
            </a:br>
            <a:r>
              <a:rPr lang="en-US" sz="800" dirty="0">
                <a:solidFill>
                  <a:srgbClr val="000000"/>
                </a:solidFill>
                <a:latin typeface="IBM Plex Sans Light" pitchFamily="34"/>
              </a:rPr>
              <a:t>Credit Union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New York Life Insurance Company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Principal Financial Group Inc.</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Key Equipment Finance</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Nationwide Mutual Insurance</a:t>
            </a:r>
          </a:p>
        </p:txBody>
      </p:sp>
      <p:sp>
        <p:nvSpPr>
          <p:cNvPr id="29" name="TextBox 28">
            <a:extLst>
              <a:ext uri="{FF2B5EF4-FFF2-40B4-BE49-F238E27FC236}">
                <a16:creationId xmlns:a16="http://schemas.microsoft.com/office/drawing/2014/main" id="{F52F7C0F-C8FD-B37B-E200-D1DBBD74E9A2}"/>
              </a:ext>
            </a:extLst>
          </p:cNvPr>
          <p:cNvSpPr txBox="1"/>
          <p:nvPr/>
        </p:nvSpPr>
        <p:spPr>
          <a:xfrm>
            <a:off x="4749172" y="3852787"/>
            <a:ext cx="1250452" cy="156966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Fifth Third Bancorp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Goldman Sachs Group, Inc</a:t>
            </a:r>
          </a:p>
        </p:txBody>
      </p:sp>
      <p:sp>
        <p:nvSpPr>
          <p:cNvPr id="30" name="TextBox 29">
            <a:extLst>
              <a:ext uri="{FF2B5EF4-FFF2-40B4-BE49-F238E27FC236}">
                <a16:creationId xmlns:a16="http://schemas.microsoft.com/office/drawing/2014/main" id="{63B40179-37AC-DD8D-ED02-5F740CE4A49C}"/>
              </a:ext>
            </a:extLst>
          </p:cNvPr>
          <p:cNvSpPr txBox="1"/>
          <p:nvPr/>
        </p:nvSpPr>
        <p:spPr>
          <a:xfrm>
            <a:off x="7602410" y="3852787"/>
            <a:ext cx="1253054"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Vanguard Group Inc</a:t>
            </a:r>
            <a:endParaRPr lang="en-US" sz="800" dirty="0"/>
          </a:p>
        </p:txBody>
      </p:sp>
      <p:sp>
        <p:nvSpPr>
          <p:cNvPr id="31" name="TextBox 30">
            <a:extLst>
              <a:ext uri="{FF2B5EF4-FFF2-40B4-BE49-F238E27FC236}">
                <a16:creationId xmlns:a16="http://schemas.microsoft.com/office/drawing/2014/main" id="{4E4D6B4F-09FB-9B25-CE01-EC3C4A23608F}"/>
              </a:ext>
            </a:extLst>
          </p:cNvPr>
          <p:cNvSpPr txBox="1"/>
          <p:nvPr/>
        </p:nvSpPr>
        <p:spPr>
          <a:xfrm>
            <a:off x="1734684" y="3852787"/>
            <a:ext cx="1206573"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p:txBody>
      </p:sp>
      <p:sp>
        <p:nvSpPr>
          <p:cNvPr id="6" name="TextBox 5">
            <a:extLst>
              <a:ext uri="{FF2B5EF4-FFF2-40B4-BE49-F238E27FC236}">
                <a16:creationId xmlns:a16="http://schemas.microsoft.com/office/drawing/2014/main" id="{255BF822-A53A-D38D-C592-5F7BD5C09584}"/>
              </a:ext>
            </a:extLst>
          </p:cNvPr>
          <p:cNvSpPr txBox="1"/>
          <p:nvPr/>
        </p:nvSpPr>
        <p:spPr>
          <a:xfrm>
            <a:off x="6319000" y="5844585"/>
            <a:ext cx="2609660" cy="17697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nchor="ctr">
            <a:spAutoFit/>
          </a:bodyPr>
          <a:lstStyle/>
          <a:p>
            <a:pPr algn="ctr"/>
            <a:r>
              <a:rPr lang="en-US" sz="550" dirty="0">
                <a:latin typeface="Source Sans Pro" panose="020B0503030403020204" pitchFamily="34" charset="0"/>
                <a:hlinkClick r:id="rId3">
                  <a:extLst>
                    <a:ext uri="{A12FA001-AC4F-418D-AE19-62706E023703}">
                      <ahyp:hlinkClr xmlns:ahyp="http://schemas.microsoft.com/office/drawing/2018/hyperlinkcolor" val="tx"/>
                    </a:ext>
                  </a:extLst>
                </a:hlinkClick>
              </a:rPr>
              <a:t>https://ibm.seismic.com/Link/Content/DCC7FMWGhTpR8G2Fh77BQhmBq3H3</a:t>
            </a:r>
            <a:endParaRPr lang="en-US" sz="550" dirty="0">
              <a:latin typeface="Source Sans Pro" panose="020B0503030403020204" pitchFamily="34" charset="0"/>
            </a:endParaRPr>
          </a:p>
        </p:txBody>
      </p:sp>
    </p:spTree>
    <p:extLst>
      <p:ext uri="{BB962C8B-B14F-4D97-AF65-F5344CB8AC3E}">
        <p14:creationId xmlns:p14="http://schemas.microsoft.com/office/powerpoint/2010/main" val="695127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4B01D4-37F1-5E93-247E-B36C3AB49749}"/>
              </a:ext>
            </a:extLst>
          </p:cNvPr>
          <p:cNvSpPr/>
          <p:nvPr/>
        </p:nvSpPr>
        <p:spPr bwMode="auto">
          <a:xfrm>
            <a:off x="3047604" y="1494948"/>
            <a:ext cx="9143602" cy="890579"/>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0F62FE"/>
                </a:solidFill>
                <a:latin typeface="IBM Plex Sans Light"/>
              </a:rPr>
              <a:t>Stable and supported client systems with risk reduction embedded in autonomous systems</a:t>
            </a:r>
          </a:p>
        </p:txBody>
      </p:sp>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 With Trust </a:t>
            </a:r>
            <a:r>
              <a:rPr lang="en-US" sz="3598" dirty="0">
                <a:solidFill>
                  <a:schemeClr val="tx1"/>
                </a:solidFill>
                <a:latin typeface="IBM Plex Sans Light" panose="020B0403050203000203" pitchFamily="34" charset="0"/>
                <a:ea typeface="+mn-ea"/>
                <a:cs typeface="+mn-cs"/>
              </a:rPr>
              <a:t>Blueprint</a:t>
            </a:r>
            <a:r>
              <a:rPr lang="en-US" sz="3598" b="1" dirty="0">
                <a:solidFill>
                  <a:srgbClr val="0043CE"/>
                </a:solidFill>
                <a:latin typeface="IBM Plex Sans Light" panose="020B0403050203000203" pitchFamily="34" charset="0"/>
                <a:ea typeface="+mn-ea"/>
                <a:cs typeface="+mn-cs"/>
              </a:rPr>
              <a:t> </a:t>
            </a:r>
            <a:br>
              <a:rPr lang="en-US" sz="3599" i="1" dirty="0"/>
            </a:br>
            <a:endParaRPr lang="en-US" sz="35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6A94D83F-FC76-B96E-6B5D-786059C44325}"/>
              </a:ext>
            </a:extLst>
          </p:cNvPr>
          <p:cNvSpPr/>
          <p:nvPr/>
        </p:nvSpPr>
        <p:spPr bwMode="auto">
          <a:xfrm>
            <a:off x="225108" y="6057940"/>
            <a:ext cx="11741786" cy="703293"/>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ctr" anchorCtr="0" compatLnSpc="1">
            <a:prstTxWarp prst="textNoShape">
              <a:avLst/>
            </a:prstTxWarp>
          </a:bodyPr>
          <a:lstStyle/>
          <a:p>
            <a:pPr algn="ctr" defTabSz="914217" fontAlgn="base">
              <a:spcBef>
                <a:spcPct val="0"/>
              </a:spcBef>
              <a:spcAft>
                <a:spcPct val="0"/>
              </a:spcAft>
            </a:pPr>
            <a:r>
              <a:rPr lang="en-US" sz="2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8C988AE-DF21-E49B-92F2-E642440147B0}"/>
              </a:ext>
            </a:extLst>
          </p:cNvPr>
          <p:cNvSpPr/>
          <p:nvPr/>
        </p:nvSpPr>
        <p:spPr bwMode="auto">
          <a:xfrm>
            <a:off x="5550948" y="5444955"/>
            <a:ext cx="1090104" cy="703293"/>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7" fontAlgn="base">
              <a:spcBef>
                <a:spcPct val="0"/>
              </a:spcBef>
              <a:spcAft>
                <a:spcPct val="0"/>
              </a:spcAft>
            </a:pPr>
            <a:endParaRPr lang="en-US" sz="1400" dirty="0">
              <a:solidFill>
                <a:srgbClr val="FFFFFF"/>
              </a:solidFill>
              <a:latin typeface="IBM Plex Sans Light"/>
            </a:endParaRPr>
          </a:p>
        </p:txBody>
      </p:sp>
      <p:sp>
        <p:nvSpPr>
          <p:cNvPr id="4" name="Rectangle 3">
            <a:extLst>
              <a:ext uri="{FF2B5EF4-FFF2-40B4-BE49-F238E27FC236}">
                <a16:creationId xmlns:a16="http://schemas.microsoft.com/office/drawing/2014/main" id="{227107E5-F1D3-ABCB-2677-CF45E8E7CD06}"/>
              </a:ext>
            </a:extLst>
          </p:cNvPr>
          <p:cNvSpPr/>
          <p:nvPr/>
        </p:nvSpPr>
        <p:spPr bwMode="auto">
          <a:xfrm>
            <a:off x="288755" y="1494948"/>
            <a:ext cx="2473136" cy="890579"/>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FFFFFF"/>
                </a:solidFill>
                <a:latin typeface="IBM Plex Sans Light"/>
              </a:rPr>
              <a:t>Desired outcome:</a:t>
            </a:r>
          </a:p>
        </p:txBody>
      </p:sp>
      <p:sp>
        <p:nvSpPr>
          <p:cNvPr id="6" name="Pentagon 5">
            <a:extLst>
              <a:ext uri="{FF2B5EF4-FFF2-40B4-BE49-F238E27FC236}">
                <a16:creationId xmlns:a16="http://schemas.microsoft.com/office/drawing/2014/main" id="{ADD4639B-6025-D075-B55E-AD140028F0A3}"/>
              </a:ext>
            </a:extLst>
          </p:cNvPr>
          <p:cNvSpPr/>
          <p:nvPr/>
        </p:nvSpPr>
        <p:spPr bwMode="auto">
          <a:xfrm>
            <a:off x="279569" y="2636638"/>
            <a:ext cx="3457058" cy="675773"/>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Current client landscape</a:t>
            </a:r>
          </a:p>
        </p:txBody>
      </p:sp>
      <p:sp>
        <p:nvSpPr>
          <p:cNvPr id="8" name="Chevron 7">
            <a:extLst>
              <a:ext uri="{FF2B5EF4-FFF2-40B4-BE49-F238E27FC236}">
                <a16:creationId xmlns:a16="http://schemas.microsoft.com/office/drawing/2014/main" id="{54372018-7829-2097-0D49-A8F67AFE59CF}"/>
              </a:ext>
            </a:extLst>
          </p:cNvPr>
          <p:cNvSpPr/>
          <p:nvPr/>
        </p:nvSpPr>
        <p:spPr bwMode="auto">
          <a:xfrm>
            <a:off x="4390043" y="2636638"/>
            <a:ext cx="3457058"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Modernization approach</a:t>
            </a:r>
          </a:p>
        </p:txBody>
      </p:sp>
      <p:sp>
        <p:nvSpPr>
          <p:cNvPr id="10" name="Chevron 9">
            <a:extLst>
              <a:ext uri="{FF2B5EF4-FFF2-40B4-BE49-F238E27FC236}">
                <a16:creationId xmlns:a16="http://schemas.microsoft.com/office/drawing/2014/main" id="{1B6013A8-F893-93B7-E667-4FA5DA37C716}"/>
              </a:ext>
            </a:extLst>
          </p:cNvPr>
          <p:cNvSpPr/>
          <p:nvPr/>
        </p:nvSpPr>
        <p:spPr bwMode="auto">
          <a:xfrm>
            <a:off x="8500517" y="2636638"/>
            <a:ext cx="3466377"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Product capability unlock</a:t>
            </a:r>
          </a:p>
        </p:txBody>
      </p:sp>
      <p:sp>
        <p:nvSpPr>
          <p:cNvPr id="12" name="TextBox 11">
            <a:extLst>
              <a:ext uri="{FF2B5EF4-FFF2-40B4-BE49-F238E27FC236}">
                <a16:creationId xmlns:a16="http://schemas.microsoft.com/office/drawing/2014/main" id="{2EA91FBF-718E-AE03-4818-4BF583B89BEC}"/>
              </a:ext>
            </a:extLst>
          </p:cNvPr>
          <p:cNvSpPr txBox="1"/>
          <p:nvPr/>
        </p:nvSpPr>
        <p:spPr>
          <a:xfrm>
            <a:off x="8519022"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Post upgrade – stability</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Introduce enhanced capabilities &amp; new patterns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“Autonomous operations” </a:t>
            </a:r>
          </a:p>
        </p:txBody>
      </p:sp>
      <p:sp>
        <p:nvSpPr>
          <p:cNvPr id="15" name="TextBox 14">
            <a:extLst>
              <a:ext uri="{FF2B5EF4-FFF2-40B4-BE49-F238E27FC236}">
                <a16:creationId xmlns:a16="http://schemas.microsoft.com/office/drawing/2014/main" id="{C1B465A8-0C61-E140-31DC-0C4A0F4A50AC}"/>
              </a:ext>
            </a:extLst>
          </p:cNvPr>
          <p:cNvSpPr txBox="1"/>
          <p:nvPr/>
        </p:nvSpPr>
        <p:spPr>
          <a:xfrm>
            <a:off x="4399295"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Pick one slice (domain) that matters – one environment </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Align on what ”clean” means (supported versions, compatibility, controls agreed, rollback defined)</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Execute one upgrade end-to-end </a:t>
            </a:r>
          </a:p>
        </p:txBody>
      </p:sp>
      <p:sp>
        <p:nvSpPr>
          <p:cNvPr id="16" name="TextBox 15">
            <a:extLst>
              <a:ext uri="{FF2B5EF4-FFF2-40B4-BE49-F238E27FC236}">
                <a16:creationId xmlns:a16="http://schemas.microsoft.com/office/drawing/2014/main" id="{749A9A63-BAAE-F75B-147B-37FAE00853DC}"/>
              </a:ext>
            </a:extLst>
          </p:cNvPr>
          <p:cNvSpPr txBox="1"/>
          <p:nvPr/>
        </p:nvSpPr>
        <p:spPr>
          <a:xfrm>
            <a:off x="279568"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What runs their business?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Product Versions, integrations with other systems, dependencies,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Business challenges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Regulatory &amp; Audit </a:t>
            </a:r>
            <a:r>
              <a:rPr lang="en-US" sz="1600" kern="0" dirty="0" err="1">
                <a:solidFill>
                  <a:srgbClr val="000000"/>
                </a:solidFill>
                <a:latin typeface="IBM Plex Sans Light"/>
                <a:sym typeface="IBM Plex Sans Light"/>
              </a:rPr>
              <a:t>reqs</a:t>
            </a:r>
            <a:endParaRPr lang="en-US" sz="1600" kern="0" dirty="0">
              <a:solidFill>
                <a:srgbClr val="000000"/>
              </a:solidFill>
              <a:latin typeface="IBM Plex Sans Light"/>
              <a:sym typeface="IBM Plex Sans Light"/>
            </a:endParaRPr>
          </a:p>
        </p:txBody>
      </p:sp>
    </p:spTree>
    <p:extLst>
      <p:ext uri="{BB962C8B-B14F-4D97-AF65-F5344CB8AC3E}">
        <p14:creationId xmlns:p14="http://schemas.microsoft.com/office/powerpoint/2010/main" val="149820488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a:t>
            </a:r>
            <a:r>
              <a:rPr lang="en-US" sz="3598" dirty="0">
                <a:solidFill>
                  <a:srgbClr val="000000"/>
                </a:solidFill>
                <a:latin typeface="IBM Plex Sans Light" panose="020B0403050203000203" pitchFamily="34" charset="0"/>
                <a:ea typeface="+mn-ea"/>
                <a:cs typeface="+mn-cs"/>
              </a:rPr>
              <a:t> approach – zoom in  </a:t>
            </a:r>
            <a:br>
              <a:rPr lang="en-US" sz="3599" i="1" dirty="0"/>
            </a:br>
            <a:endParaRPr lang="en-US" sz="35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9961" y="483468"/>
            <a:ext cx="457140" cy="45714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333" y="1357390"/>
            <a:ext cx="689812" cy="689812"/>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333" y="3102964"/>
            <a:ext cx="689812" cy="689812"/>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1333" y="4015056"/>
            <a:ext cx="689812" cy="689812"/>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1333" y="4927149"/>
            <a:ext cx="689812" cy="689812"/>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1333" y="5839242"/>
            <a:ext cx="689812" cy="689812"/>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1212416" y="1277449"/>
            <a:ext cx="10690743" cy="3999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pPr>
            <a:endParaRPr lang="en-US" kern="0" dirty="0">
              <a:solidFill>
                <a:srgbClr val="000000"/>
              </a:solidFill>
              <a:latin typeface="IBM Plex Sans Light"/>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1058069" y="1440086"/>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Pick </a:t>
            </a:r>
            <a:r>
              <a:rPr lang="en-US" b="1" kern="0" dirty="0">
                <a:solidFill>
                  <a:srgbClr val="0F62FE"/>
                </a:solidFill>
                <a:latin typeface="IBM Plex Sans Light"/>
                <a:sym typeface="IBM Plex Sans Light"/>
              </a:rPr>
              <a:t>one slice </a:t>
            </a:r>
            <a:r>
              <a:rPr lang="en-US" b="1" kern="0" dirty="0">
                <a:solidFill>
                  <a:srgbClr val="000000"/>
                </a:solidFill>
                <a:latin typeface="IBM Plex Sans Light"/>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1058069" y="323282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Execute one upgrade </a:t>
            </a:r>
            <a:r>
              <a:rPr lang="en-US" b="1" kern="0" dirty="0">
                <a:solidFill>
                  <a:srgbClr val="0F62FE"/>
                </a:solidFill>
                <a:latin typeface="IBM Plex Sans Light"/>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1058069" y="412919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Prove it with </a:t>
            </a:r>
            <a:r>
              <a:rPr lang="en-US" b="1" kern="0" dirty="0">
                <a:solidFill>
                  <a:srgbClr val="0F62FE"/>
                </a:solidFill>
                <a:latin typeface="IBM Plex Sans Light"/>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1058069" y="502556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Create a </a:t>
            </a:r>
            <a:r>
              <a:rPr lang="en-US" b="1" kern="0" dirty="0">
                <a:solidFill>
                  <a:srgbClr val="0F62FE"/>
                </a:solidFill>
                <a:latin typeface="IBM Plex Sans Light"/>
                <a:sym typeface="IBM Plex Sans Light"/>
              </a:rPr>
              <a:t>repeatable</a:t>
            </a:r>
            <a:r>
              <a:rPr lang="en-US" b="1" kern="0" dirty="0">
                <a:solidFill>
                  <a:srgbClr val="000000"/>
                </a:solidFill>
                <a:latin typeface="IBM Plex Sans Light"/>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1058069" y="5921938"/>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Scale in </a:t>
            </a:r>
            <a:r>
              <a:rPr lang="en-US" b="1" kern="0" dirty="0">
                <a:solidFill>
                  <a:srgbClr val="0F62FE"/>
                </a:solidFill>
                <a:latin typeface="IBM Plex Sans Light"/>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5227302" y="1318797"/>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Pick one end-to-end business flow and its full dependency chain. Apps, integration, data, identity, and operations. Modernize that whole slice together so the upgrade does not break; example customer onboarding, claims intake, fraud,</a:t>
            </a: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5227302" y="221516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Align with the client sponsor on upgrade acceptance criteria: supported versions, compatibility, controls, rollback, and audit evidence</a:t>
            </a:r>
            <a:endParaRPr lang="en-US" sz="1400" kern="0" dirty="0">
              <a:solidFill>
                <a:srgbClr val="000000"/>
              </a:solidFill>
              <a:latin typeface="IBM Plex Sans Light"/>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5227302" y="311153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One IBM owner coordinates IBM product, support, and delivery with the client’s platform, application, and risk owners through one shared plan, one weekly cadence, and one escalation path</a:t>
            </a:r>
            <a:endParaRPr lang="en-US" sz="1400" kern="0" dirty="0">
              <a:solidFill>
                <a:srgbClr val="000000"/>
              </a:solidFill>
              <a:latin typeface="IBM Plex Sans Light"/>
              <a:sym typeface="IBM Plex Sans Light"/>
            </a:endParaRP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5227302" y="400790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kern="0" dirty="0">
                <a:solidFill>
                  <a:srgbClr val="000000"/>
                </a:solidFill>
                <a:latin typeface="IBM Plex Sans Light"/>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5227302" y="490427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Capture the steps, prerequisites, and ownership in a simple runbook so the next upgrade is repeatable and quicker, not a reinvention</a:t>
            </a:r>
            <a:endParaRPr lang="en-US" sz="1400" kern="0" dirty="0">
              <a:solidFill>
                <a:srgbClr val="000000"/>
              </a:solidFill>
              <a:latin typeface="IBM Plex Sans Light"/>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5227302" y="5800649"/>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Repeat the proven pattern on the next 2–3 targets, then broaden the scope once the operating model is steady</a:t>
            </a:r>
            <a:endParaRPr lang="en-US" sz="1400" kern="0" dirty="0">
              <a:solidFill>
                <a:srgbClr val="000000"/>
              </a:solidFill>
              <a:latin typeface="IBM Plex Sans Light"/>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1058069" y="233645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Align on what </a:t>
            </a:r>
            <a:r>
              <a:rPr lang="en-US" b="1" kern="0" dirty="0">
                <a:solidFill>
                  <a:srgbClr val="0F62FE"/>
                </a:solidFill>
                <a:latin typeface="IBM Plex Sans Light"/>
                <a:sym typeface="IBM Plex Sans Light"/>
              </a:rPr>
              <a:t>clean</a:t>
            </a:r>
            <a:r>
              <a:rPr lang="en-US" b="1" kern="0" dirty="0">
                <a:solidFill>
                  <a:srgbClr val="000000"/>
                </a:solidFill>
                <a:latin typeface="IBM Plex Sans Light"/>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1333" y="2269483"/>
            <a:ext cx="611200" cy="611200"/>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149806"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F62FE"/>
              </a:solidFill>
              <a:latin typeface="IBM Plex Sans Light"/>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1587" y="5698770"/>
            <a:ext cx="12190413" cy="925064"/>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98" fontAlgn="base">
              <a:spcBef>
                <a:spcPct val="0"/>
              </a:spcBef>
              <a:spcAft>
                <a:spcPct val="0"/>
              </a:spcAft>
              <a:defRPr/>
            </a:pPr>
            <a:r>
              <a:rPr lang="en-US" sz="2400" b="1" kern="0" dirty="0">
                <a:solidFill>
                  <a:srgbClr val="FFFFFF"/>
                </a:solidFill>
                <a:latin typeface="IBM Plex Sans Light"/>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3793866" y="5933114"/>
            <a:ext cx="7854751"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162539" y="1696945"/>
            <a:ext cx="3631327" cy="264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1381581" y="1869643"/>
            <a:ext cx="457140" cy="457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162539" y="1605517"/>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now?</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4140578"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Business logic stays buried, change cycles get slower</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Decision logic drifts across applications </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Audit prep becomes heavier</a:t>
            </a:r>
            <a:endParaRPr lang="en-US" sz="1600" b="1" kern="0" dirty="0">
              <a:solidFill>
                <a:srgbClr val="0F62FE"/>
              </a:solidFill>
              <a:latin typeface="IBM Plex Sans Light"/>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8131351"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kern="0" dirty="0">
              <a:solidFill>
                <a:srgbClr val="0F62FE"/>
              </a:solidFill>
              <a:latin typeface="IBM Plex Sans Light"/>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414694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What breaks when you wait</a:t>
            </a:r>
          </a:p>
          <a:p>
            <a:pPr algn="ctr" defTabSz="1218956">
              <a:spcBef>
                <a:spcPts val="1450"/>
              </a:spcBef>
              <a:buSzPct val="100000"/>
              <a:defRPr/>
            </a:pPr>
            <a:endParaRPr lang="en-US" kern="0" dirty="0">
              <a:solidFill>
                <a:srgbClr val="0043CE"/>
              </a:solidFill>
              <a:latin typeface="IBM Plex Sans Light"/>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814408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an upgrade pays back</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0924" y="1605517"/>
            <a:ext cx="264126" cy="264126"/>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67023" y="1605518"/>
            <a:ext cx="297770" cy="297770"/>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213843" y="6161301"/>
            <a:ext cx="5848012"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✓Scope one business flow and its full dependency chain</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6417571" y="6138241"/>
            <a:ext cx="5631503"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✓Agree on “clean” acceptance criteria up front</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201" y="1605517"/>
            <a:ext cx="267295" cy="267295"/>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213843" y="6684556"/>
            <a:ext cx="11760062" cy="1444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1218956">
              <a:lnSpc>
                <a:spcPts val="1080"/>
              </a:lnSpc>
              <a:spcBef>
                <a:spcPts val="1450"/>
              </a:spcBef>
              <a:buSzPct val="100000"/>
              <a:defRPr/>
            </a:pPr>
            <a:r>
              <a:rPr lang="en-US" sz="1300" b="1" i="1" kern="0" dirty="0">
                <a:solidFill>
                  <a:srgbClr val="000000"/>
                </a:solidFill>
                <a:latin typeface="IBM Plex Sans Light"/>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495201" y="2041867"/>
            <a:ext cx="3298665" cy="605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End-to-end orchestration matters more now due to the ‘agentic’ disruption</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Governance &amp; traceability expectations </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288755" y="378195"/>
            <a:ext cx="11760320" cy="976081"/>
          </a:xfrm>
        </p:spPr>
        <p:txBody>
          <a:bodyPr/>
          <a:lstStyle/>
          <a:p>
            <a:r>
              <a:rPr lang="en-US" sz="2400" b="1" dirty="0">
                <a:solidFill>
                  <a:schemeClr val="accent1"/>
                </a:solidFill>
                <a:latin typeface="IBM Plex Sans Light" panose="020B0403050203000203" pitchFamily="34" charset="0"/>
                <a:ea typeface="+mn-ea"/>
                <a:cs typeface="+mn-cs"/>
              </a:rPr>
              <a:t>Upgrading</a:t>
            </a:r>
            <a:r>
              <a:rPr lang="en-US" sz="2400" dirty="0">
                <a:solidFill>
                  <a:srgbClr val="000000"/>
                </a:solidFill>
                <a:latin typeface="IBM Plex Sans Light" panose="020B0403050203000203" pitchFamily="34" charset="0"/>
                <a:ea typeface="+mn-ea"/>
                <a:cs typeface="+mn-cs"/>
              </a:rPr>
              <a:t> </a:t>
            </a:r>
            <a:r>
              <a:rPr lang="en-US" sz="2400" b="1" dirty="0">
                <a:solidFill>
                  <a:schemeClr val="accent1"/>
                </a:solidFill>
                <a:latin typeface="IBM Plex Sans Light" panose="020B0403050203000203" pitchFamily="34" charset="0"/>
                <a:ea typeface="+mn-ea"/>
                <a:cs typeface="+mn-cs"/>
              </a:rPr>
              <a:t>your workflow automation (BAW) platform now</a:t>
            </a:r>
            <a:r>
              <a:rPr lang="en-US" sz="2400" dirty="0">
                <a:solidFill>
                  <a:srgbClr val="000000"/>
                </a:solidFill>
                <a:latin typeface="IBM Plex Sans Light" panose="020B0403050203000203" pitchFamily="34" charset="0"/>
                <a:ea typeface="+mn-ea"/>
                <a:cs typeface="+mn-cs"/>
              </a:rPr>
              <a:t> works in your best interest</a:t>
            </a:r>
            <a:br>
              <a:rPr lang="en-US" sz="2400" dirty="0">
                <a:solidFill>
                  <a:srgbClr val="000000"/>
                </a:solidFill>
                <a:latin typeface="IBM Plex Sans Light" panose="020B0403050203000203" pitchFamily="34" charset="0"/>
                <a:ea typeface="+mn-ea"/>
                <a:cs typeface="+mn-cs"/>
              </a:rPr>
            </a:br>
            <a:r>
              <a:rPr lang="en-US" sz="1600" dirty="0">
                <a:solidFill>
                  <a:schemeClr val="tx1"/>
                </a:solidFill>
                <a:latin typeface="IBM Plex Sans Light" panose="020B0403050203000203" pitchFamily="34" charset="0"/>
                <a:ea typeface="+mn-ea"/>
                <a:cs typeface="+mn-cs"/>
              </a:rPr>
              <a:t>Reduce operational and audit risk, then unlock faster, governable execution</a:t>
            </a:r>
            <a:br>
              <a:rPr lang="en-US" sz="2400" i="1" dirty="0"/>
            </a:br>
            <a:r>
              <a:rPr lang="en-US" sz="2400" i="1" dirty="0"/>
              <a:t>  </a:t>
            </a:r>
            <a:endParaRPr lang="en-US" sz="24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189893" y="2065564"/>
            <a:ext cx="431744" cy="399998"/>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56233" y="2019783"/>
            <a:ext cx="457140" cy="45714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4602899" y="2465562"/>
            <a:ext cx="2915762"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4680245" y="2021583"/>
            <a:ext cx="3150489"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rPr>
              <a:t>Workflow becomes a hidden  bottleneck</a:t>
            </a:r>
            <a:endParaRPr lang="en-US" kern="0" dirty="0">
              <a:solidFill>
                <a:srgbClr val="000000"/>
              </a:solidFill>
              <a:latin typeface="IBM Plex Sans Light"/>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20495" y="2019783"/>
            <a:ext cx="457140" cy="45714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8813243" y="2041866"/>
            <a:ext cx="2835374" cy="5100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8220495" y="2991400"/>
            <a:ext cx="3537584" cy="2479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Supported versions &amp; compatibility</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Position for modernization (containers, hybrid)</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3.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897</TotalTime>
  <Words>2894</Words>
  <Application>Microsoft Macintosh PowerPoint</Application>
  <PresentationFormat>Widescreen</PresentationFormat>
  <Paragraphs>415</Paragraphs>
  <Slides>13</Slides>
  <Notes>11</Notes>
  <HiddenSlides>1</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13</vt:i4>
      </vt:variant>
    </vt:vector>
  </HeadingPairs>
  <TitlesOfParts>
    <vt:vector size="28" baseType="lpstr">
      <vt:lpstr>Aptos</vt:lpstr>
      <vt:lpstr>Aptos Display</vt:lpstr>
      <vt:lpstr>Arial</vt:lpstr>
      <vt:lpstr>Calibri</vt:lpstr>
      <vt:lpstr>IBM Plex Sans</vt:lpstr>
      <vt:lpstr>IBM Plex Sans ExtLt</vt:lpstr>
      <vt:lpstr>IBM Plex Sans Light</vt:lpstr>
      <vt:lpstr>IBM Plex Sans Medm</vt:lpstr>
      <vt:lpstr>Source Sans Pro</vt:lpstr>
      <vt:lpstr>Wells Fargo Sans SemiBold</vt:lpstr>
      <vt:lpstr>2_Office Theme</vt:lpstr>
      <vt:lpstr>IBM presentation template</vt:lpstr>
      <vt:lpstr>6_IBM presentation template</vt:lpstr>
      <vt:lpstr>1_Office Theme</vt:lpstr>
      <vt:lpstr>Office Theme</vt:lpstr>
      <vt:lpstr>IBM Financial Services Market  Core to Modernization Pilot Program FSM – Product Connect, June 19  Meeting attendees:  Core Software Product Management: Priya Srinivasan, Carrie Rogers, Stacy Nawrocki,  Will Streit, Martin Oberhofer, Melissa Modjeski  FSM Technical Sales: Krishnan NR, Rolando Franco, Monika Aggarwal          May 11,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Core to Modernize exists?</vt:lpstr>
      <vt:lpstr>Product Pillars - Priya Four Product Pillars have been prioritized for Core to Modernization Plays</vt:lpstr>
      <vt:lpstr>Modernization With Trust Blueprint  </vt:lpstr>
      <vt:lpstr>Modernization approach – zoom in   </vt:lpstr>
      <vt:lpstr>Upgrading your workflow automation (BAW) platform now works in your best interest Reduce operational and audit risk, then unlock faster, governable execution   </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FSM Core Software Product Connect | Executive Update</dc:title>
  <dc:subject>FSM Core Software Product Connect Executive Update</dc:subject>
  <dc:creator>OpenAI</dc:creator>
  <cp:lastModifiedBy>Monika Aggarwal</cp:lastModifiedBy>
  <cp:revision>79</cp:revision>
  <cp:lastPrinted>2026-05-01T17:01:22Z</cp:lastPrinted>
  <dcterms:created xsi:type="dcterms:W3CDTF">2026-04-23T16:35:33Z</dcterms:created>
  <dcterms:modified xsi:type="dcterms:W3CDTF">2026-06-18T23:58:45Z</dcterms:modified>
</cp:coreProperties>
</file>