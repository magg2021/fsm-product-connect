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52" r:id="rId3"/>
  </p:sldMasterIdLst>
  <p:notesMasterIdLst>
    <p:notesMasterId r:id="rId9"/>
  </p:notesMasterIdLst>
  <p:sldIdLst>
    <p:sldId id="256" r:id="rId4"/>
    <p:sldId id="259" r:id="rId5"/>
    <p:sldId id="260" r:id="rId6"/>
    <p:sldId id="257" r:id="rId7"/>
    <p:sldId id="258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92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8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137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[Speaker Notes]
Use this slide to propose two session options for the client.
Core message:
- We are not proposing a disruptive rip-and-replace program.
- We are proposing a phased modernization discussion centered on WebSphere, Java, Liberty, and runtime flexibility.
- The 1-hour virtual session is the low-friction entry point.
- The 4-hour in-person workshop is the deeper working session once the client shows interest.
Talk track:
1. Start with why this matters now: aging WebSphere estates, Java modernization pressure, operational complexity, and the need to reduce risk.
2. Explain that IBM Enterprise Application Runtimes provides a path to modernize without forcing an immediate rewrite.
3. Position the lunch and learn as an awareness and alignment session for engineering and platform teams.
4. Position the workshop as a hands-on assessment to review current state, discuss target state, and identify a pilot candidate.
5. End by recommending the 1-hour session first, followed by the workshop if the client wants to go deeper.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003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6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1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184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499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78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00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505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311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619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02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71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1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66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ibm.box.com/s/cfz3okzj65ewgxr8kp4tgokyji2ht5jk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FSM Core Software Product Connect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update | April 2026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4F4F4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179576"/>
            <a:ext cx="10497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</a:t>
            </a: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reactive product escalations into a proactive modernization motion across FSM with clearer roadmap alignment, named product coverage, and reusable field assets.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810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>
                <a:solidFill>
                  <a:srgbClr val="198038"/>
                </a:solidFill>
              </a:rPr>
              <a:t>2/12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0704" y="1847088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Editions sessions completed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83280" y="18105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8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730752" y="18470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session scheduled (Cognos)</a:t>
            </a:r>
          </a:p>
        </p:txBody>
      </p:sp>
      <p:sp>
        <p:nvSpPr>
          <p:cNvPr id="10" name="Text 8"/>
          <p:cNvSpPr/>
          <p:nvPr/>
        </p:nvSpPr>
        <p:spPr>
          <a:xfrm>
            <a:off x="6217920" y="18105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65392" y="18470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biweekly cadence live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052560" y="18105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3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400032" y="18470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/>
              <a:t>executive checkpoint set (May 11)</a:t>
            </a:r>
          </a:p>
        </p:txBody>
      </p:sp>
      <p:sp>
        <p:nvSpPr>
          <p:cNvPr id="14" name="Shape 12"/>
          <p:cNvSpPr/>
          <p:nvPr/>
        </p:nvSpPr>
        <p:spPr>
          <a:xfrm>
            <a:off x="502920" y="2240280"/>
            <a:ext cx="1115568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8952" y="2450592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to date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8952" y="2798064"/>
            <a:ext cx="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3544" y="278892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Editions enablement completed for DB2 and MQ. Cognos session is scheduled next.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58952" y="3474720"/>
            <a:ext cx="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3544" y="3465576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 ownership mapped. Who is Who shared. Product versions validated.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58952" y="4151376"/>
            <a:ext cx="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3544" y="414223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Biweekly Product Connect cadence is live with Carrie, Stacy, Carson, and Monika.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58952" y="4828032"/>
            <a:ext cx="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3544" y="4818888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checkpoint with Priya and Krishnan is scheduled for May 11.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398264" y="2450592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3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flight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398264" y="2798064"/>
            <a:ext cx="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3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62856" y="278892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Editions packaging and dependency guidance to remove licensing ambiguity.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98264" y="3474720"/>
            <a:ext cx="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3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62856" y="3465576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models and PM owner alignment for priority products.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398264" y="4151376"/>
            <a:ext cx="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3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62856" y="414223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 assets across DB2, Cognos, Planning Analytics, MQ, Sterling, FileNet, BAMOE, ODM, and BAW.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398264" y="4828032"/>
            <a:ext cx="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3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62856" y="4818888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engagement model shaped around field asks: roadmap, blockers, architecture, packaging, and assets.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046720" y="2450592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30 days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046720" y="2798064"/>
            <a:ext cx="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9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11312" y="278892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Decision Review Board with 2 to 3 priority accounts.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046720" y="3474720"/>
            <a:ext cx="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9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11312" y="3465576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named PM primary and delegate coverage by product.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046720" y="4151376"/>
            <a:ext cx="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9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11312" y="414223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one field entry point for roadmap and AI Editions assets.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046720" y="4828032"/>
            <a:ext cx="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9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11312" y="4818888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one product blueprint and one success story in the executive checkpoint.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31520" y="620877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44" name="Picture 43" descr="icon_barchart_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468880"/>
            <a:ext cx="128016" cy="128016"/>
          </a:xfrm>
          <a:prstGeom prst="rect">
            <a:avLst/>
          </a:prstGeom>
        </p:spPr>
      </p:pic>
      <p:pic>
        <p:nvPicPr>
          <p:cNvPr id="45" name="Picture 44" descr="icon_bullsey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468880"/>
            <a:ext cx="128016" cy="128016"/>
          </a:xfrm>
          <a:prstGeom prst="rect">
            <a:avLst/>
          </a:prstGeom>
        </p:spPr>
      </p:pic>
      <p:pic>
        <p:nvPicPr>
          <p:cNvPr id="46" name="Picture 45" descr="icon_rocket_fix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416" y="2468880"/>
            <a:ext cx="128016" cy="128016"/>
          </a:xfrm>
          <a:prstGeom prst="rect">
            <a:avLst/>
          </a:prstGeom>
        </p:spPr>
      </p:pic>
      <p:pic>
        <p:nvPicPr>
          <p:cNvPr id="47" name="Picture 46" descr="icon_bullsey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1197864"/>
            <a:ext cx="146304" cy="146304"/>
          </a:xfrm>
          <a:prstGeom prst="rect">
            <a:avLst/>
          </a:prstGeom>
        </p:spPr>
      </p:pic>
      <p:sp>
        <p:nvSpPr>
          <p:cNvPr id="48" name="Shape 18">
            <a:extLst>
              <a:ext uri="{FF2B5EF4-FFF2-40B4-BE49-F238E27FC236}">
                <a16:creationId xmlns:a16="http://schemas.microsoft.com/office/drawing/2014/main" id="{B6ABF14B-73B4-B67A-ACEE-35FBF9EC3331}"/>
              </a:ext>
            </a:extLst>
          </p:cNvPr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Why this matters: 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faster product decisions, fewer stalled upgrades, and a cleaner Core to Mod execution path across vitality, containerization, managed or SaaS, and expansion.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686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FSM Product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Executive update |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April 2026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6F6F6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1064240" cy="566928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2700">
            <a:solidFill>
              <a:srgbClr val="DD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6384" y="1874519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Boulder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7451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874519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Current focus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85415"/>
            <a:ext cx="11064240" cy="18288"/>
          </a:xfrm>
          <a:prstGeom prst="rect">
            <a:avLst/>
          </a:prstGeom>
          <a:solidFill>
            <a:srgbClr val="DD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11064240" cy="6858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239572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 Connect governance framework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432304"/>
            <a:ext cx="960120" cy="292608"/>
          </a:xfrm>
          <a:prstGeom prst="roundRect">
            <a:avLst/>
          </a:prstGeom>
          <a:solidFill>
            <a:srgbClr val="0F62FE"/>
          </a:solidFill>
          <a:ln w="9525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377440"/>
            <a:ext cx="48920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Monthly interlock call scheduled. Responding to field requests: Project Mystic POVs, 2 blocked modernization motions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; Product ownership established; Product versions confirmed for Vitality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11064240" cy="9144"/>
          </a:xfrm>
          <a:prstGeom prst="rect">
            <a:avLst/>
          </a:prstGeom>
          <a:solidFill>
            <a:srgbClr val="DD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8" y="31546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 enablement sessions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3191256"/>
            <a:ext cx="960120" cy="292608"/>
          </a:xfrm>
          <a:prstGeom prst="roundRect">
            <a:avLst/>
          </a:prstGeom>
          <a:solidFill>
            <a:srgbClr val="198038"/>
          </a:solidFill>
          <a:ln w="9525">
            <a:solidFill>
              <a:srgbClr val="19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2/12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805" y="3046258"/>
            <a:ext cx="4892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100" dirty="0">
                <a:solidFill>
                  <a:srgbClr val="262626"/>
                </a:solidFill>
                <a:latin typeface="Arial"/>
              </a:rPr>
              <a:t>AI Editions enablement completed for DB2 and MQ. Cognos session scheduled. Product interviews recorded/published to Seismic:</a:t>
            </a:r>
            <a:r>
              <a:rPr lang="en-US" sz="1100" dirty="0">
                <a:solidFill>
                  <a:srgbClr val="262626"/>
                </a:solidFill>
                <a:latin typeface="Arial"/>
              </a:rPr>
              <a:t> 5/20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712464"/>
            <a:ext cx="11064240" cy="9144"/>
          </a:xfrm>
          <a:prstGeom prst="rect">
            <a:avLst/>
          </a:prstGeom>
          <a:solidFill>
            <a:srgbClr val="DD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803904"/>
            <a:ext cx="11064240" cy="6858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1248" y="391363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Business value models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3950208"/>
            <a:ext cx="960120" cy="292608"/>
          </a:xfrm>
          <a:prstGeom prst="roundRect">
            <a:avLst/>
          </a:prstGeom>
          <a:solidFill>
            <a:srgbClr val="FF832B"/>
          </a:solidFill>
          <a:ln w="9525">
            <a:solidFill>
              <a:srgbClr val="FF8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0/30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895344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 completed. 1 in draft. Align PM owners and assumptions per product motion.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71416"/>
            <a:ext cx="11064240" cy="9144"/>
          </a:xfrm>
          <a:prstGeom prst="rect">
            <a:avLst/>
          </a:prstGeom>
          <a:solidFill>
            <a:srgbClr val="DD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1248" y="4672584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Reference architectures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4709160"/>
            <a:ext cx="960120" cy="292608"/>
          </a:xfrm>
          <a:prstGeom prst="roundRect">
            <a:avLst/>
          </a:prstGeom>
          <a:solidFill>
            <a:srgbClr val="FF832B"/>
          </a:solidFill>
          <a:ln w="9525">
            <a:solidFill>
              <a:srgbClr val="FF8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100" b="1" dirty="0">
                <a:solidFill>
                  <a:srgbClr val="FFFFFF"/>
                </a:solidFill>
                <a:latin typeface="Arial"/>
              </a:rPr>
              <a:t>8/30</a:t>
            </a:r>
            <a:endParaRPr sz="11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20840" y="4654296"/>
            <a:ext cx="4892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Requests active across priority products.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Current architecture delivered from Product in different formats (ppt,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draw.io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5230368"/>
            <a:ext cx="11064240" cy="9144"/>
          </a:xfrm>
          <a:prstGeom prst="rect">
            <a:avLst/>
          </a:prstGeom>
          <a:solidFill>
            <a:srgbClr val="DD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321808"/>
            <a:ext cx="11064240" cy="6858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1248" y="5431536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Client briefings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5468112"/>
            <a:ext cx="960120" cy="292608"/>
          </a:xfrm>
          <a:prstGeom prst="roundRect">
            <a:avLst/>
          </a:prstGeom>
          <a:solidFill>
            <a:srgbClr val="198038"/>
          </a:solidFill>
          <a:ln w="9525">
            <a:solidFill>
              <a:srgbClr val="19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1/12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5413248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under development (WAS). Build repeatable narrative per priority: risk, controls, dependency chain, adoption plan.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989320"/>
            <a:ext cx="11064240" cy="9144"/>
          </a:xfrm>
          <a:prstGeom prst="rect">
            <a:avLst/>
          </a:prstGeom>
          <a:solidFill>
            <a:srgbClr val="DD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49808" y="62544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Support needed: confirm PM primary and delegate coverage by product. Approve single field entry point for roadmap and AI Editions assets. Endorse DRB cadence and intake.</a:t>
            </a:r>
          </a:p>
        </p:txBody>
      </p:sp>
      <p:pic>
        <p:nvPicPr>
          <p:cNvPr id="35" name="Picture 34" descr="icon_bulls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70432"/>
            <a:ext cx="374201" cy="256032"/>
          </a:xfrm>
          <a:prstGeom prst="rect">
            <a:avLst/>
          </a:prstGeom>
        </p:spPr>
      </p:pic>
      <p:pic>
        <p:nvPicPr>
          <p:cNvPr id="36" name="Picture 35" descr="icon_bulls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294015" cy="201168"/>
          </a:xfrm>
          <a:prstGeom prst="rect">
            <a:avLst/>
          </a:prstGeom>
        </p:spPr>
      </p:pic>
      <p:pic>
        <p:nvPicPr>
          <p:cNvPr id="37" name="Picture 36" descr="icon_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1874519"/>
            <a:ext cx="185694" cy="201168"/>
          </a:xfrm>
          <a:prstGeom prst="rect">
            <a:avLst/>
          </a:prstGeom>
        </p:spPr>
      </p:pic>
      <p:pic>
        <p:nvPicPr>
          <p:cNvPr id="38" name="Picture 37" descr="icon_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1856231"/>
            <a:ext cx="204826" cy="219456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841248" y="2116824"/>
            <a:ext cx="502920" cy="2743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864608" y="2130552"/>
            <a:ext cx="685800" cy="2743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766560" y="2130551"/>
            <a:ext cx="1143000" cy="2743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523744"/>
            <a:ext cx="356616" cy="237744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282696"/>
            <a:ext cx="221894" cy="237744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41648"/>
            <a:ext cx="219456" cy="237744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800600"/>
            <a:ext cx="347472" cy="237744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5559552"/>
            <a:ext cx="356616" cy="237744"/>
          </a:xfrm>
          <a:prstGeom prst="rect">
            <a:avLst/>
          </a:prstGeom>
        </p:spPr>
      </p:pic>
      <p:sp>
        <p:nvSpPr>
          <p:cNvPr id="47" name="Text 3">
            <a:extLst>
              <a:ext uri="{FF2B5EF4-FFF2-40B4-BE49-F238E27FC236}">
                <a16:creationId xmlns:a16="http://schemas.microsoft.com/office/drawing/2014/main" id="{6FA169B2-CFCC-6130-5921-916FCC4C729D}"/>
              </a:ext>
            </a:extLst>
          </p:cNvPr>
          <p:cNvSpPr/>
          <p:nvPr/>
        </p:nvSpPr>
        <p:spPr>
          <a:xfrm>
            <a:off x="1087784" y="1194696"/>
            <a:ext cx="10497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</a:t>
            </a: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reactive product escalations into a proactive modernization motion across FSM with clearer roadmap alignment, named product coverage, and reusable field assets.</a:t>
            </a:r>
            <a:endParaRPr lang="en-US" sz="125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8EAFC26-2DC5-9BAE-0F95-EFD3A4DBBEDF}"/>
              </a:ext>
            </a:extLst>
          </p:cNvPr>
          <p:cNvSpPr/>
          <p:nvPr/>
        </p:nvSpPr>
        <p:spPr>
          <a:xfrm>
            <a:off x="540432" y="6127848"/>
            <a:ext cx="11064240" cy="6858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81B9C0-A16D-7FA2-22FC-E4432B45BCC8}"/>
              </a:ext>
            </a:extLst>
          </p:cNvPr>
          <p:cNvSpPr txBox="1"/>
          <p:nvPr/>
        </p:nvSpPr>
        <p:spPr>
          <a:xfrm>
            <a:off x="833040" y="6237576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 Engagement Model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F2C8CE31-4E0A-85D4-EE95-A844E9C4DDB3}"/>
              </a:ext>
            </a:extLst>
          </p:cNvPr>
          <p:cNvSpPr/>
          <p:nvPr/>
        </p:nvSpPr>
        <p:spPr>
          <a:xfrm>
            <a:off x="4746672" y="6274152"/>
            <a:ext cx="960120" cy="292608"/>
          </a:xfrm>
          <a:prstGeom prst="roundRect">
            <a:avLst/>
          </a:prstGeom>
          <a:solidFill>
            <a:srgbClr val="198038"/>
          </a:solidFill>
          <a:ln w="9525">
            <a:solidFill>
              <a:srgbClr val="19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rgbClr val="FFFFFF"/>
                </a:solidFill>
                <a:latin typeface="Arial"/>
              </a:rPr>
              <a:t>Design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EE1185-2230-AEE2-7EE7-4ACFCCDF58B8}"/>
              </a:ext>
            </a:extLst>
          </p:cNvPr>
          <p:cNvSpPr txBox="1"/>
          <p:nvPr/>
        </p:nvSpPr>
        <p:spPr>
          <a:xfrm>
            <a:off x="6712632" y="6219288"/>
            <a:ext cx="4892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6"/>
              </a:rPr>
              <a:t>Product Management Connect Agentic Workflow design ready for review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34A09D6-A894-D565-233D-4D70B416A9F9}"/>
              </a:ext>
            </a:extLst>
          </p:cNvPr>
          <p:cNvSpPr/>
          <p:nvPr/>
        </p:nvSpPr>
        <p:spPr>
          <a:xfrm>
            <a:off x="540432" y="6795360"/>
            <a:ext cx="11064240" cy="9144"/>
          </a:xfrm>
          <a:prstGeom prst="rect">
            <a:avLst/>
          </a:prstGeom>
          <a:solidFill>
            <a:srgbClr val="DD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3" name="Picture 52" descr="image.png">
            <a:extLst>
              <a:ext uri="{FF2B5EF4-FFF2-40B4-BE49-F238E27FC236}">
                <a16:creationId xmlns:a16="http://schemas.microsoft.com/office/drawing/2014/main" id="{384BDD80-B523-6DE4-C2EC-9E84C83DC0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720" y="6365592"/>
            <a:ext cx="356616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19396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FSM Product Connect | In Flight and Next 30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5C637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Execution focus across the five boulders: Governance, Enablement, Business Value Models, Reference Architectures, and Client Briefings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166360" cy="530352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8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2648" y="1252728"/>
            <a:ext cx="4946904" cy="438912"/>
          </a:xfrm>
          <a:prstGeom prst="roundRect">
            <a:avLst/>
          </a:prstGeom>
          <a:solidFill>
            <a:srgbClr val="D38426"/>
          </a:solidFill>
          <a:ln>
            <a:solidFill>
              <a:srgbClr val="D38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 Flight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08192" y="1143000"/>
            <a:ext cx="5166360" cy="530352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8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1252728"/>
            <a:ext cx="4946904" cy="438912"/>
          </a:xfrm>
          <a:prstGeom prst="roundRect">
            <a:avLst/>
          </a:prstGeom>
          <a:solidFill>
            <a:srgbClr val="C55CA5"/>
          </a:solidFill>
          <a:ln>
            <a:solidFill>
              <a:srgbClr val="C5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Next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783080"/>
            <a:ext cx="46542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9396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Product Connect Governance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93392"/>
            <a:ext cx="46542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Monthly interlock call scheduled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Responding to field requests including Project Mystic PoVs and 2 blocked modernization motions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697480"/>
            <a:ext cx="46542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9396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Product Enablement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07792"/>
            <a:ext cx="46542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AI Editions enablement underway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Product roadmap tours and industry use cases in progress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Product interviews being recorded and prepared for Seismic publication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675887"/>
            <a:ext cx="46542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9396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Business Value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886199"/>
            <a:ext cx="46542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 draft in progress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PM engagement underway to define value levers by 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526280"/>
            <a:ext cx="46542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9396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Reference Architectures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736592"/>
            <a:ext cx="46542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Scope and standard format being defined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Requests issued across priority 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5321808"/>
            <a:ext cx="46542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9396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Client Briefings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532120"/>
            <a:ext cx="46542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 client briefing under development: WAS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1783080"/>
            <a:ext cx="46542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9396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Priority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1993392"/>
            <a:ext cx="46542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Publish AI Editions packaging and dependencies guidance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Publish rules of engagement for account teams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Stand up biweekly product interlock / decision cadence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852928"/>
            <a:ext cx="46542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9396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Operating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063240"/>
            <a:ext cx="46542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Finalize product coverage matrix with named primary and delegate owners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Confirm fast path for accounts when upgrades get stuck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794760"/>
            <a:ext cx="46542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9396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Reusable Assets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4005072"/>
            <a:ext cx="46542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Standardize the reference architecture template and begin with priority products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Advance first BVMs and identify the next wave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800600"/>
            <a:ext cx="46542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9396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Client Motion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5010912"/>
            <a:ext cx="46542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Finalize and launch the first client briefing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Queue the next 2 briefings and convert wins into repeatable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653796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1200" cap="none" spc="0" normalizeH="0" baseline="0" noProof="0" dirty="0">
                <a:ln>
                  <a:noFill/>
                </a:ln>
                <a:solidFill>
                  <a:srgbClr val="5C637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Purpose: keep product engagement proactive, reduce stalled upgrades, and build repeatable trust wins across regulated modernization motions.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B8A758-FF39-E240-7A06-09F2774DEAC5}"/>
              </a:ext>
            </a:extLst>
          </p:cNvPr>
          <p:cNvSpPr txBox="1"/>
          <p:nvPr/>
        </p:nvSpPr>
        <p:spPr>
          <a:xfrm>
            <a:off x="6364224" y="5614416"/>
            <a:ext cx="2344103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9396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Product Engagement Model</a:t>
            </a:r>
            <a:endParaRPr kumimoji="0" sz="1350" b="1" i="0" u="none" strike="noStrike" kern="1200" cap="none" spc="0" normalizeH="0" baseline="0" noProof="0" dirty="0">
              <a:ln>
                <a:noFill/>
              </a:ln>
              <a:solidFill>
                <a:srgbClr val="19396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WebSphere Modernization Session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</a:rPr>
              <a:t>A practical path to modernize Java applications with less disruption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491862" y="484632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20462" y="640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A"/>
                </a:solidFill>
              </a:rPr>
              <a:t>Session outcome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20462" y="83210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Align on modernization options, target state, and next steps.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A"/>
                </a:solidFill>
              </a:rPr>
              <a:t>Two session formats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847088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192938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62FE"/>
                </a:solidFill>
              </a:rPr>
              <a:t>1-hour virtual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A"/>
                </a:solidFill>
              </a:rPr>
              <a:t>Lunch and learn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2761488"/>
            <a:ext cx="4572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Welcome and session goals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Current WebSphere and Java modernization challenges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IBM’s POV for runtime modernization (Java applications)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• Liberty Overview (Containerization, Memory Savings, </a:t>
            </a:r>
          </a:p>
          <a:p>
            <a:r>
              <a:rPr lang="en-US" sz="1300" dirty="0">
                <a:solidFill>
                  <a:srgbClr val="1F2937"/>
                </a:solidFill>
              </a:rPr>
              <a:t>   Throughput, …)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Containerization and hybrid cloud readiness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Interactive discussion and next steps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523036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85"/>
                </a:solidFill>
              </a:rPr>
              <a:t>Best for: awareness, engineering alignment, and low-friction stakeholder entry point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46520" y="1847088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65392" y="1929384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9384"/>
                </a:solidFill>
              </a:rPr>
              <a:t>4-hour in person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23042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A"/>
                </a:solidFill>
              </a:rPr>
              <a:t>Working workshop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37960" y="2761488"/>
            <a:ext cx="4663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Welcome, goals, and client context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Review of current WebSphere and Java estate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IBM runtime modernization approach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</a:t>
            </a:r>
            <a:r>
              <a:rPr lang="en-US" sz="1250" strike="sngStrike" dirty="0">
                <a:solidFill>
                  <a:srgbClr val="1F2937"/>
                </a:solidFill>
              </a:rPr>
              <a:t>Modernization paths: vitality, containerization, managed services, expansion</a:t>
            </a:r>
            <a:endParaRPr lang="en-US" sz="1250" strike="sngStrike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Target-state architecture discussion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Candidate application and pilot assessment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Success criteria, roadmap, and next steps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523036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85"/>
                </a:solidFill>
              </a:rPr>
              <a:t>Best for: working session with architects, runtime owners, and pilot planning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Recommended use: lead with the 1-hour session to build interest, then move qualified stakeholders into the 4-hour workshop.</a:t>
            </a:r>
            <a:endParaRPr lang="en-US" sz="1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2F70DC5-9B7B-A6AF-2AFD-26B13D3A5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18"/>
            <a:ext cx="1315767" cy="58918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C808D86-AE32-8B2B-E83C-56C097736B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38560" y="3898"/>
            <a:ext cx="852216" cy="815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B254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FSM Product Connect | Blockers - Need Help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4048" y="6766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Executive support needed to remove friction and maintain momentum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89904" y="1161288"/>
            <a:ext cx="0" cy="4681728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84048" y="3657600"/>
            <a:ext cx="1141171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0120" y="12527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254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blockers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60120" y="1645920"/>
            <a:ext cx="44805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1787652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77824" y="17007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BVE pushback:</a:t>
            </a:r>
            <a:r>
              <a:rPr kumimoji="0" lang="en-US" sz="104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PMs view the template as too heavy, slowing progress</a:t>
            </a:r>
            <a:endParaRPr kumimoji="0" lang="en-US" sz="10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2135124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77824" y="2048256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Marketing support gap:</a:t>
            </a:r>
            <a:r>
              <a:rPr kumimoji="0" lang="en-US" sz="104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client-facing events need stronger marketing partnership</a:t>
            </a:r>
            <a:endParaRPr kumimoji="0" lang="en-US" sz="10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2583180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77824" y="2496312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Ritika portfolio support gap:</a:t>
            </a:r>
            <a:r>
              <a:rPr kumimoji="0" lang="en-US" sz="104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limited executive engagement for PA and watsonx.data</a:t>
            </a:r>
            <a:endParaRPr kumimoji="0" lang="en-US" sz="10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3058668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77824" y="297180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PM field bandwidth:</a:t>
            </a:r>
            <a:r>
              <a:rPr kumimoji="0" lang="en-US" sz="104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Product teams are stretched across field requests and priority accounts</a:t>
            </a:r>
            <a:endParaRPr kumimoji="0" lang="en-US" sz="10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3433572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77824" y="334670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Reference architecture inconsistency:</a:t>
            </a:r>
            <a:r>
              <a:rPr kumimoji="0" lang="en-US" sz="96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multiple formats; no standard current-to-target pattern</a:t>
            </a:r>
            <a:endParaRPr kumimoji="0" lang="en-US" sz="9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4652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49440" y="12527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254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49440" y="1645920"/>
            <a:ext cx="44805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29400" y="1833372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67144" y="17465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Slows time to decision and account momentum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629400" y="2208276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67144" y="21214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Keeps teams reactive instead of proactive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629400" y="2583180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67144" y="24963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Creates confusion on ownership and engagement model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629400" y="2958084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67144" y="28712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Weakens modernization credibility with clients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5720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60120" y="3858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254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Help needed 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60120" y="4251960"/>
            <a:ext cx="44805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0080" y="4402836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77824" y="4315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Align BVE ask to a minimum viable input set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40080" y="4732020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77824" y="46451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Secure marketing sponsorship for client-facing events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0080" y="5061204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77824" y="49743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Confirm executive sponsorship for PA and watsonx.data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40080" y="5390388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77824" y="5303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Set minimum cadence for PM engagement with field teams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40080" y="5719572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77824" y="5632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Endorse one standard reference architecture model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4652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949440" y="3858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254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path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949440" y="4251960"/>
            <a:ext cx="44805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629400" y="4402836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867144" y="4315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lvl="0"/>
            <a:r>
              <a:rPr lang="en-US" sz="106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Core-to-Mode CSEs </a:t>
            </a: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capture current state architecture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629400" y="4732020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867144" y="46451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Core-to-Mode CSE + ATL map target state architecture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629400" y="5061204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867144" y="49743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Standardize one template per product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629400" y="5390388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867144" y="5303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Review blockers biweekly in Product Connect / DRB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629400" y="5719572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867144" y="56327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Start with highest-priority products and 2–3 accounts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384048" y="6245352"/>
            <a:ext cx="11411712" cy="420624"/>
          </a:xfrm>
          <a:prstGeom prst="roundRect">
            <a:avLst>
              <a:gd name="adj" fmla="val 1739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2340864" y="6318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254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2697480" y="63276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40" b="1" i="0" u="none" strike="noStrike" kern="1200" cap="none" spc="0" normalizeH="0" baseline="0" noProof="0" dirty="0">
                <a:ln>
                  <a:noFill/>
                </a:ln>
                <a:solidFill>
                  <a:srgbClr val="0B254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Decision required: </a:t>
            </a:r>
            <a:r>
              <a:rPr kumimoji="0" lang="en-US" sz="1340" b="0" i="0" u="none" strike="noStrike" kern="1200" cap="none" spc="0" normalizeH="0" baseline="0" noProof="0" dirty="0">
                <a:ln>
                  <a:noFill/>
                </a:ln>
                <a:solidFill>
                  <a:srgbClr val="0B254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named owners, engagement cadence, and executive sponsorship</a:t>
            </a:r>
            <a:endParaRPr kumimoji="0" lang="en-US" sz="13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1319</Words>
  <Application>Microsoft Macintosh PowerPoint</Application>
  <PresentationFormat>Widescreen</PresentationFormat>
  <Paragraphs>159</Paragraphs>
  <Slides>5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Segoe UI Emoji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FSM Core Software Product Connect | Executive Update</dc:title>
  <dc:subject>FSM Core Software Product Connect Executive Update</dc:subject>
  <dc:creator>OpenAI</dc:creator>
  <cp:lastModifiedBy>Monika Aggarwal</cp:lastModifiedBy>
  <cp:revision>10</cp:revision>
  <dcterms:created xsi:type="dcterms:W3CDTF">2026-04-23T16:35:33Z</dcterms:created>
  <dcterms:modified xsi:type="dcterms:W3CDTF">2026-04-30T17:46:01Z</dcterms:modified>
</cp:coreProperties>
</file>