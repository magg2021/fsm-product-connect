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1"/>
  </p:sldMasterIdLst>
  <p:notesMasterIdLst>
    <p:notesMasterId r:id="rId3"/>
  </p:notesMasterIdLst>
  <p:sldIdLst>
    <p:sldId id="214748300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346056-7ADC-674A-AF07-0108C2217FE8}">
          <p14:sldIdLst>
            <p14:sldId id="21474830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50"/>
    <p:restoredTop sz="94265"/>
  </p:normalViewPr>
  <p:slideViewPr>
    <p:cSldViewPr snapToGrid="0" snapToObjects="1">
      <p:cViewPr>
        <p:scale>
          <a:sx n="190" d="100"/>
          <a:sy n="190" d="100"/>
        </p:scale>
        <p:origin x="-496" y="-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13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bm.box.com/s/ptgdtx2i67b5lw5nxseuptzd2xuwcm9c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hlinkClick r:id="rId3"/>
              </a:rPr>
              <a:t>Product Modernization Technical View and Benefits</a:t>
            </a:r>
            <a:endParaRPr lang="en-US" sz="120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38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FSM Product Connect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5216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F667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Executive update | May 2026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928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09728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◎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0976" y="1097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Objective: </a:t>
            </a: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convert reactive product escalations into a proactive modernization motion across FSM with clearer roadmap alignment, named product coverage, and reusable field assets.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1292840" cy="347472"/>
          </a:xfrm>
          <a:prstGeom prst="roundRect">
            <a:avLst>
              <a:gd name="adj" fmla="val 10526"/>
            </a:avLst>
          </a:prstGeom>
          <a:solidFill>
            <a:srgbClr val="F2F5F9"/>
          </a:solidFill>
          <a:ln w="10160">
            <a:solidFill>
              <a:srgbClr val="D8DD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20208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Tracks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67912" y="20208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01768" y="202082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Current focus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28432" y="202082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Support Needed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1129284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D8DDE6"/>
            </a:solidFill>
            <a:prstDash val="solid"/>
          </a:ln>
          <a:effectLst>
            <a:outerShdw blurRad="127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♟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77824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Product Connect governance framework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05072" y="260604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05072" y="261061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01768" y="2514600"/>
            <a:ext cx="2697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Monthly interlock call scheduled. Responding to field requests: Project Mystic POVs, 2 blocked modernization motions; Product ownership established; Product versions confirmed for Vitality.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28432" y="2514600"/>
            <a:ext cx="3246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PM participation in interlock. Confirm product coverage by pillar, named owners, and fast path for blocked account requests.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50108"/>
            <a:ext cx="1129284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D8DDE6"/>
            </a:solidFill>
            <a:prstDash val="solid"/>
          </a:ln>
          <a:effectLst>
            <a:outerShdw blurRad="127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33421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18A4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7824" y="33512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Product enablement sessions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05072" y="3351276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118A40"/>
          </a:solidFill>
          <a:ln w="12700">
            <a:solidFill>
              <a:srgbClr val="118A40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05072" y="3355848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/12*4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01768" y="3259836"/>
            <a:ext cx="2697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AI Editions enablement completed for DB2, MQ &amp; Cognos. Product interviews recorded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028432" y="3259836"/>
            <a:ext cx="3246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PM collaboration needed for remaining enablement sessions, product interview review, and Seismic-ready content.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895344"/>
            <a:ext cx="1129284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D8DDE6"/>
            </a:solidFill>
            <a:prstDash val="solid"/>
          </a:ln>
          <a:effectLst>
            <a:outerShdw blurRad="127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" y="40873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7A1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▥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77824" y="4096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Business value assessments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005072" y="4096512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F7A1A"/>
          </a:solidFill>
          <a:ln w="12700">
            <a:solidFill>
              <a:srgbClr val="FF7A1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005072" y="4101084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12/54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01768" y="4005072"/>
            <a:ext cx="2697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Db2</a:t>
            </a:r>
            <a:r>
              <a:rPr lang="en-US" sz="95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ODM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published in ISC (Value 360)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CSE populated spreadsheet: 4 for Data; 2 for App Runtime, 2 for App Integration; 4 for BA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028432" y="4005072"/>
            <a:ext cx="3246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PM verification needed for BVA value levers, benefit ranges, assumptions, and product-specific proof points.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4640580"/>
            <a:ext cx="1129284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D8DDE6"/>
            </a:solidFill>
            <a:prstDash val="solid"/>
          </a:ln>
          <a:effectLst>
            <a:outerShdw blurRad="127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2920" y="48326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7A1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◇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005072" y="4841748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F7A1A"/>
          </a:solidFill>
          <a:ln w="12700">
            <a:solidFill>
              <a:srgbClr val="FF7A1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005072" y="4846320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216/216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001768" y="4750308"/>
            <a:ext cx="2697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Draft framework completed. Requests active across priority products. Current architecture delivered from Product in different formats. Core products: 36; reference architecture for 4 motions: 36 × 4.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028432" y="4750308"/>
            <a:ext cx="3246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PM and technical owner collaboration needed to validate current state, target state, deployment paths, and caveats.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7200" y="5385816"/>
            <a:ext cx="1129284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D8DDE6"/>
            </a:solidFill>
            <a:prstDash val="solid"/>
          </a:ln>
          <a:effectLst>
            <a:outerShdw blurRad="127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02920" y="55778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18A4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◉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7824" y="55869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Client </a:t>
            </a:r>
            <a:r>
              <a:rPr kumimoji="0" lang="en-US" sz="1070" b="1" i="0" u="none" strike="noStrike" kern="1200" cap="none" spc="0" normalizeH="0" baseline="0" noProof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briefings sessions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005072" y="5586984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118A40"/>
          </a:solidFill>
          <a:ln w="12700">
            <a:solidFill>
              <a:srgbClr val="118A40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005072" y="5591556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3/12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01768" y="5495544"/>
            <a:ext cx="2697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3 completed: Cognos, App Integration, Conte</a:t>
            </a:r>
            <a:r>
              <a:rPr lang="en-US" sz="950" dirty="0" err="1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nt</a:t>
            </a:r>
            <a:r>
              <a:rPr lang="en-US" sz="95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Cortex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Build repeatable narrative per priority: risk, controls, dependency chain, adoption plan.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dirty="0">
                <a:solidFill>
                  <a:srgbClr val="1E1E1E"/>
                </a:solidFill>
                <a:latin typeface="Aptos" pitchFamily="34" charset="0"/>
              </a:rPr>
              <a:t>1 in works: Java Modernization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028432" y="5495544"/>
            <a:ext cx="3246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PM support needed for client briefing content, roadmap guardrails, product speakers, and account-specific validation.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57200" y="6131052"/>
            <a:ext cx="11292840" cy="71323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7620">
            <a:solidFill>
              <a:srgbClr val="D8DDE6"/>
            </a:solidFill>
            <a:prstDash val="solid"/>
          </a:ln>
          <a:effectLst>
            <a:outerShdw blurRad="12700" dist="508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02920" y="63230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77824" y="63322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1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Product engagement model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005072" y="633222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005072" y="633679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001768" y="6240780"/>
            <a:ext cx="26974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Product Management Connect Agentic Workflow design ready for review.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028432" y="6240780"/>
            <a:ext cx="32461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Review multi-agent architecture design for product intake ticketing. Confirm triage rules, workflow owners, and approval path.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8D447500-AC87-886B-C05A-A4A6A2B46E31}"/>
              </a:ext>
            </a:extLst>
          </p:cNvPr>
          <p:cNvSpPr/>
          <p:nvPr/>
        </p:nvSpPr>
        <p:spPr>
          <a:xfrm>
            <a:off x="877824" y="48097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70" b="1" dirty="0">
                <a:solidFill>
                  <a:srgbClr val="1E1E1E"/>
                </a:solidFill>
                <a:latin typeface="Aptos" pitchFamily="34" charset="0"/>
              </a:rPr>
              <a:t>Product Modernization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70" b="1" dirty="0">
                <a:solidFill>
                  <a:srgbClr val="1E1E1E"/>
                </a:solidFill>
                <a:latin typeface="Aptos" pitchFamily="34" charset="0"/>
              </a:rPr>
              <a:t>Technical View and Benefits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347</Words>
  <Application>Microsoft Macintosh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1_Office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FSM Core Software Product Connect | Executive Update</dc:title>
  <dc:subject>FSM Core Software Product Connect Executive Update</dc:subject>
  <dc:creator>OpenAI</dc:creator>
  <cp:lastModifiedBy>Monika Aggarwal</cp:lastModifiedBy>
  <cp:revision>86</cp:revision>
  <cp:lastPrinted>2026-05-01T17:01:22Z</cp:lastPrinted>
  <dcterms:created xsi:type="dcterms:W3CDTF">2026-04-23T16:35:33Z</dcterms:created>
  <dcterms:modified xsi:type="dcterms:W3CDTF">2026-07-27T21:39:56Z</dcterms:modified>
</cp:coreProperties>
</file>