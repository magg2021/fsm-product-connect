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360 readout for Rolando
The discussion made one thing clear. The benefit statements are useful, but they are not enough by themselves to be called a full value proposition.
Stephen drew a clear line between the qualitative story and the quantified business case.
The qualitative story gives the seller a broad starting point around why change, why now, and why IBM. That is the value proposition layer.
The benefit statements sit inside the business outcomes section. They support the BVA, but they are not the full story on their own.
So the current benefit statements are necessary, but not sufficient. They help identify the right value areas and structure the model, but they still need client pain point framing, product-specific proof, assumptions, calculations, and realization logic.
That means what we have today is a starting baseline, not a finished client-ready BVA.
Stephen was also clear that the tool is meant to start with baseline content and then be updated with client-specific assumptions and inputs.
So if we use the phrase value proposition with a client, that does not mean they will expect a full BVA immediately.
But once we start making serious modernization value claims, especially around funding, prioritization, or platform moves, they will expect a quantified business case quickly.
My read is this. The benefit statements are value levers. They are not yet a complete value proposition.
A complete value proposition still needs the buyer problem, the why change, the why now, the why IBM, and the product capability behind the claim.
So my answer to Rolando would be: no, the benefit statements alone are not sufficient to be called a full value proposition. They are part of the broader story, but a true value proposition still needs the buyer framing and the product-backed proof behind the claim.
Clients may not expect a full BVA the moment we say value proposition, but they will expect one soon after if the discussion moves into specific modernization value claims.
That is consistent with how Value 360 is being positioned: broad value story first, client-specific BVA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5029200" cy="411480"/>
          </a:xfrm>
          <a:prstGeom prst="rect">
            <a:avLst/>
          </a:prstGeom>
          <a:noFill/>
          <a:ln/>
        </p:spPr>
        <p:txBody>
          <a:bodyPr wrap="square" lIns="762" tIns="762" rIns="762" bIns="762" rtlCol="0" anchor="t">
            <a:normAutofit/>
          </a:bodyPr>
          <a:lstStyle/>
          <a:p>
            <a:pPr algn="l" indent="0" marL="0">
              <a:buNone/>
            </a:pPr>
            <a:r>
              <a:rPr lang="en-US" sz="2800" b="1" dirty="0">
                <a:solidFill>
                  <a:srgbClr val="161616"/>
                </a:solidFill>
                <a:latin typeface="Arial" pitchFamily="34" charset="0"/>
                <a:ea typeface="Arial" pitchFamily="34" charset="-122"/>
                <a:cs typeface="Arial" pitchFamily="34" charset="-120"/>
              </a:rPr>
              <a:t>Value proposition vs. BVA</a:t>
            </a:r>
            <a:endParaRPr lang="en-US" sz="2800" dirty="0"/>
          </a:p>
        </p:txBody>
      </p:sp>
      <p:sp>
        <p:nvSpPr>
          <p:cNvPr id="3" name="Text 1"/>
          <p:cNvSpPr/>
          <p:nvPr/>
        </p:nvSpPr>
        <p:spPr>
          <a:xfrm>
            <a:off x="530352" y="804672"/>
            <a:ext cx="5303520" cy="256032"/>
          </a:xfrm>
          <a:prstGeom prst="rect">
            <a:avLst/>
          </a:prstGeom>
          <a:noFill/>
          <a:ln/>
        </p:spPr>
        <p:txBody>
          <a:bodyPr wrap="square" lIns="762" tIns="762" rIns="762" bIns="762" rtlCol="0" anchor="t">
            <a:normAutofit/>
          </a:bodyPr>
          <a:lstStyle/>
          <a:p>
            <a:pPr algn="l" indent="0" marL="0">
              <a:buNone/>
            </a:pPr>
            <a:r>
              <a:rPr lang="en-US" sz="1250" dirty="0">
                <a:solidFill>
                  <a:srgbClr val="525252"/>
                </a:solidFill>
                <a:latin typeface="Arial" pitchFamily="34" charset="0"/>
                <a:ea typeface="Arial" pitchFamily="34" charset="-122"/>
                <a:cs typeface="Arial" pitchFamily="34" charset="-120"/>
              </a:rPr>
              <a:t>Readout from Value 360 discussion for Rolando</a:t>
            </a:r>
            <a:endParaRPr lang="en-US" sz="1250" dirty="0"/>
          </a:p>
        </p:txBody>
      </p:sp>
      <p:sp>
        <p:nvSpPr>
          <p:cNvPr id="4" name="Text 2"/>
          <p:cNvSpPr/>
          <p:nvPr/>
        </p:nvSpPr>
        <p:spPr>
          <a:xfrm>
            <a:off x="6053328" y="329184"/>
            <a:ext cx="5623560" cy="530352"/>
          </a:xfrm>
          <a:prstGeom prst="rect">
            <a:avLst/>
          </a:prstGeom>
          <a:noFill/>
          <a:ln/>
        </p:spPr>
        <p:txBody>
          <a:bodyPr wrap="square" lIns="762" tIns="762" rIns="762" bIns="762" rtlCol="0" anchor="t">
            <a:normAutofit/>
          </a:bodyPr>
          <a:lstStyle/>
          <a:p>
            <a:pPr algn="r" indent="0" marL="0">
              <a:buNone/>
            </a:pPr>
            <a:r>
              <a:rPr lang="en-US" sz="1400" b="1" dirty="0">
                <a:solidFill>
                  <a:srgbClr val="0F62FE"/>
                </a:solidFill>
                <a:latin typeface="Arial" pitchFamily="34" charset="0"/>
                <a:ea typeface="Arial" pitchFamily="34" charset="-122"/>
                <a:cs typeface="Arial" pitchFamily="34" charset="-120"/>
              </a:rPr>
              <a:t>Bottom line: benefit statements are value levers, not a complete value proposition or BVA.</a:t>
            </a:r>
            <a:endParaRPr lang="en-US" sz="1400" dirty="0"/>
          </a:p>
        </p:txBody>
      </p:sp>
      <p:sp>
        <p:nvSpPr>
          <p:cNvPr id="5" name="Shape 3"/>
          <p:cNvSpPr/>
          <p:nvPr/>
        </p:nvSpPr>
        <p:spPr>
          <a:xfrm>
            <a:off x="502920" y="1097280"/>
            <a:ext cx="11201400" cy="27432"/>
          </a:xfrm>
          <a:prstGeom prst="rect">
            <a:avLst/>
          </a:prstGeom>
          <a:solidFill>
            <a:srgbClr val="0F62FE"/>
          </a:solidFill>
          <a:ln w="12700">
            <a:solidFill>
              <a:srgbClr val="0F62FE">
                <a:alpha val="0"/>
              </a:srgbClr>
            </a:solidFill>
            <a:prstDash val="solid"/>
          </a:ln>
        </p:spPr>
      </p:sp>
      <p:sp>
        <p:nvSpPr>
          <p:cNvPr id="6" name="Shape 4"/>
          <p:cNvSpPr/>
          <p:nvPr/>
        </p:nvSpPr>
        <p:spPr>
          <a:xfrm>
            <a:off x="640080" y="1508760"/>
            <a:ext cx="3383280" cy="1920240"/>
          </a:xfrm>
          <a:prstGeom prst="roundRect">
            <a:avLst>
              <a:gd name="adj" fmla="val 5714"/>
            </a:avLst>
          </a:prstGeom>
          <a:solidFill>
            <a:srgbClr val="FFFFFF"/>
          </a:solidFill>
          <a:ln w="12700">
            <a:solidFill>
              <a:srgbClr val="E0E0E0"/>
            </a:solidFill>
            <a:prstDash val="solid"/>
          </a:ln>
        </p:spPr>
      </p:sp>
      <p:sp>
        <p:nvSpPr>
          <p:cNvPr id="7" name="Shape 5"/>
          <p:cNvSpPr/>
          <p:nvPr/>
        </p:nvSpPr>
        <p:spPr>
          <a:xfrm>
            <a:off x="640080" y="1508760"/>
            <a:ext cx="109728" cy="1920240"/>
          </a:xfrm>
          <a:prstGeom prst="rect">
            <a:avLst/>
          </a:prstGeom>
          <a:solidFill>
            <a:srgbClr val="FF832B"/>
          </a:solidFill>
          <a:ln w="12700">
            <a:solidFill>
              <a:srgbClr val="FF832B">
                <a:alpha val="0"/>
              </a:srgbClr>
            </a:solidFill>
            <a:prstDash val="solid"/>
          </a:ln>
        </p:spPr>
      </p:sp>
      <p:sp>
        <p:nvSpPr>
          <p:cNvPr id="8" name="Text 6"/>
          <p:cNvSpPr/>
          <p:nvPr/>
        </p:nvSpPr>
        <p:spPr>
          <a:xfrm>
            <a:off x="841248" y="1673352"/>
            <a:ext cx="2999232" cy="329184"/>
          </a:xfrm>
          <a:prstGeom prst="rect">
            <a:avLst/>
          </a:prstGeom>
          <a:noFill/>
          <a:ln/>
        </p:spPr>
        <p:txBody>
          <a:bodyPr wrap="square" lIns="762" tIns="762" rIns="762" bIns="762" rtlCol="0" anchor="t">
            <a:normAutofit/>
          </a:bodyPr>
          <a:lstStyle/>
          <a:p>
            <a:pPr algn="l" indent="0" marL="0">
              <a:buNone/>
            </a:pPr>
            <a:r>
              <a:rPr lang="en-US" sz="1550" b="1" dirty="0">
                <a:solidFill>
                  <a:srgbClr val="161616"/>
                </a:solidFill>
                <a:latin typeface="Arial" pitchFamily="34" charset="0"/>
                <a:ea typeface="Arial" pitchFamily="34" charset="-122"/>
                <a:cs typeface="Arial" pitchFamily="34" charset="-120"/>
              </a:rPr>
              <a:t>1. Benefit statements</a:t>
            </a:r>
            <a:endParaRPr lang="en-US" sz="1550" dirty="0"/>
          </a:p>
        </p:txBody>
      </p:sp>
      <p:sp>
        <p:nvSpPr>
          <p:cNvPr id="9" name="Text 7"/>
          <p:cNvSpPr/>
          <p:nvPr/>
        </p:nvSpPr>
        <p:spPr>
          <a:xfrm>
            <a:off x="841248" y="2130552"/>
            <a:ext cx="2999232" cy="1152144"/>
          </a:xfrm>
          <a:prstGeom prst="rect">
            <a:avLst/>
          </a:prstGeom>
          <a:noFill/>
          <a:ln/>
        </p:spPr>
        <p:txBody>
          <a:bodyPr wrap="square" lIns="381" tIns="381" rIns="381" bIns="381" rtlCol="0" anchor="t">
            <a:normAutofit/>
          </a:bodyPr>
          <a:lstStyle/>
          <a:p>
            <a:pPr algn="l" indent="0" marL="0">
              <a:buNone/>
            </a:pPr>
            <a:r>
              <a:rPr lang="en-US" sz="1160" dirty="0">
                <a:solidFill>
                  <a:srgbClr val="262626"/>
                </a:solidFill>
                <a:latin typeface="Arial" pitchFamily="34" charset="0"/>
                <a:ea typeface="Arial" pitchFamily="34" charset="-122"/>
                <a:cs typeface="Arial" pitchFamily="34" charset="-120"/>
              </a:rPr>
              <a:t>What we have today</a:t>
            </a:r>
            <a:endParaRPr lang="en-US" sz="1160" dirty="0"/>
          </a:p>
          <a:p>
            <a:pPr algn="l" indent="0" marL="0">
              <a:buNone/>
            </a:pP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Useful inputs</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Identify value areas</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Help structure Value 360</a:t>
            </a:r>
            <a:endParaRPr lang="en-US" sz="1160" dirty="0"/>
          </a:p>
          <a:p>
            <a:pPr algn="l" indent="0" marL="0">
              <a:buNone/>
            </a:pP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They still need buyer framing, proof, and assumptions.</a:t>
            </a:r>
            <a:endParaRPr lang="en-US" sz="1160" dirty="0"/>
          </a:p>
        </p:txBody>
      </p:sp>
      <p:sp>
        <p:nvSpPr>
          <p:cNvPr id="10" name="Shape 8"/>
          <p:cNvSpPr/>
          <p:nvPr/>
        </p:nvSpPr>
        <p:spPr>
          <a:xfrm>
            <a:off x="4133088" y="2468880"/>
            <a:ext cx="393192" cy="0"/>
          </a:xfrm>
          <a:prstGeom prst="line">
            <a:avLst/>
          </a:prstGeom>
          <a:noFill/>
          <a:ln w="25400">
            <a:solidFill>
              <a:srgbClr val="6F6F6F"/>
            </a:solidFill>
            <a:prstDash val="solid"/>
            <a:headEnd type="none"/>
            <a:tailEnd type="triangle"/>
          </a:ln>
        </p:spPr>
      </p:sp>
      <p:sp>
        <p:nvSpPr>
          <p:cNvPr id="11" name="Shape 9"/>
          <p:cNvSpPr/>
          <p:nvPr/>
        </p:nvSpPr>
        <p:spPr>
          <a:xfrm>
            <a:off x="4617720" y="1508760"/>
            <a:ext cx="3383280" cy="1920240"/>
          </a:xfrm>
          <a:prstGeom prst="roundRect">
            <a:avLst>
              <a:gd name="adj" fmla="val 5714"/>
            </a:avLst>
          </a:prstGeom>
          <a:solidFill>
            <a:srgbClr val="FFFFFF"/>
          </a:solidFill>
          <a:ln w="12700">
            <a:solidFill>
              <a:srgbClr val="E0E0E0"/>
            </a:solidFill>
            <a:prstDash val="solid"/>
          </a:ln>
        </p:spPr>
      </p:sp>
      <p:sp>
        <p:nvSpPr>
          <p:cNvPr id="12" name="Shape 10"/>
          <p:cNvSpPr/>
          <p:nvPr/>
        </p:nvSpPr>
        <p:spPr>
          <a:xfrm>
            <a:off x="4617720" y="1508760"/>
            <a:ext cx="109728" cy="1920240"/>
          </a:xfrm>
          <a:prstGeom prst="rect">
            <a:avLst/>
          </a:prstGeom>
          <a:solidFill>
            <a:srgbClr val="0F62FE"/>
          </a:solidFill>
          <a:ln w="12700">
            <a:solidFill>
              <a:srgbClr val="0F62FE">
                <a:alpha val="0"/>
              </a:srgbClr>
            </a:solidFill>
            <a:prstDash val="solid"/>
          </a:ln>
        </p:spPr>
      </p:sp>
      <p:sp>
        <p:nvSpPr>
          <p:cNvPr id="13" name="Text 11"/>
          <p:cNvSpPr/>
          <p:nvPr/>
        </p:nvSpPr>
        <p:spPr>
          <a:xfrm>
            <a:off x="4818888" y="1673352"/>
            <a:ext cx="2999232" cy="329184"/>
          </a:xfrm>
          <a:prstGeom prst="rect">
            <a:avLst/>
          </a:prstGeom>
          <a:noFill/>
          <a:ln/>
        </p:spPr>
        <p:txBody>
          <a:bodyPr wrap="square" lIns="762" tIns="762" rIns="762" bIns="762" rtlCol="0" anchor="t">
            <a:normAutofit/>
          </a:bodyPr>
          <a:lstStyle/>
          <a:p>
            <a:pPr algn="l" indent="0" marL="0">
              <a:buNone/>
            </a:pPr>
            <a:r>
              <a:rPr lang="en-US" sz="1550" b="1" dirty="0">
                <a:solidFill>
                  <a:srgbClr val="161616"/>
                </a:solidFill>
                <a:latin typeface="Arial" pitchFamily="34" charset="0"/>
                <a:ea typeface="Arial" pitchFamily="34" charset="-122"/>
                <a:cs typeface="Arial" pitchFamily="34" charset="-120"/>
              </a:rPr>
              <a:t>2. Value proposition</a:t>
            </a:r>
            <a:endParaRPr lang="en-US" sz="1550" dirty="0"/>
          </a:p>
        </p:txBody>
      </p:sp>
      <p:sp>
        <p:nvSpPr>
          <p:cNvPr id="14" name="Text 12"/>
          <p:cNvSpPr/>
          <p:nvPr/>
        </p:nvSpPr>
        <p:spPr>
          <a:xfrm>
            <a:off x="4818888" y="2130552"/>
            <a:ext cx="2999232" cy="1152144"/>
          </a:xfrm>
          <a:prstGeom prst="rect">
            <a:avLst/>
          </a:prstGeom>
          <a:noFill/>
          <a:ln/>
        </p:spPr>
        <p:txBody>
          <a:bodyPr wrap="square" lIns="381" tIns="381" rIns="381" bIns="381" rtlCol="0" anchor="t">
            <a:normAutofit/>
          </a:bodyPr>
          <a:lstStyle/>
          <a:p>
            <a:pPr algn="l" indent="0" marL="0">
              <a:buNone/>
            </a:pPr>
            <a:r>
              <a:rPr lang="en-US" sz="1160" dirty="0">
                <a:solidFill>
                  <a:srgbClr val="262626"/>
                </a:solidFill>
                <a:latin typeface="Arial" pitchFamily="34" charset="0"/>
                <a:ea typeface="Arial" pitchFamily="34" charset="-122"/>
                <a:cs typeface="Arial" pitchFamily="34" charset="-120"/>
              </a:rPr>
              <a:t>What Product and field need to shape</a:t>
            </a:r>
            <a:endParaRPr lang="en-US" sz="1160" dirty="0"/>
          </a:p>
          <a:p>
            <a:pPr algn="l" indent="0" marL="0">
              <a:buNone/>
            </a:pP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Buyer problem</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Why change</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Why now</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Why IBM</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Product-backed proof</a:t>
            </a:r>
            <a:endParaRPr lang="en-US" sz="1160" dirty="0"/>
          </a:p>
        </p:txBody>
      </p:sp>
      <p:sp>
        <p:nvSpPr>
          <p:cNvPr id="15" name="Shape 13"/>
          <p:cNvSpPr/>
          <p:nvPr/>
        </p:nvSpPr>
        <p:spPr>
          <a:xfrm>
            <a:off x="8119872" y="2468880"/>
            <a:ext cx="393192" cy="0"/>
          </a:xfrm>
          <a:prstGeom prst="line">
            <a:avLst/>
          </a:prstGeom>
          <a:noFill/>
          <a:ln w="25400">
            <a:solidFill>
              <a:srgbClr val="6F6F6F"/>
            </a:solidFill>
            <a:prstDash val="solid"/>
            <a:headEnd type="none"/>
            <a:tailEnd type="triangle"/>
          </a:ln>
        </p:spPr>
      </p:sp>
      <p:sp>
        <p:nvSpPr>
          <p:cNvPr id="16" name="Shape 14"/>
          <p:cNvSpPr/>
          <p:nvPr/>
        </p:nvSpPr>
        <p:spPr>
          <a:xfrm>
            <a:off x="8595360" y="1508760"/>
            <a:ext cx="3383280" cy="1920240"/>
          </a:xfrm>
          <a:prstGeom prst="roundRect">
            <a:avLst>
              <a:gd name="adj" fmla="val 5714"/>
            </a:avLst>
          </a:prstGeom>
          <a:solidFill>
            <a:srgbClr val="FFFFFF"/>
          </a:solidFill>
          <a:ln w="12700">
            <a:solidFill>
              <a:srgbClr val="E0E0E0"/>
            </a:solidFill>
            <a:prstDash val="solid"/>
          </a:ln>
        </p:spPr>
      </p:sp>
      <p:sp>
        <p:nvSpPr>
          <p:cNvPr id="17" name="Shape 15"/>
          <p:cNvSpPr/>
          <p:nvPr/>
        </p:nvSpPr>
        <p:spPr>
          <a:xfrm>
            <a:off x="8595360" y="1508760"/>
            <a:ext cx="109728" cy="1920240"/>
          </a:xfrm>
          <a:prstGeom prst="rect">
            <a:avLst/>
          </a:prstGeom>
          <a:solidFill>
            <a:srgbClr val="24A148"/>
          </a:solidFill>
          <a:ln w="12700">
            <a:solidFill>
              <a:srgbClr val="24A148">
                <a:alpha val="0"/>
              </a:srgbClr>
            </a:solidFill>
            <a:prstDash val="solid"/>
          </a:ln>
        </p:spPr>
      </p:sp>
      <p:sp>
        <p:nvSpPr>
          <p:cNvPr id="18" name="Text 16"/>
          <p:cNvSpPr/>
          <p:nvPr/>
        </p:nvSpPr>
        <p:spPr>
          <a:xfrm>
            <a:off x="8796528" y="1673352"/>
            <a:ext cx="2999232" cy="329184"/>
          </a:xfrm>
          <a:prstGeom prst="rect">
            <a:avLst/>
          </a:prstGeom>
          <a:noFill/>
          <a:ln/>
        </p:spPr>
        <p:txBody>
          <a:bodyPr wrap="square" lIns="762" tIns="762" rIns="762" bIns="762" rtlCol="0" anchor="t">
            <a:normAutofit/>
          </a:bodyPr>
          <a:lstStyle/>
          <a:p>
            <a:pPr algn="l" indent="0" marL="0">
              <a:buNone/>
            </a:pPr>
            <a:r>
              <a:rPr lang="en-US" sz="1550" b="1" dirty="0">
                <a:solidFill>
                  <a:srgbClr val="161616"/>
                </a:solidFill>
                <a:latin typeface="Arial" pitchFamily="34" charset="0"/>
                <a:ea typeface="Arial" pitchFamily="34" charset="-122"/>
                <a:cs typeface="Arial" pitchFamily="34" charset="-120"/>
              </a:rPr>
              <a:t>3. BVA</a:t>
            </a:r>
            <a:endParaRPr lang="en-US" sz="1550" dirty="0"/>
          </a:p>
        </p:txBody>
      </p:sp>
      <p:sp>
        <p:nvSpPr>
          <p:cNvPr id="19" name="Text 17"/>
          <p:cNvSpPr/>
          <p:nvPr/>
        </p:nvSpPr>
        <p:spPr>
          <a:xfrm>
            <a:off x="8796528" y="2130552"/>
            <a:ext cx="2999232" cy="1152144"/>
          </a:xfrm>
          <a:prstGeom prst="rect">
            <a:avLst/>
          </a:prstGeom>
          <a:noFill/>
          <a:ln/>
        </p:spPr>
        <p:txBody>
          <a:bodyPr wrap="square" lIns="381" tIns="381" rIns="381" bIns="381" rtlCol="0" anchor="t">
            <a:normAutofit/>
          </a:bodyPr>
          <a:lstStyle/>
          <a:p>
            <a:pPr algn="l" indent="0" marL="0">
              <a:buNone/>
            </a:pPr>
            <a:r>
              <a:rPr lang="en-US" sz="1160" dirty="0">
                <a:solidFill>
                  <a:srgbClr val="262626"/>
                </a:solidFill>
                <a:latin typeface="Arial" pitchFamily="34" charset="0"/>
                <a:ea typeface="Arial" pitchFamily="34" charset="-122"/>
                <a:cs typeface="Arial" pitchFamily="34" charset="-120"/>
              </a:rPr>
              <a:t>What clients expect once value claims get serious</a:t>
            </a:r>
            <a:endParaRPr lang="en-US" sz="1160" dirty="0"/>
          </a:p>
          <a:p>
            <a:pPr algn="l" indent="0" marL="0">
              <a:buNone/>
            </a:pP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Client inputs</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Assumptions</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Calculations</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Realization curve</a:t>
            </a:r>
            <a:endParaRPr lang="en-US" sz="1160" dirty="0"/>
          </a:p>
          <a:p>
            <a:pPr algn="l" indent="0" marL="0">
              <a:buNone/>
            </a:pPr>
            <a:r>
              <a:rPr lang="en-US" sz="1160" dirty="0">
                <a:solidFill>
                  <a:srgbClr val="262626"/>
                </a:solidFill>
                <a:latin typeface="Arial" pitchFamily="34" charset="0"/>
                <a:ea typeface="Arial" pitchFamily="34" charset="-122"/>
                <a:cs typeface="Arial" pitchFamily="34" charset="-120"/>
              </a:rPr>
              <a:t>• Business case output</a:t>
            </a:r>
            <a:endParaRPr lang="en-US" sz="1160" dirty="0"/>
          </a:p>
        </p:txBody>
      </p:sp>
      <p:sp>
        <p:nvSpPr>
          <p:cNvPr id="20" name="Text 18"/>
          <p:cNvSpPr/>
          <p:nvPr/>
        </p:nvSpPr>
        <p:spPr>
          <a:xfrm>
            <a:off x="640080" y="3886200"/>
            <a:ext cx="2926080" cy="320040"/>
          </a:xfrm>
          <a:prstGeom prst="rect">
            <a:avLst/>
          </a:prstGeom>
          <a:noFill/>
          <a:ln/>
        </p:spPr>
        <p:txBody>
          <a:bodyPr wrap="square" lIns="762" tIns="762" rIns="762" bIns="762" rtlCol="0" anchor="t">
            <a:normAutofit/>
          </a:bodyPr>
          <a:lstStyle/>
          <a:p>
            <a:pPr algn="l" indent="0" marL="0">
              <a:buNone/>
            </a:pPr>
            <a:r>
              <a:rPr lang="en-US" sz="1700" b="1" dirty="0">
                <a:solidFill>
                  <a:srgbClr val="161616"/>
                </a:solidFill>
                <a:latin typeface="Arial" pitchFamily="34" charset="0"/>
                <a:ea typeface="Arial" pitchFamily="34" charset="-122"/>
                <a:cs typeface="Arial" pitchFamily="34" charset="-120"/>
              </a:rPr>
              <a:t>Answer to Rolando</a:t>
            </a:r>
            <a:endParaRPr lang="en-US" sz="1700" dirty="0"/>
          </a:p>
        </p:txBody>
      </p:sp>
      <p:sp>
        <p:nvSpPr>
          <p:cNvPr id="21" name="Text 19"/>
          <p:cNvSpPr/>
          <p:nvPr/>
        </p:nvSpPr>
        <p:spPr>
          <a:xfrm>
            <a:off x="640080" y="4315968"/>
            <a:ext cx="5349240" cy="1051560"/>
          </a:xfrm>
          <a:prstGeom prst="rect">
            <a:avLst/>
          </a:prstGeom>
          <a:solidFill>
            <a:srgbClr val="F4F4F4"/>
          </a:solidFill>
          <a:ln w="12700">
            <a:solidFill>
              <a:srgbClr val="E0E0E0"/>
            </a:solidFill>
          </a:ln>
        </p:spPr>
        <p:txBody>
          <a:bodyPr wrap="square" lIns="1524" tIns="1524" rIns="1524" bIns="1524" rtlCol="0" anchor="t">
            <a:normAutofit/>
          </a:bodyPr>
          <a:lstStyle/>
          <a:p>
            <a:pPr algn="l" indent="0" marL="0">
              <a:buNone/>
            </a:pPr>
            <a:r>
              <a:rPr lang="en-US" sz="1300" dirty="0">
                <a:solidFill>
                  <a:srgbClr val="262626"/>
                </a:solidFill>
                <a:latin typeface="Arial" pitchFamily="34" charset="0"/>
                <a:ea typeface="Arial" pitchFamily="34" charset="-122"/>
                <a:cs typeface="Arial" pitchFamily="34" charset="-120"/>
              </a:rPr>
              <a:t>No. The benefit statements alone are not sufficient to be called a full value proposition.</a:t>
            </a:r>
            <a:endParaRPr lang="en-US" sz="1300" dirty="0"/>
          </a:p>
          <a:p>
            <a:pPr algn="l" indent="0" marL="0">
              <a:buNone/>
            </a:pPr>
            <a:endParaRPr lang="en-US" sz="1300" dirty="0"/>
          </a:p>
          <a:p>
            <a:pPr algn="l" indent="0" marL="0">
              <a:buNone/>
            </a:pPr>
            <a:r>
              <a:rPr lang="en-US" sz="1300" dirty="0">
                <a:solidFill>
                  <a:srgbClr val="262626"/>
                </a:solidFill>
                <a:latin typeface="Arial" pitchFamily="34" charset="0"/>
                <a:ea typeface="Arial" pitchFamily="34" charset="-122"/>
                <a:cs typeface="Arial" pitchFamily="34" charset="-120"/>
              </a:rPr>
              <a:t>They are value levers. A full value proposition still needs buyer framing, product proof, and a clear reason to act.</a:t>
            </a:r>
            <a:endParaRPr lang="en-US" sz="1300" dirty="0"/>
          </a:p>
        </p:txBody>
      </p:sp>
      <p:sp>
        <p:nvSpPr>
          <p:cNvPr id="22" name="Text 20"/>
          <p:cNvSpPr/>
          <p:nvPr/>
        </p:nvSpPr>
        <p:spPr>
          <a:xfrm>
            <a:off x="6400800" y="3886200"/>
            <a:ext cx="2926080" cy="320040"/>
          </a:xfrm>
          <a:prstGeom prst="rect">
            <a:avLst/>
          </a:prstGeom>
          <a:noFill/>
          <a:ln/>
        </p:spPr>
        <p:txBody>
          <a:bodyPr wrap="square" lIns="762" tIns="762" rIns="762" bIns="762" rtlCol="0" anchor="t">
            <a:normAutofit/>
          </a:bodyPr>
          <a:lstStyle/>
          <a:p>
            <a:pPr algn="l" indent="0" marL="0">
              <a:buNone/>
            </a:pPr>
            <a:r>
              <a:rPr lang="en-US" sz="1700" b="1" dirty="0">
                <a:solidFill>
                  <a:srgbClr val="161616"/>
                </a:solidFill>
                <a:latin typeface="Arial" pitchFamily="34" charset="0"/>
                <a:ea typeface="Arial" pitchFamily="34" charset="-122"/>
                <a:cs typeface="Arial" pitchFamily="34" charset="-120"/>
              </a:rPr>
              <a:t>Client expectation</a:t>
            </a:r>
            <a:endParaRPr lang="en-US" sz="1700" dirty="0"/>
          </a:p>
        </p:txBody>
      </p:sp>
      <p:sp>
        <p:nvSpPr>
          <p:cNvPr id="23" name="Text 21"/>
          <p:cNvSpPr/>
          <p:nvPr/>
        </p:nvSpPr>
        <p:spPr>
          <a:xfrm>
            <a:off x="6400800" y="4315968"/>
            <a:ext cx="5349240" cy="1051560"/>
          </a:xfrm>
          <a:prstGeom prst="rect">
            <a:avLst/>
          </a:prstGeom>
          <a:solidFill>
            <a:srgbClr val="E8F1FF"/>
          </a:solidFill>
          <a:ln w="12700">
            <a:solidFill>
              <a:srgbClr val="B9D3FF"/>
            </a:solidFill>
          </a:ln>
        </p:spPr>
        <p:txBody>
          <a:bodyPr wrap="square" lIns="1524" tIns="1524" rIns="1524" bIns="1524" rtlCol="0" anchor="t">
            <a:normAutofit/>
          </a:bodyPr>
          <a:lstStyle/>
          <a:p>
            <a:pPr algn="l" indent="0" marL="0">
              <a:buNone/>
            </a:pPr>
            <a:r>
              <a:rPr lang="en-US" sz="1300" dirty="0">
                <a:solidFill>
                  <a:srgbClr val="262626"/>
                </a:solidFill>
                <a:latin typeface="Arial" pitchFamily="34" charset="0"/>
                <a:ea typeface="Arial" pitchFamily="34" charset="-122"/>
                <a:cs typeface="Arial" pitchFamily="34" charset="-120"/>
              </a:rPr>
              <a:t>Clients may not expect a full BVA the moment we say value proposition.</a:t>
            </a:r>
            <a:endParaRPr lang="en-US" sz="1300" dirty="0"/>
          </a:p>
          <a:p>
            <a:pPr algn="l" indent="0" marL="0">
              <a:buNone/>
            </a:pPr>
            <a:endParaRPr lang="en-US" sz="1300" dirty="0"/>
          </a:p>
          <a:p>
            <a:pPr algn="l" indent="0" marL="0">
              <a:buNone/>
            </a:pPr>
            <a:r>
              <a:rPr lang="en-US" sz="1300" dirty="0">
                <a:solidFill>
                  <a:srgbClr val="262626"/>
                </a:solidFill>
                <a:latin typeface="Arial" pitchFamily="34" charset="0"/>
                <a:ea typeface="Arial" pitchFamily="34" charset="-122"/>
                <a:cs typeface="Arial" pitchFamily="34" charset="-120"/>
              </a:rPr>
              <a:t>Once we make specific modernization value claims tied to funding or prioritization, they will expect a quantified business case.</a:t>
            </a:r>
            <a:endParaRPr lang="en-US" sz="1300" dirty="0"/>
          </a:p>
        </p:txBody>
      </p:sp>
      <p:sp>
        <p:nvSpPr>
          <p:cNvPr id="24" name="Text 22"/>
          <p:cNvSpPr/>
          <p:nvPr/>
        </p:nvSpPr>
        <p:spPr>
          <a:xfrm>
            <a:off x="640080" y="5715000"/>
            <a:ext cx="2148840" cy="237744"/>
          </a:xfrm>
          <a:prstGeom prst="rect">
            <a:avLst/>
          </a:prstGeom>
          <a:noFill/>
          <a:ln/>
        </p:spPr>
        <p:txBody>
          <a:bodyPr wrap="square" lIns="762" tIns="762" rIns="762" bIns="762" rtlCol="0" anchor="t">
            <a:normAutofit/>
          </a:bodyPr>
          <a:lstStyle/>
          <a:p>
            <a:pPr algn="l" indent="0" marL="0">
              <a:buNone/>
            </a:pPr>
            <a:r>
              <a:rPr lang="en-US" sz="1350" b="1" dirty="0">
                <a:solidFill>
                  <a:srgbClr val="262626"/>
                </a:solidFill>
                <a:latin typeface="Arial" pitchFamily="34" charset="0"/>
                <a:ea typeface="Arial" pitchFamily="34" charset="-122"/>
                <a:cs typeface="Arial" pitchFamily="34" charset="-120"/>
              </a:rPr>
              <a:t>Recommended sequence</a:t>
            </a:r>
            <a:endParaRPr lang="en-US" sz="1350" dirty="0"/>
          </a:p>
        </p:txBody>
      </p:sp>
      <p:sp>
        <p:nvSpPr>
          <p:cNvPr id="25" name="Text 23"/>
          <p:cNvSpPr/>
          <p:nvPr/>
        </p:nvSpPr>
        <p:spPr>
          <a:xfrm>
            <a:off x="3063240" y="5669280"/>
            <a:ext cx="8641080" cy="320040"/>
          </a:xfrm>
          <a:prstGeom prst="rect">
            <a:avLst/>
          </a:prstGeom>
          <a:noFill/>
          <a:ln/>
        </p:spPr>
        <p:txBody>
          <a:bodyPr wrap="square" lIns="762" tIns="762" rIns="762" bIns="762" rtlCol="0" anchor="t">
            <a:normAutofit/>
          </a:bodyPr>
          <a:lstStyle/>
          <a:p>
            <a:pPr algn="r" indent="0" marL="0">
              <a:buNone/>
            </a:pPr>
            <a:r>
              <a:rPr lang="en-US" sz="1450" b="1" dirty="0">
                <a:solidFill>
                  <a:srgbClr val="0F62FE"/>
                </a:solidFill>
                <a:latin typeface="Arial" pitchFamily="34" charset="0"/>
                <a:ea typeface="Arial" pitchFamily="34" charset="-122"/>
                <a:cs typeface="Arial" pitchFamily="34" charset="-120"/>
              </a:rPr>
              <a:t>Broad value story  →  product-backed value proposition  →  client-specific BVA in Value 360</a:t>
            </a:r>
            <a:endParaRPr lang="en-US" sz="1450" dirty="0"/>
          </a:p>
        </p:txBody>
      </p:sp>
      <p:sp>
        <p:nvSpPr>
          <p:cNvPr id="26" name="Text 24"/>
          <p:cNvSpPr/>
          <p:nvPr/>
        </p:nvSpPr>
        <p:spPr>
          <a:xfrm>
            <a:off x="502920" y="6556248"/>
            <a:ext cx="3840480" cy="164592"/>
          </a:xfrm>
          <a:prstGeom prst="rect">
            <a:avLst/>
          </a:prstGeom>
          <a:noFill/>
          <a:ln/>
        </p:spPr>
        <p:txBody>
          <a:bodyPr wrap="square" lIns="762" tIns="762" rIns="762" bIns="762" rtlCol="0" anchor="t">
            <a:normAutofit/>
          </a:bodyPr>
          <a:lstStyle/>
          <a:p>
            <a:pPr algn="l" indent="0" marL="0">
              <a:buNone/>
            </a:pPr>
            <a:r>
              <a:rPr lang="en-US" sz="850" dirty="0">
                <a:solidFill>
                  <a:srgbClr val="525252"/>
                </a:solidFill>
                <a:latin typeface="Arial" pitchFamily="34" charset="0"/>
                <a:ea typeface="Arial" pitchFamily="34" charset="-122"/>
                <a:cs typeface="Arial" pitchFamily="34" charset="-120"/>
              </a:rPr>
              <a:t>Core-to-Mod | Value 360 alignment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proposition vs BVA</dc:title>
  <dc:subject>Value 360 readout for Rolando</dc:subject>
  <dc:creator>OpenAI</dc:creator>
  <cp:lastModifiedBy>OpenAI</cp:lastModifiedBy>
  <cp:revision>1</cp:revision>
  <dcterms:created xsi:type="dcterms:W3CDTF">2026-06-04T16:10:37Z</dcterms:created>
  <dcterms:modified xsi:type="dcterms:W3CDTF">2026-06-04T16:10:37Z</dcterms:modified>
</cp:coreProperties>
</file>