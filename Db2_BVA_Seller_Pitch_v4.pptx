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1"/>
  </p:notesMasterIdLst>
  <p:sldIdLst>
    <p:sldId id="2142532839" r:id="rId3"/>
    <p:sldId id="256" r:id="rId4"/>
    <p:sldId id="257" r:id="rId5"/>
    <p:sldId id="258" r:id="rId6"/>
    <p:sldId id="259" r:id="rId7"/>
    <p:sldId id="260" r:id="rId8"/>
    <p:sldId id="264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83904"/>
  </p:normalViewPr>
  <p:slideViewPr>
    <p:cSldViewPr snapToGrid="0" snapToObjects="1">
      <p:cViewPr varScale="1">
        <p:scale>
          <a:sx n="105" d="100"/>
          <a:sy n="105" d="100"/>
        </p:scale>
        <p:origin x="1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91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58566-E6C3-F0B8-E31B-EF0EB9413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2958A-207B-B04A-B69D-6EC7ABA1F4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CCD63-19DC-928B-8C73-8B36913D27D0}"/>
              </a:ext>
            </a:extLst>
          </p:cNvPr>
          <p:cNvSpPr txBox="1"/>
          <p:nvPr/>
        </p:nvSpPr>
        <p:spPr>
          <a:xfrm>
            <a:off x="6300216" y="8705088"/>
            <a:ext cx="3383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1829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CD47E9F-2FC5-BD48-B736-F08E6A241290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1829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itchFamily="34"/>
              <a:ea typeface="IBM Plex Sans Light" pitchFamily="34"/>
              <a:cs typeface="IBM Plex Sans Light" pitchFamily="34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FA7B2-9A8B-62C1-26F8-1A4073747524}"/>
              </a:ext>
            </a:extLst>
          </p:cNvPr>
          <p:cNvSpPr txBox="1"/>
          <p:nvPr/>
        </p:nvSpPr>
        <p:spPr>
          <a:xfrm>
            <a:off x="219456" y="8705088"/>
            <a:ext cx="36576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1829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itchFamily="34"/>
                <a:ea typeface="IBM Plex Sans Light" pitchFamily="34"/>
                <a:cs typeface="IBM Plex Sans Light" pitchFamily="34"/>
              </a:rPr>
              <a:t>Group Name / DOC ID / Month XX, 2022 / © 2022 IBM Corporation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97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9158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97588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50731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8152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63" y="6239574"/>
            <a:ext cx="5518504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06271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5750"/>
            <a:ext cx="5520847" cy="628933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78746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56000"/>
            <a:ext cx="5049180" cy="457358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0847" cy="629012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3285989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210502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506" y="287338"/>
            <a:ext cx="2476178" cy="5808659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7337"/>
            <a:ext cx="2470622" cy="5810250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9334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133191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85928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4800"/>
            <a:ext cx="8569797" cy="4416425"/>
          </a:xfrm>
        </p:spPr>
        <p:txBody>
          <a:bodyPr/>
          <a:lstStyle>
            <a:lvl1pPr>
              <a:defRPr sz="83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2985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4953942" cy="210483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9168" y="192024"/>
            <a:ext cx="5520318" cy="438924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15653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1416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63" y="154800"/>
            <a:ext cx="7323771" cy="5178133"/>
          </a:xfrm>
        </p:spPr>
        <p:txBody>
          <a:bodyPr/>
          <a:lstStyle>
            <a:lvl1pPr>
              <a:lnSpc>
                <a:spcPct val="100000"/>
              </a:lnSpc>
              <a:defRPr sz="4199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69055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288036"/>
            <a:ext cx="3811091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62" y="4814111"/>
            <a:ext cx="5524575" cy="167653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284956"/>
            <a:ext cx="0" cy="581263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36"/>
            <a:ext cx="3809504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9168" y="4814111"/>
            <a:ext cx="5523781" cy="1677147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849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9168" y="192600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167327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4904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38857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97238"/>
            <a:ext cx="5522257" cy="267004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63" y="154800"/>
            <a:ext cx="2474590" cy="2667793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154800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8887" y="3048866"/>
            <a:ext cx="1161581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962" y="3297238"/>
            <a:ext cx="2473130" cy="267004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09947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024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6449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287588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478911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562985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570413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763323"/>
            <a:ext cx="2475383" cy="1334265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835205"/>
            <a:ext cx="3809504" cy="126238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0281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73547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903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522413"/>
            <a:ext cx="0" cy="45727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9117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4679896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523999"/>
            <a:ext cx="2475384" cy="4578351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9428522" y="288036"/>
            <a:ext cx="2479352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28522" y="1524000"/>
            <a:ext cx="2479352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9981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0717" cy="2289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073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1" y="1524000"/>
            <a:ext cx="2470621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2"/>
            <a:ext cx="0" cy="58157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30626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15589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5385" cy="110063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143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745" y="1524000"/>
            <a:ext cx="5047593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64464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5049180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524000"/>
            <a:ext cx="504759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02662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2507" y="288035"/>
            <a:ext cx="2474590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35"/>
            <a:ext cx="2470622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4745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00"/>
            <a:ext cx="2476178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00"/>
            <a:ext cx="2470622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54052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2105088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41683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288036"/>
            <a:ext cx="2474591" cy="1997964"/>
          </a:xfrm>
        </p:spPr>
        <p:txBody>
          <a:bodyPr rIns="0"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0717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65683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4590" cy="21050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155529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08395"/>
            <a:ext cx="2475384" cy="4594294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9168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70285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23825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670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9168" y="419100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748677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762000"/>
            <a:ext cx="2473892" cy="1524000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0645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61936"/>
            <a:ext cx="5521401" cy="2286064"/>
          </a:xfrm>
        </p:spPr>
        <p:txBody>
          <a:bodyPr rIns="457200"/>
          <a:lstStyle>
            <a:lvl1pPr>
              <a:lnSpc>
                <a:spcPct val="11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7465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7840099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192024"/>
            <a:ext cx="5517779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0286806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774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5"/>
            <a:ext cx="2473130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2774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3336925"/>
            <a:ext cx="2473130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70219419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762000"/>
            <a:ext cx="2477701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762000"/>
            <a:ext cx="2476178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761999"/>
            <a:ext cx="2473130" cy="19995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811797"/>
            <a:ext cx="2477701" cy="19991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9168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9168" y="3811797"/>
            <a:ext cx="2477701" cy="199914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811797"/>
            <a:ext cx="2473130" cy="19991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679600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3049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52718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1650"/>
            <a:ext cx="0" cy="30559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76685161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2" y="1520825"/>
            <a:ext cx="247313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904" y="1520825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8037"/>
            <a:ext cx="5519908" cy="628580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9967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86971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5750"/>
            <a:ext cx="8567416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784529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34714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8887" y="285750"/>
            <a:ext cx="11611845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382989924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7962" y="1522412"/>
            <a:ext cx="123104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87962" y="3048000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7962" y="4570413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89168" y="1522412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89168" y="3048000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89168" y="4570413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92793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7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8000"/>
            <a:ext cx="8571384" cy="581183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03891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352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316" y="6391244"/>
            <a:ext cx="2761890" cy="212725"/>
          </a:xfrm>
        </p:spPr>
        <p:txBody>
          <a:bodyPr anchor="b" anchorCtr="0"/>
          <a:lstStyle>
            <a:lvl1pPr>
              <a:defRPr sz="800">
                <a:latin typeface="IBM Plex Sans" panose="020B0503050203000203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63" y="1522413"/>
            <a:ext cx="2471416" cy="4575175"/>
          </a:xfrm>
        </p:spPr>
        <p:txBody>
          <a:bodyPr/>
          <a:lstStyle>
            <a:lvl1pPr>
              <a:defRPr sz="14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1400" dirty="0">
                <a:latin typeface="IBM Plex Sans Light" panose="020B0403050203000203" pitchFamily="34" charset="0"/>
              </a:rPr>
              <a:t>Lorem ipsum dolor sit </a:t>
            </a:r>
            <a:r>
              <a:rPr lang="en-US" sz="1400" dirty="0" err="1">
                <a:latin typeface="IBM Plex Sans Light" panose="020B0403050203000203" pitchFamily="34" charset="0"/>
              </a:rPr>
              <a:t>amet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donec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quam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felis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ultricies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nec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pellentesque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eu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pretium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quis</a:t>
            </a:r>
            <a:r>
              <a:rPr lang="en-US" sz="1400" dirty="0">
                <a:latin typeface="IBM Plex Sans Light" panose="020B0403050203000203" pitchFamily="34" charset="0"/>
              </a:rPr>
              <a:t> sem. </a:t>
            </a:r>
            <a:r>
              <a:rPr lang="en-US" sz="1400" dirty="0" err="1">
                <a:latin typeface="IBM Plex Sans Light" panose="020B0403050203000203" pitchFamily="34" charset="0"/>
              </a:rPr>
              <a:t>Nulla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conset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massa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quis</a:t>
            </a:r>
            <a:r>
              <a:rPr lang="en-US" sz="1400" dirty="0">
                <a:latin typeface="IBM Plex Sans Light" panose="020B0403050203000203" pitchFamily="34" charset="0"/>
              </a:rPr>
              <a:t> </a:t>
            </a:r>
            <a:r>
              <a:rPr lang="en-US" sz="1400" dirty="0" err="1">
                <a:latin typeface="IBM Plex Sans Light" panose="020B0403050203000203" pitchFamily="34" charset="0"/>
              </a:rPr>
              <a:t>enim</a:t>
            </a:r>
            <a:r>
              <a:rPr lang="en-US" sz="14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6129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0109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071688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9168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028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94571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46156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2528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US FSM / </a:t>
            </a:r>
            <a:r>
              <a:rPr lang="en-US"/>
              <a:t>© 2025 </a:t>
            </a:r>
            <a:r>
              <a:rPr lang="en-US" dirty="0"/>
              <a:t>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631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093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(with page contents)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8231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68105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68105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388D167-72F5-AA40-A006-12E39FB42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94" y="6406303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0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2024 IBM Corporation Business partner Assets | Dec 2024 | IBM Confidential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F662BDA-B0C4-474D-968F-271052401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0327" y="6455872"/>
            <a:ext cx="136789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560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2850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2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US FSM / </a:t>
            </a:r>
            <a:r>
              <a:rPr lang="en-US"/>
              <a:t>© 2025 </a:t>
            </a:r>
            <a:r>
              <a:rPr lang="en-US" dirty="0"/>
              <a:t>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519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1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8/28/26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7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14598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CBCED9-574A-685C-C54E-E063710F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DC8A-1DFF-5A41-A9DF-A7A498A8BC3F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EB5E3-5FB2-5879-9C88-A190FA30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3FBF9-4B99-1393-5B1F-AB1909E0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47C40-872D-F942-88C3-327D8A0F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803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4675633" cy="9906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87C5F-6A61-4864-9518-A5514F3191A0}" type="datetime1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746247"/>
            <a:ext cx="4675632" cy="350215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2503" y="1371600"/>
            <a:ext cx="586989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414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6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6.xml"/><Relationship Id="rId53" Type="http://schemas.openxmlformats.org/officeDocument/2006/relationships/slideLayout" Target="../slideLayouts/slideLayout54.xml"/><Relationship Id="rId5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9.xml"/><Relationship Id="rId56" Type="http://schemas.openxmlformats.org/officeDocument/2006/relationships/slideLayout" Target="../slideLayouts/slideLayout57.xml"/><Relationship Id="rId8" Type="http://schemas.openxmlformats.org/officeDocument/2006/relationships/slideLayout" Target="../slideLayouts/slideLayout9.xml"/><Relationship Id="rId51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Relationship Id="rId54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7585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23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699"/>
            <a:ext cx="11293592" cy="443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63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1278916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  <p:sldLayoutId id="2147483706" r:id="rId56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5" descr="Illustration of cyan arrows flowing to the upper right corner of slide">
            <a:extLst>
              <a:ext uri="{FF2B5EF4-FFF2-40B4-BE49-F238E27FC236}">
                <a16:creationId xmlns:a16="http://schemas.microsoft.com/office/drawing/2014/main" id="{7A26BA8C-2B66-639C-B127-8E9E2D96DC1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40" r="40"/>
          <a:stretch>
            <a:fillRect/>
          </a:stretch>
        </p:blipFill>
        <p:spPr>
          <a:xfrm>
            <a:off x="6380917" y="286159"/>
            <a:ext cx="5520849" cy="6288511"/>
          </a:xfrm>
          <a:solidFill>
            <a:srgbClr val="E0E0E0"/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6E169B2-8260-FFA9-E24B-87A2D3A06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234" y="156003"/>
            <a:ext cx="6090683" cy="5990273"/>
          </a:xfrm>
        </p:spPr>
        <p:txBody>
          <a:bodyPr lIns="0" tIns="0" rIns="0" bIns="0" anchor="t"/>
          <a:lstStyle/>
          <a:p>
            <a:r>
              <a:rPr lang="en-US" dirty="0">
                <a:solidFill>
                  <a:srgbClr val="0F62FE"/>
                </a:solidFill>
              </a:rPr>
              <a:t>IBM Financial Services Market</a:t>
            </a:r>
            <a:br>
              <a:rPr lang="en-US" dirty="0">
                <a:solidFill>
                  <a:srgbClr val="0F62FE"/>
                </a:solidFill>
              </a:rPr>
            </a:br>
            <a:br>
              <a:rPr lang="en-US" dirty="0">
                <a:solidFill>
                  <a:srgbClr val="0F62FE"/>
                </a:solidFill>
              </a:rPr>
            </a:br>
            <a:r>
              <a:rPr lang="en-US" sz="2999" i="1" dirty="0"/>
              <a:t>Core to Modernization Pilot Program</a:t>
            </a:r>
            <a:br>
              <a:rPr lang="en-US" sz="2999" i="1" dirty="0"/>
            </a:br>
            <a:r>
              <a:rPr lang="en-US" sz="2999" i="1" dirty="0"/>
              <a:t>FSM – Business Value Assessment Seller Enablement</a:t>
            </a:r>
            <a:br>
              <a:rPr lang="en-US" sz="2999" i="1" dirty="0"/>
            </a:br>
            <a:br>
              <a:rPr lang="en-US" sz="2999" i="1" dirty="0"/>
            </a:br>
            <a:br>
              <a:rPr lang="en-US" sz="2999" i="1" dirty="0"/>
            </a:br>
            <a:r>
              <a:rPr lang="en-US" sz="2999" i="1" dirty="0"/>
              <a:t>Prepared by:</a:t>
            </a:r>
            <a:br>
              <a:rPr lang="en-US" sz="2999" i="1" dirty="0"/>
            </a:br>
            <a:r>
              <a:rPr lang="en-US" sz="2999" i="1" dirty="0"/>
              <a:t>Monika Aggarwal</a:t>
            </a:r>
            <a:br>
              <a:rPr lang="en-US" sz="2999" i="1" dirty="0"/>
            </a:br>
            <a:r>
              <a:rPr lang="en-US" sz="2999" i="1" dirty="0"/>
              <a:t>Diana Cabrera</a:t>
            </a:r>
            <a:br>
              <a:rPr lang="en-US" sz="2999" i="1" dirty="0"/>
            </a:br>
            <a:br>
              <a:rPr lang="en-US" sz="2000" i="1" dirty="0"/>
            </a:br>
            <a:br>
              <a:rPr lang="en-US" sz="2000" i="1" dirty="0"/>
            </a:br>
            <a:br>
              <a:rPr lang="en-US" sz="2000" i="1" dirty="0"/>
            </a:br>
            <a:br>
              <a:rPr lang="en-US" sz="2999" i="1" dirty="0"/>
            </a:br>
            <a:br>
              <a:rPr lang="en-US" sz="2999" i="1" dirty="0"/>
            </a:br>
            <a:br>
              <a:rPr lang="en-US" sz="2999" i="1" dirty="0"/>
            </a:br>
            <a:br>
              <a:rPr lang="en-US" sz="2999" i="1" dirty="0"/>
            </a:br>
            <a:br>
              <a:rPr lang="en-US" sz="2999" i="1" dirty="0"/>
            </a:br>
            <a:br>
              <a:rPr lang="en-US" sz="3299" i="1" dirty="0">
                <a:latin typeface="IBM Plex Sans Light" pitchFamily="34"/>
              </a:rPr>
            </a:br>
            <a:br>
              <a:rPr lang="en-US" sz="3299" i="1" dirty="0"/>
            </a:br>
            <a:r>
              <a:rPr lang="en-US" sz="1400" i="1" dirty="0"/>
              <a:t>May 11, </a:t>
            </a:r>
            <a:r>
              <a:rPr lang="en-US" sz="1400" dirty="0"/>
              <a:t>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enablement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modernization: connect technical proof to funded value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executive seller pitch for modernization conversations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201400" cy="274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buyer question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5394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01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does this change do for my business, and is it worth funding?”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85800" y="2816352"/>
            <a:ext cx="73152" cy="987552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285292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3200400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can explain upgrade urgency and product features. The hard part is connecting Db2 modernization to a defensible business case.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85800" y="4078224"/>
            <a:ext cx="73152" cy="98755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411480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4462272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technical view as product proof. Use Value 360 to estimate the value, then refine it with client inputs.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5340096"/>
            <a:ext cx="73152" cy="74980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" y="537667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" y="572414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meeting that is credible, business-driven, and simple enough to earn the next working session.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492240" y="1508760"/>
            <a:ext cx="4937760" cy="4553712"/>
          </a:xfrm>
          <a:prstGeom prst="roundRect">
            <a:avLst>
              <a:gd name="adj" fmla="val 1606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1783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move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359152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42048" y="2340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with Why Change, Why Now, Why IBM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6812280" y="3127248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42048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modernization motion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6812280" y="3895344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42048" y="38770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technical view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6812280" y="4663440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42048" y="4645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Value 360 for the BVA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6812280" y="53583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DA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lead with the tool. Lead with the client problem.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modernization seller pitch | v4 | 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enablement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three whys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three whys to anchor the conversation before showing architecture or BVA outputs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201400" cy="274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429000" cy="109728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7373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Change?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32104" y="2139696"/>
            <a:ext cx="313639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Db2 environments create support risk, operational friction, delayed AI readiness, and avoidable upgrade pressure.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429000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35424" y="17373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35424" y="2139696"/>
            <a:ext cx="313639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Renewals, platform moves, skills pressure, resilience expectations, and AI initiatives are already forcing decisions.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92440" y="1554480"/>
            <a:ext cx="3429000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38744" y="17373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IBM?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238744" y="2139696"/>
            <a:ext cx="313639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can connect the modernization path, Db2 capabilities, technical proof, and Value 360 BVA into one defensible story.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14400" y="3977640"/>
            <a:ext cx="10424160" cy="1225296"/>
          </a:xfrm>
          <a:prstGeom prst="roundRect">
            <a:avLst>
              <a:gd name="adj" fmla="val 3731"/>
            </a:avLst>
          </a:prstGeom>
          <a:solidFill>
            <a:srgbClr val="EDF5FF"/>
          </a:solidFill>
          <a:ln w="10160">
            <a:solidFill>
              <a:srgbClr val="BA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4187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1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498848"/>
            <a:ext cx="9646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“Based on similar environments and approved benchmarks, these are the areas where clients typically see value. To calculate the value for your environment, we would validate the inputs with you.”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55321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from rehearsal: Start with the why narrative. Then use the architecture view. Then show the Value 360 output as a starting point, not a finished client answer.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modernization seller pitch | v4 | 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enablement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modernization motion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first meeting focused. Do not walk the client through every possible path.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201400" cy="274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2514600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8308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Vitality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40664" y="2185416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current, supported, secure, and ready for newer Db2 capabilities.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514600" cy="109728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83864" y="178308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483864" y="2185416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to a standardized Kubernetes operating model with repeatable deployment patterns.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2514600" cy="109728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27064" y="178308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/ Managed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227064" y="2185416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Shifting operational responsibility for infrastructure, upgrades, HA, DR, and backup.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823960" y="160020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23960" y="1600200"/>
            <a:ext cx="2514600" cy="109728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70264" y="178308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Tradeup / Expansion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970264" y="2185416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Db2 with AI Edition, vector support, autonomous operations, and broader data use cases.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22960" y="3794760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2416" y="391363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rule: Work with the account team and CSE to select the motion before the meeting. The goal is a focused discussion, not a tour of every possible plan.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6263640" y="3794760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39502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01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ask: “Can we validate if this is the right path, then use your inputs to build the business case?”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A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making modernization feel like a large rip-and-replace program.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modernization seller pitch | v4 | 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enablement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view = product proof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technical view to explain what changes. Do not use it as the value calculation.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201400" cy="274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db2_crops/motion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658368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818888"/>
            <a:ext cx="658368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9651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shown: Containerization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526694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technical view to show current state, target state, and enabled Db2 capabilities.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543800" y="1481328"/>
            <a:ext cx="4069080" cy="3749040"/>
          </a:xfrm>
          <a:prstGeom prst="roundRect">
            <a:avLst>
              <a:gd name="adj" fmla="val 1220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90688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talk track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90688" y="21579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1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view shows the technical change and the Db2 capabilities enabled by the move.”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90688" y="2999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confirm: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73568" y="3337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current-state pattern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target-state direction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capability gaps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operating model change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7790688" y="4626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move to Value 360 for the value estimate.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" y="5916168"/>
            <a:ext cx="1097280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602589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generic benefit text on the technical slide is not the BVA. It is only a prompt for the Value 360 model.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modernization seller pitch | v4 | 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enablement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360 = the client-specific value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informed benchmarks. Refine with client data. Build the BVA output.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201400" cy="274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47472" cy="347472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informed baseline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07008" y="20116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 benchmarks and product-backed assumptions to show where value may appear.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86200" y="1709928"/>
            <a:ext cx="530352" cy="219456"/>
          </a:xfrm>
          <a:prstGeom prst="rightArrow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347472" cy="347472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84064" y="16002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client inputs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84064" y="20116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data on environments, costs, DBA effort, downtime, provisioning time, and operating priorities.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18120" y="1709928"/>
            <a:ext cx="530352" cy="219456"/>
          </a:xfrm>
          <a:prstGeom prst="rightArrow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1600200"/>
            <a:ext cx="347472" cy="347472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15984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BVA output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15984" y="2011680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model to produce quantified benefits, strategic objectives, estimated impact, cost of delay, and next-step discussion.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4892040" cy="1280160"/>
          </a:xfrm>
          <a:prstGeom prst="roundRect">
            <a:avLst>
              <a:gd name="adj" fmla="val 3571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sellers should say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051560" y="44622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01D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“These are starting assumptions. The client-specific value depends on your environment and operating data.”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355080" y="3886200"/>
            <a:ext cx="4892040" cy="1280160"/>
          </a:xfrm>
          <a:prstGeom prst="roundRect">
            <a:avLst>
              <a:gd name="adj" fmla="val 3571"/>
            </a:avLst>
          </a:prstGeom>
          <a:solidFill>
            <a:srgbClr val="FFF1F1"/>
          </a:solidFill>
          <a:ln w="10160">
            <a:solidFill>
              <a:srgbClr val="FC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sellers should not do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A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present benchmark assumptions or generic benefit labels as confirmed client value.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806440"/>
            <a:ext cx="1042416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5916168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360 provides the business case engine. The technical view provides product proof. Client data makes the BVA real.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modernization seller pitch | v4 | 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Value360 in ISC: App Runtime seller journey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56032" y="5852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WAS / Java modernization example: discovery to quantified BVA output</a:t>
            </a:r>
            <a:endParaRPr kumimoji="0" lang="en-US" sz="13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11722608" cy="274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019288" cy="47365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" y="1307592"/>
            <a:ext cx="7699248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Image 0" descr="/mnt/data/was_java_value360_seller_flow_transcript_v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35024"/>
            <a:ext cx="7635240" cy="42793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23376" y="1152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Seller flow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15179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guided view of how sellers move from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qualitative framing to quantified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705088" y="2167128"/>
            <a:ext cx="2441448" cy="768096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0160">
            <a:solidFill>
              <a:srgbClr val="DDE1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23960" y="2322576"/>
            <a:ext cx="384048" cy="384048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823960" y="24048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363456" y="231343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363456" y="25786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Change / Why Now / Why IBM</a:t>
            </a:r>
            <a:endParaRPr kumimoji="0" lang="en-US" sz="8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705088" y="3044952"/>
            <a:ext cx="2441448" cy="768096"/>
          </a:xfrm>
          <a:prstGeom prst="roundRect">
            <a:avLst>
              <a:gd name="adj" fmla="val 7143"/>
            </a:avLst>
          </a:prstGeom>
          <a:solidFill>
            <a:srgbClr val="E5F6F6"/>
          </a:solidFill>
          <a:ln w="10160">
            <a:solidFill>
              <a:srgbClr val="DDE1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823960" y="3200400"/>
            <a:ext cx="384048" cy="384048"/>
          </a:xfrm>
          <a:prstGeom prst="ellipse">
            <a:avLst/>
          </a:prstGeom>
          <a:solidFill>
            <a:srgbClr val="009D9A"/>
          </a:solidFill>
          <a:ln w="12700">
            <a:solidFill>
              <a:srgbClr val="009D9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823960" y="3282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363456" y="31912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1" i="0" u="none" strike="noStrike" kern="1200" cap="none" spc="0" normalizeH="0" baseline="0" noProof="0" dirty="0">
                <a:ln>
                  <a:noFill/>
                </a:ln>
                <a:solidFill>
                  <a:srgbClr val="009D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363456" y="34564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Select modernization motion and</a:t>
            </a:r>
            <a:endParaRPr kumimoji="0" lang="en-US" sz="8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kumimoji="0" lang="en-US" sz="8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705088" y="3922776"/>
            <a:ext cx="2441448" cy="768096"/>
          </a:xfrm>
          <a:prstGeom prst="roundRect">
            <a:avLst>
              <a:gd name="adj" fmla="val 7143"/>
            </a:avLst>
          </a:prstGeom>
          <a:solidFill>
            <a:srgbClr val="F4F0FF"/>
          </a:solidFill>
          <a:ln w="10160">
            <a:solidFill>
              <a:srgbClr val="DDE1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823960" y="4078224"/>
            <a:ext cx="384048" cy="384048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823960" y="41605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363456" y="406908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1" i="0" u="none" strike="noStrike" kern="1200" cap="none" spc="0" normalizeH="0" baseline="0" noProof="0" dirty="0">
                <a:ln>
                  <a:noFill/>
                </a:ln>
                <a:solidFill>
                  <a:srgbClr val="8A3F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363456" y="43342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Enter client inputs and benchmarks</a:t>
            </a:r>
            <a:endParaRPr kumimoji="0" lang="en-US" sz="8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705088" y="4800600"/>
            <a:ext cx="2441448" cy="768096"/>
          </a:xfrm>
          <a:prstGeom prst="roundRect">
            <a:avLst>
              <a:gd name="adj" fmla="val 7143"/>
            </a:avLst>
          </a:prstGeom>
          <a:solidFill>
            <a:srgbClr val="DEFBE6"/>
          </a:solidFill>
          <a:ln w="10160">
            <a:solidFill>
              <a:srgbClr val="DDE1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823960" y="4956048"/>
            <a:ext cx="384048" cy="384048"/>
          </a:xfrm>
          <a:prstGeom prst="ellipse">
            <a:avLst/>
          </a:prstGeom>
          <a:solidFill>
            <a:srgbClr val="198038"/>
          </a:solidFill>
          <a:ln w="12700">
            <a:solidFill>
              <a:srgbClr val="1980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823960" y="50383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363456" y="494690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1" i="0" u="none" strike="noStrike" kern="1200" cap="none" spc="0" normalizeH="0" baseline="0" noProof="0" dirty="0">
                <a:ln>
                  <a:noFill/>
                </a:ln>
                <a:solidFill>
                  <a:srgbClr val="19803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363456" y="5212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Show benefits and cost of inaction</a:t>
            </a:r>
            <a:endParaRPr kumimoji="0" lang="en-US" sz="8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705088" y="5687568"/>
            <a:ext cx="244144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7620">
            <a:solidFill>
              <a:srgbClr val="DDE1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833104" y="5769864"/>
            <a:ext cx="2194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GM framing: high-level seller journey. Detailed motion scope is handled after the review.</a:t>
            </a:r>
            <a:endParaRPr kumimoji="0" lang="en-US" sz="7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65760" y="6071616"/>
            <a:ext cx="11384280" cy="585216"/>
          </a:xfrm>
          <a:prstGeom prst="roundRect">
            <a:avLst>
              <a:gd name="adj" fmla="val 7813"/>
            </a:avLst>
          </a:prstGeom>
          <a:solidFill>
            <a:srgbClr val="F2F6FF"/>
          </a:solidFill>
          <a:ln w="12700">
            <a:solidFill>
              <a:srgbClr val="B9D3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85216" y="6254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Seller access path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176272" y="6254496"/>
            <a:ext cx="6931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ISC → Business Cases → Product modernization BVA template → Discovery → Business Outcomes → Outputs</a:t>
            </a:r>
            <a:endParaRPr kumimoji="0" lang="en-US" sz="1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0012680" y="61813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Client value is finalized after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inputs are validated.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enablement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seller pitch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to close the architecture. The goal is to earn the next working session.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201400" cy="274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2176272" cy="20574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2176272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min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04672" y="2185416"/>
            <a:ext cx="18836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with the three whys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change, why now, why IBM. Anchor on the client issue.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926080" y="1600200"/>
            <a:ext cx="2176272" cy="20574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0" y="1600200"/>
            <a:ext cx="2176272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72384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 min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072384" y="2185416"/>
            <a:ext cx="18836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motion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relevant modernization path with ATL, CSE, and client context.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193792" y="1600200"/>
            <a:ext cx="2176272" cy="20574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93792" y="1600200"/>
            <a:ext cx="2176272" cy="109728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0096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min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340096" y="2185416"/>
            <a:ext cx="18836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technical view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current state, target state, and product capabilities.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461504" y="1600200"/>
            <a:ext cx="2176272" cy="20574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61504" y="1600200"/>
            <a:ext cx="2176272" cy="109728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0780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min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607808" y="2185416"/>
            <a:ext cx="18836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potential value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Value 360 benchmarks and assumptions as a starting point.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729216" y="1600200"/>
            <a:ext cx="2176272" cy="20574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29216" y="1600200"/>
            <a:ext cx="2176272" cy="109728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 min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875520" y="2185416"/>
            <a:ext cx="18836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next step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target state, collect BVA inputs, or schedule a deeper session.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0120" y="4434840"/>
            <a:ext cx="10241280" cy="1005840"/>
          </a:xfrm>
          <a:prstGeom prst="roundRect">
            <a:avLst>
              <a:gd name="adj" fmla="val 4545"/>
            </a:avLst>
          </a:prstGeom>
          <a:solidFill>
            <a:srgbClr val="EDF5FF"/>
          </a:solidFill>
          <a:ln w="10160">
            <a:solidFill>
              <a:srgbClr val="BA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07008" y="4572000"/>
            <a:ext cx="9555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close: “Can we validate the target-state view and the assumptions, then build a client-specific BVA so you can see what this could be worth for your environment?”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960120" y="5797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for: Target-state validation  •  BVA inputs  •  technical + value working session  •  controlled pilot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modernization seller pitch | v4 |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F04CA754-BE2C-4040-86D4-DB285EA1B18A}" vid="{1A6545FA-9223-B648-866A-185DFA4B43D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1139</Words>
  <Application>Microsoft Macintosh PowerPoint</Application>
  <PresentationFormat>Widescreen</PresentationFormat>
  <Paragraphs>139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IBM Plex Sans</vt:lpstr>
      <vt:lpstr>IBM Plex Sans ExtLt</vt:lpstr>
      <vt:lpstr>IBM Plex Sans Light</vt:lpstr>
      <vt:lpstr>Office Theme</vt:lpstr>
      <vt:lpstr>IBM presentation template</vt:lpstr>
      <vt:lpstr>IBM Financial Services Market  Core to Modernization Pilot Program FSM – Business Value Assessment Seller Enablement   Prepared by: Monika Aggarwal Diana Cabrera           May 11,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Db2 BVA Seller Pitch v4</dc:title>
  <dc:subject>Db2 BVA Seller Pitch v4</dc:subject>
  <dc:creator>OpenAI</dc:creator>
  <cp:lastModifiedBy>Monika Aggarwal</cp:lastModifiedBy>
  <cp:revision>6</cp:revision>
  <dcterms:created xsi:type="dcterms:W3CDTF">2026-07-16T18:44:55Z</dcterms:created>
  <dcterms:modified xsi:type="dcterms:W3CDTF">2026-08-28T22:13:42Z</dcterms:modified>
</cp:coreProperties>
</file>