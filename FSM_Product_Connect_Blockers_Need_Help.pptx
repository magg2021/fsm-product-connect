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0116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25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FSM Product Connect | Blockers - Need Help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84048" y="6766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support needed to remove friction and maintain momentum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89904" y="1161288"/>
            <a:ext cx="0" cy="4681728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3657600"/>
            <a:ext cx="11411712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1252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blockers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60120" y="164592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78765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7824" y="17007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BVE pushback:</a:t>
            </a:r>
            <a:pPr indent="0" marL="0">
              <a:buNone/>
            </a:pPr>
            <a:r>
              <a:rPr lang="en-US" sz="104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PMs view the template as too heavy, slowing progress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640080" y="213512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Marketing support gap:</a:t>
            </a:r>
            <a:pPr indent="0" marL="0">
              <a:buNone/>
            </a:pPr>
            <a:r>
              <a:rPr lang="en-US" sz="104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client-facing events need stronger marketing partnership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640080" y="258318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496312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Ritika portfolio support gap:</a:t>
            </a:r>
            <a:pPr indent="0" marL="0">
              <a:buNone/>
            </a:pPr>
            <a:r>
              <a:rPr lang="en-US" sz="104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limited executive engagement for PA and watsonx.data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640080" y="3058668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297180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4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PM field bandwidth:</a:t>
            </a:r>
            <a:pPr indent="0" marL="0">
              <a:buNone/>
            </a:pPr>
            <a:r>
              <a:rPr lang="en-US" sz="104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Product teams are stretched across field requests and priority accounts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40080" y="34335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346704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b="1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architecture inconsistency:</a:t>
            </a:r>
            <a:pPr indent="0" marL="0">
              <a:buNone/>
            </a:pPr>
            <a:r>
              <a:rPr lang="en-US" sz="9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multiple formats; no standard current-to-target pattern</a:t>
            </a:r>
            <a:endParaRPr lang="en-US" sz="960" dirty="0"/>
          </a:p>
        </p:txBody>
      </p:sp>
      <p:sp>
        <p:nvSpPr>
          <p:cNvPr id="19" name="Text 17"/>
          <p:cNvSpPr/>
          <p:nvPr/>
        </p:nvSpPr>
        <p:spPr>
          <a:xfrm>
            <a:off x="644652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949440" y="1252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949440" y="164592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29400" y="18333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174650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Slows time to decision and account momentum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6629400" y="2208276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67144" y="212140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Keeps teams reactive instead of proactive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6629400" y="258318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67144" y="24963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confusion on ownership and engagement model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6629400" y="295808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67144" y="2871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Weakens modernization credibility with clients</a:t>
            </a:r>
            <a:endParaRPr lang="en-US" sz="1060" dirty="0"/>
          </a:p>
        </p:txBody>
      </p:sp>
      <p:sp>
        <p:nvSpPr>
          <p:cNvPr id="30" name="Text 28"/>
          <p:cNvSpPr/>
          <p:nvPr/>
        </p:nvSpPr>
        <p:spPr>
          <a:xfrm>
            <a:off x="45720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👥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96012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Help needed now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60120" y="425196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4402836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" y="43159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BVE ask to a minimum viable input set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640080" y="473202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77824" y="4645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marketing sponsorship for client-facing events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640080" y="506120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7824" y="497433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executive sponsorship for PA and watsonx.data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640080" y="5390388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77824" y="53035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minimum cadence for PM engagement with field teams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640080" y="57195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" y="56327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Endorse one standard reference architecture model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6446520" y="3813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900" dirty="0"/>
          </a:p>
        </p:txBody>
      </p:sp>
      <p:sp>
        <p:nvSpPr>
          <p:cNvPr id="44" name="Text 42"/>
          <p:cNvSpPr/>
          <p:nvPr/>
        </p:nvSpPr>
        <p:spPr>
          <a:xfrm>
            <a:off x="6949440" y="385876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B25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path</a:t>
            </a:r>
            <a:endParaRPr lang="en-US" sz="1700" dirty="0"/>
          </a:p>
        </p:txBody>
      </p:sp>
      <p:sp>
        <p:nvSpPr>
          <p:cNvPr id="45" name="Shape 43"/>
          <p:cNvSpPr/>
          <p:nvPr/>
        </p:nvSpPr>
        <p:spPr>
          <a:xfrm>
            <a:off x="6949440" y="4251960"/>
            <a:ext cx="4480560" cy="0"/>
          </a:xfrm>
          <a:prstGeom prst="line">
            <a:avLst/>
          </a:prstGeom>
          <a:noFill/>
          <a:ln w="12700">
            <a:solidFill>
              <a:srgbClr val="D0D7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9400" y="4402836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67144" y="4315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CSEs capture current state architecture</a:t>
            </a:r>
            <a:endParaRPr lang="en-US" sz="1060" dirty="0"/>
          </a:p>
        </p:txBody>
      </p:sp>
      <p:sp>
        <p:nvSpPr>
          <p:cNvPr id="48" name="Shape 46"/>
          <p:cNvSpPr/>
          <p:nvPr/>
        </p:nvSpPr>
        <p:spPr>
          <a:xfrm>
            <a:off x="6629400" y="4732020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67144" y="464515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+ ATL map target state architecture</a:t>
            </a:r>
            <a:endParaRPr lang="en-US" sz="1060" dirty="0"/>
          </a:p>
        </p:txBody>
      </p:sp>
      <p:sp>
        <p:nvSpPr>
          <p:cNvPr id="50" name="Shape 48"/>
          <p:cNvSpPr/>
          <p:nvPr/>
        </p:nvSpPr>
        <p:spPr>
          <a:xfrm>
            <a:off x="6629400" y="5061204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497433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one template per product</a:t>
            </a:r>
            <a:endParaRPr lang="en-US" sz="1060" dirty="0"/>
          </a:p>
        </p:txBody>
      </p:sp>
      <p:sp>
        <p:nvSpPr>
          <p:cNvPr id="52" name="Shape 50"/>
          <p:cNvSpPr/>
          <p:nvPr/>
        </p:nvSpPr>
        <p:spPr>
          <a:xfrm>
            <a:off x="6629400" y="5390388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67144" y="53035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blockers biweekly in Product Connect / DRB</a:t>
            </a:r>
            <a:endParaRPr lang="en-US" sz="1060" dirty="0"/>
          </a:p>
        </p:txBody>
      </p:sp>
      <p:sp>
        <p:nvSpPr>
          <p:cNvPr id="54" name="Shape 52"/>
          <p:cNvSpPr/>
          <p:nvPr/>
        </p:nvSpPr>
        <p:spPr>
          <a:xfrm>
            <a:off x="6629400" y="5719572"/>
            <a:ext cx="50292" cy="50292"/>
          </a:xfrm>
          <a:prstGeom prst="ellipse">
            <a:avLst/>
          </a:prstGeom>
          <a:solidFill>
            <a:srgbClr val="0F62FE"/>
          </a:solidFill>
          <a:ln w="12700">
            <a:solidFill>
              <a:srgbClr val="0F62FE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67144" y="5632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6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highest-priority products and 2–3 accounts</a:t>
            </a:r>
            <a:endParaRPr lang="en-US" sz="1060" dirty="0"/>
          </a:p>
        </p:txBody>
      </p:sp>
      <p:sp>
        <p:nvSpPr>
          <p:cNvPr id="56" name="Shape 54"/>
          <p:cNvSpPr/>
          <p:nvPr/>
        </p:nvSpPr>
        <p:spPr>
          <a:xfrm>
            <a:off x="384048" y="6245352"/>
            <a:ext cx="11411712" cy="420624"/>
          </a:xfrm>
          <a:prstGeom prst="roundRect">
            <a:avLst>
              <a:gd name="adj" fmla="val 17391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40864" y="63185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58" name="Text 56"/>
          <p:cNvSpPr/>
          <p:nvPr/>
        </p:nvSpPr>
        <p:spPr>
          <a:xfrm>
            <a:off x="2697480" y="632764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0B2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required: </a:t>
            </a:r>
            <a:pPr indent="0" marL="0">
              <a:buNone/>
            </a:pPr>
            <a:r>
              <a:rPr lang="en-US" sz="1340" dirty="0">
                <a:solidFill>
                  <a:srgbClr val="0B2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owners, engagement cadence, and executive sponsorship</a:t>
            </a:r>
            <a:endParaRPr lang="en-US" sz="13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FSM Product Connect | Blockers - Need Help</dc:title>
  <dc:subject>Executive blockers requiring support</dc:subject>
  <dc:creator>OpenAI</dc:creator>
  <cp:lastModifiedBy>OpenAI</cp:lastModifiedBy>
  <cp:revision>1</cp:revision>
  <dcterms:created xsi:type="dcterms:W3CDTF">2026-04-24T04:37:16Z</dcterms:created>
  <dcterms:modified xsi:type="dcterms:W3CDTF">2026-04-24T04:37:16Z</dcterms:modified>
</cp:coreProperties>
</file>