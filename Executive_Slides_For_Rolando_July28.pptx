
<file path=[Content_Types].xml><?xml version="1.0" encoding="utf-8"?>
<Types xmlns="http://schemas.openxmlformats.org/package/2006/content-types">
  <Default Extension="gif" ContentType="image/gi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9" r:id="rId2"/>
    <p:sldId id="260" r:id="rId3"/>
    <p:sldId id="264" r:id="rId4"/>
    <p:sldId id="266" r:id="rId5"/>
    <p:sldId id="265" r:id="rId6"/>
    <p:sldId id="256"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E4ABBB-B3DD-4E55-8735-6EFF518BE5AE}" v="108" dt="2026-07-29T19:47:55.900"/>
    <p1510:client id="{7B359CA3-F8DA-4FEE-80B5-DFD7A220D5C1}" v="179" dt="2026-07-29T19:29:08.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35"/>
    <p:restoredTop sz="91986"/>
  </p:normalViewPr>
  <p:slideViewPr>
    <p:cSldViewPr snapToGrid="0" snapToObjects="1">
      <p:cViewPr varScale="1">
        <p:scale>
          <a:sx n="116" d="100"/>
          <a:sy n="116" d="100"/>
        </p:scale>
        <p:origin x="111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lando Franco" userId="4l9nrPt3eBSKL9/kzsxZ7ddf4ZoNvPqKc+ik9m9T3HE=" providerId="None" clId="Web-{7B359CA3-F8DA-4FEE-80B5-DFD7A220D5C1}"/>
    <pc:docChg chg="addSld modSld sldOrd">
      <pc:chgData name="Rolando Franco" userId="4l9nrPt3eBSKL9/kzsxZ7ddf4ZoNvPqKc+ik9m9T3HE=" providerId="None" clId="Web-{7B359CA3-F8DA-4FEE-80B5-DFD7A220D5C1}" dt="2026-07-29T19:29:06.978" v="172" actId="20577"/>
      <pc:docMkLst>
        <pc:docMk/>
      </pc:docMkLst>
      <pc:sldChg chg="addSp delSp modSp">
        <pc:chgData name="Rolando Franco" userId="4l9nrPt3eBSKL9/kzsxZ7ddf4ZoNvPqKc+ik9m9T3HE=" providerId="None" clId="Web-{7B359CA3-F8DA-4FEE-80B5-DFD7A220D5C1}" dt="2026-07-29T19:29:06.978" v="172" actId="20577"/>
        <pc:sldMkLst>
          <pc:docMk/>
          <pc:sldMk cId="0" sldId="259"/>
        </pc:sldMkLst>
        <pc:spChg chg="mod">
          <ac:chgData name="Rolando Franco" userId="4l9nrPt3eBSKL9/kzsxZ7ddf4ZoNvPqKc+ik9m9T3HE=" providerId="None" clId="Web-{7B359CA3-F8DA-4FEE-80B5-DFD7A220D5C1}" dt="2026-07-29T19:19:44.182" v="70" actId="20577"/>
          <ac:spMkLst>
            <pc:docMk/>
            <pc:sldMk cId="0" sldId="259"/>
            <ac:spMk id="3" creationId="{00000000-0000-0000-0000-000000000000}"/>
          </ac:spMkLst>
        </pc:spChg>
        <pc:spChg chg="del">
          <ac:chgData name="Rolando Franco" userId="4l9nrPt3eBSKL9/kzsxZ7ddf4ZoNvPqKc+ik9m9T3HE=" providerId="None" clId="Web-{7B359CA3-F8DA-4FEE-80B5-DFD7A220D5C1}" dt="2026-07-29T19:19:09.636" v="13"/>
          <ac:spMkLst>
            <pc:docMk/>
            <pc:sldMk cId="0" sldId="259"/>
            <ac:spMk id="6" creationId="{00000000-0000-0000-0000-000000000000}"/>
          </ac:spMkLst>
        </pc:spChg>
        <pc:spChg chg="del">
          <ac:chgData name="Rolando Franco" userId="4l9nrPt3eBSKL9/kzsxZ7ddf4ZoNvPqKc+ik9m9T3HE=" providerId="None" clId="Web-{7B359CA3-F8DA-4FEE-80B5-DFD7A220D5C1}" dt="2026-07-29T19:19:09.636" v="12"/>
          <ac:spMkLst>
            <pc:docMk/>
            <pc:sldMk cId="0" sldId="259"/>
            <ac:spMk id="7" creationId="{00000000-0000-0000-0000-000000000000}"/>
          </ac:spMkLst>
        </pc:spChg>
        <pc:spChg chg="del">
          <ac:chgData name="Rolando Franco" userId="4l9nrPt3eBSKL9/kzsxZ7ddf4ZoNvPqKc+ik9m9T3HE=" providerId="None" clId="Web-{7B359CA3-F8DA-4FEE-80B5-DFD7A220D5C1}" dt="2026-07-29T19:19:09.636" v="11"/>
          <ac:spMkLst>
            <pc:docMk/>
            <pc:sldMk cId="0" sldId="259"/>
            <ac:spMk id="8" creationId="{00000000-0000-0000-0000-000000000000}"/>
          </ac:spMkLst>
        </pc:spChg>
        <pc:spChg chg="del">
          <ac:chgData name="Rolando Franco" userId="4l9nrPt3eBSKL9/kzsxZ7ddf4ZoNvPqKc+ik9m9T3HE=" providerId="None" clId="Web-{7B359CA3-F8DA-4FEE-80B5-DFD7A220D5C1}" dt="2026-07-29T19:19:09.636" v="10"/>
          <ac:spMkLst>
            <pc:docMk/>
            <pc:sldMk cId="0" sldId="259"/>
            <ac:spMk id="9" creationId="{00000000-0000-0000-0000-000000000000}"/>
          </ac:spMkLst>
        </pc:spChg>
        <pc:spChg chg="del">
          <ac:chgData name="Rolando Franco" userId="4l9nrPt3eBSKL9/kzsxZ7ddf4ZoNvPqKc+ik9m9T3HE=" providerId="None" clId="Web-{7B359CA3-F8DA-4FEE-80B5-DFD7A220D5C1}" dt="2026-07-29T19:19:09.636" v="9"/>
          <ac:spMkLst>
            <pc:docMk/>
            <pc:sldMk cId="0" sldId="259"/>
            <ac:spMk id="10" creationId="{00000000-0000-0000-0000-000000000000}"/>
          </ac:spMkLst>
        </pc:spChg>
        <pc:spChg chg="del">
          <ac:chgData name="Rolando Franco" userId="4l9nrPt3eBSKL9/kzsxZ7ddf4ZoNvPqKc+ik9m9T3HE=" providerId="None" clId="Web-{7B359CA3-F8DA-4FEE-80B5-DFD7A220D5C1}" dt="2026-07-29T19:19:09.636" v="8"/>
          <ac:spMkLst>
            <pc:docMk/>
            <pc:sldMk cId="0" sldId="259"/>
            <ac:spMk id="11" creationId="{00000000-0000-0000-0000-000000000000}"/>
          </ac:spMkLst>
        </pc:spChg>
        <pc:spChg chg="del">
          <ac:chgData name="Rolando Franco" userId="4l9nrPt3eBSKL9/kzsxZ7ddf4ZoNvPqKc+ik9m9T3HE=" providerId="None" clId="Web-{7B359CA3-F8DA-4FEE-80B5-DFD7A220D5C1}" dt="2026-07-29T19:19:09.636" v="7"/>
          <ac:spMkLst>
            <pc:docMk/>
            <pc:sldMk cId="0" sldId="259"/>
            <ac:spMk id="12" creationId="{00000000-0000-0000-0000-000000000000}"/>
          </ac:spMkLst>
        </pc:spChg>
        <pc:spChg chg="del">
          <ac:chgData name="Rolando Franco" userId="4l9nrPt3eBSKL9/kzsxZ7ddf4ZoNvPqKc+ik9m9T3HE=" providerId="None" clId="Web-{7B359CA3-F8DA-4FEE-80B5-DFD7A220D5C1}" dt="2026-07-29T19:19:09.636" v="6"/>
          <ac:spMkLst>
            <pc:docMk/>
            <pc:sldMk cId="0" sldId="259"/>
            <ac:spMk id="13" creationId="{00000000-0000-0000-0000-000000000000}"/>
          </ac:spMkLst>
        </pc:spChg>
        <pc:spChg chg="del">
          <ac:chgData name="Rolando Franco" userId="4l9nrPt3eBSKL9/kzsxZ7ddf4ZoNvPqKc+ik9m9T3HE=" providerId="None" clId="Web-{7B359CA3-F8DA-4FEE-80B5-DFD7A220D5C1}" dt="2026-07-29T19:19:09.636" v="5"/>
          <ac:spMkLst>
            <pc:docMk/>
            <pc:sldMk cId="0" sldId="259"/>
            <ac:spMk id="14" creationId="{00000000-0000-0000-0000-000000000000}"/>
          </ac:spMkLst>
        </pc:spChg>
        <pc:spChg chg="del">
          <ac:chgData name="Rolando Franco" userId="4l9nrPt3eBSKL9/kzsxZ7ddf4ZoNvPqKc+ik9m9T3HE=" providerId="None" clId="Web-{7B359CA3-F8DA-4FEE-80B5-DFD7A220D5C1}" dt="2026-07-29T19:19:09.636" v="4"/>
          <ac:spMkLst>
            <pc:docMk/>
            <pc:sldMk cId="0" sldId="259"/>
            <ac:spMk id="15" creationId="{00000000-0000-0000-0000-000000000000}"/>
          </ac:spMkLst>
        </pc:spChg>
        <pc:spChg chg="del">
          <ac:chgData name="Rolando Franco" userId="4l9nrPt3eBSKL9/kzsxZ7ddf4ZoNvPqKc+ik9m9T3HE=" providerId="None" clId="Web-{7B359CA3-F8DA-4FEE-80B5-DFD7A220D5C1}" dt="2026-07-29T19:19:09.636" v="3"/>
          <ac:spMkLst>
            <pc:docMk/>
            <pc:sldMk cId="0" sldId="259"/>
            <ac:spMk id="16" creationId="{00000000-0000-0000-0000-000000000000}"/>
          </ac:spMkLst>
        </pc:spChg>
        <pc:spChg chg="del">
          <ac:chgData name="Rolando Franco" userId="4l9nrPt3eBSKL9/kzsxZ7ddf4ZoNvPqKc+ik9m9T3HE=" providerId="None" clId="Web-{7B359CA3-F8DA-4FEE-80B5-DFD7A220D5C1}" dt="2026-07-29T19:19:09.636" v="2"/>
          <ac:spMkLst>
            <pc:docMk/>
            <pc:sldMk cId="0" sldId="259"/>
            <ac:spMk id="17" creationId="{00000000-0000-0000-0000-000000000000}"/>
          </ac:spMkLst>
        </pc:spChg>
        <pc:spChg chg="mod">
          <ac:chgData name="Rolando Franco" userId="4l9nrPt3eBSKL9/kzsxZ7ddf4ZoNvPqKc+ik9m9T3HE=" providerId="None" clId="Web-{7B359CA3-F8DA-4FEE-80B5-DFD7A220D5C1}" dt="2026-07-29T19:19:18.042" v="14" actId="1076"/>
          <ac:spMkLst>
            <pc:docMk/>
            <pc:sldMk cId="0" sldId="259"/>
            <ac:spMk id="18" creationId="{00000000-0000-0000-0000-000000000000}"/>
          </ac:spMkLst>
        </pc:spChg>
        <pc:spChg chg="mod">
          <ac:chgData name="Rolando Franco" userId="4l9nrPt3eBSKL9/kzsxZ7ddf4ZoNvPqKc+ik9m9T3HE=" providerId="None" clId="Web-{7B359CA3-F8DA-4FEE-80B5-DFD7A220D5C1}" dt="2026-07-29T19:19:18.058" v="15" actId="1076"/>
          <ac:spMkLst>
            <pc:docMk/>
            <pc:sldMk cId="0" sldId="259"/>
            <ac:spMk id="19" creationId="{00000000-0000-0000-0000-000000000000}"/>
          </ac:spMkLst>
        </pc:spChg>
        <pc:spChg chg="mod">
          <ac:chgData name="Rolando Franco" userId="4l9nrPt3eBSKL9/kzsxZ7ddf4ZoNvPqKc+ik9m9T3HE=" providerId="None" clId="Web-{7B359CA3-F8DA-4FEE-80B5-DFD7A220D5C1}" dt="2026-07-29T19:19:18.089" v="16" actId="1076"/>
          <ac:spMkLst>
            <pc:docMk/>
            <pc:sldMk cId="0" sldId="259"/>
            <ac:spMk id="20" creationId="{00000000-0000-0000-0000-000000000000}"/>
          </ac:spMkLst>
        </pc:spChg>
        <pc:spChg chg="mod">
          <ac:chgData name="Rolando Franco" userId="4l9nrPt3eBSKL9/kzsxZ7ddf4ZoNvPqKc+ik9m9T3HE=" providerId="None" clId="Web-{7B359CA3-F8DA-4FEE-80B5-DFD7A220D5C1}" dt="2026-07-29T19:19:18.104" v="17" actId="1076"/>
          <ac:spMkLst>
            <pc:docMk/>
            <pc:sldMk cId="0" sldId="259"/>
            <ac:spMk id="21" creationId="{00000000-0000-0000-0000-000000000000}"/>
          </ac:spMkLst>
        </pc:spChg>
        <pc:spChg chg="mod">
          <ac:chgData name="Rolando Franco" userId="4l9nrPt3eBSKL9/kzsxZ7ddf4ZoNvPqKc+ik9m9T3HE=" providerId="None" clId="Web-{7B359CA3-F8DA-4FEE-80B5-DFD7A220D5C1}" dt="2026-07-29T19:19:18.120" v="18" actId="1076"/>
          <ac:spMkLst>
            <pc:docMk/>
            <pc:sldMk cId="0" sldId="259"/>
            <ac:spMk id="22" creationId="{00000000-0000-0000-0000-000000000000}"/>
          </ac:spMkLst>
        </pc:spChg>
        <pc:spChg chg="mod">
          <ac:chgData name="Rolando Franco" userId="4l9nrPt3eBSKL9/kzsxZ7ddf4ZoNvPqKc+ik9m9T3HE=" providerId="None" clId="Web-{7B359CA3-F8DA-4FEE-80B5-DFD7A220D5C1}" dt="2026-07-29T19:19:18.151" v="19" actId="1076"/>
          <ac:spMkLst>
            <pc:docMk/>
            <pc:sldMk cId="0" sldId="259"/>
            <ac:spMk id="23" creationId="{00000000-0000-0000-0000-000000000000}"/>
          </ac:spMkLst>
        </pc:spChg>
        <pc:spChg chg="mod">
          <ac:chgData name="Rolando Franco" userId="4l9nrPt3eBSKL9/kzsxZ7ddf4ZoNvPqKc+ik9m9T3HE=" providerId="None" clId="Web-{7B359CA3-F8DA-4FEE-80B5-DFD7A220D5C1}" dt="2026-07-29T19:19:18.167" v="20" actId="1076"/>
          <ac:spMkLst>
            <pc:docMk/>
            <pc:sldMk cId="0" sldId="259"/>
            <ac:spMk id="24" creationId="{00000000-0000-0000-0000-000000000000}"/>
          </ac:spMkLst>
        </pc:spChg>
        <pc:spChg chg="mod">
          <ac:chgData name="Rolando Franco" userId="4l9nrPt3eBSKL9/kzsxZ7ddf4ZoNvPqKc+ik9m9T3HE=" providerId="None" clId="Web-{7B359CA3-F8DA-4FEE-80B5-DFD7A220D5C1}" dt="2026-07-29T19:19:18.198" v="21" actId="1076"/>
          <ac:spMkLst>
            <pc:docMk/>
            <pc:sldMk cId="0" sldId="259"/>
            <ac:spMk id="25" creationId="{00000000-0000-0000-0000-000000000000}"/>
          </ac:spMkLst>
        </pc:spChg>
        <pc:spChg chg="mod">
          <ac:chgData name="Rolando Franco" userId="4l9nrPt3eBSKL9/kzsxZ7ddf4ZoNvPqKc+ik9m9T3HE=" providerId="None" clId="Web-{7B359CA3-F8DA-4FEE-80B5-DFD7A220D5C1}" dt="2026-07-29T19:19:18.229" v="22" actId="1076"/>
          <ac:spMkLst>
            <pc:docMk/>
            <pc:sldMk cId="0" sldId="259"/>
            <ac:spMk id="26" creationId="{00000000-0000-0000-0000-000000000000}"/>
          </ac:spMkLst>
        </pc:spChg>
        <pc:spChg chg="mod">
          <ac:chgData name="Rolando Franco" userId="4l9nrPt3eBSKL9/kzsxZ7ddf4ZoNvPqKc+ik9m9T3HE=" providerId="None" clId="Web-{7B359CA3-F8DA-4FEE-80B5-DFD7A220D5C1}" dt="2026-07-29T19:19:18.245" v="23" actId="1076"/>
          <ac:spMkLst>
            <pc:docMk/>
            <pc:sldMk cId="0" sldId="259"/>
            <ac:spMk id="27" creationId="{00000000-0000-0000-0000-000000000000}"/>
          </ac:spMkLst>
        </pc:spChg>
        <pc:spChg chg="mod">
          <ac:chgData name="Rolando Franco" userId="4l9nrPt3eBSKL9/kzsxZ7ddf4ZoNvPqKc+ik9m9T3HE=" providerId="None" clId="Web-{7B359CA3-F8DA-4FEE-80B5-DFD7A220D5C1}" dt="2026-07-29T19:19:18.276" v="24" actId="1076"/>
          <ac:spMkLst>
            <pc:docMk/>
            <pc:sldMk cId="0" sldId="259"/>
            <ac:spMk id="28" creationId="{00000000-0000-0000-0000-000000000000}"/>
          </ac:spMkLst>
        </pc:spChg>
        <pc:spChg chg="mod">
          <ac:chgData name="Rolando Franco" userId="4l9nrPt3eBSKL9/kzsxZ7ddf4ZoNvPqKc+ik9m9T3HE=" providerId="None" clId="Web-{7B359CA3-F8DA-4FEE-80B5-DFD7A220D5C1}" dt="2026-07-29T19:19:18.292" v="25" actId="1076"/>
          <ac:spMkLst>
            <pc:docMk/>
            <pc:sldMk cId="0" sldId="259"/>
            <ac:spMk id="29" creationId="{00000000-0000-0000-0000-000000000000}"/>
          </ac:spMkLst>
        </pc:spChg>
        <pc:spChg chg="mod">
          <ac:chgData name="Rolando Franco" userId="4l9nrPt3eBSKL9/kzsxZ7ddf4ZoNvPqKc+ik9m9T3HE=" providerId="None" clId="Web-{7B359CA3-F8DA-4FEE-80B5-DFD7A220D5C1}" dt="2026-07-29T19:19:18.323" v="26" actId="1076"/>
          <ac:spMkLst>
            <pc:docMk/>
            <pc:sldMk cId="0" sldId="259"/>
            <ac:spMk id="30" creationId="{00000000-0000-0000-0000-000000000000}"/>
          </ac:spMkLst>
        </pc:spChg>
        <pc:spChg chg="mod">
          <ac:chgData name="Rolando Franco" userId="4l9nrPt3eBSKL9/kzsxZ7ddf4ZoNvPqKc+ik9m9T3HE=" providerId="None" clId="Web-{7B359CA3-F8DA-4FEE-80B5-DFD7A220D5C1}" dt="2026-07-29T19:19:18.339" v="27" actId="1076"/>
          <ac:spMkLst>
            <pc:docMk/>
            <pc:sldMk cId="0" sldId="259"/>
            <ac:spMk id="31" creationId="{00000000-0000-0000-0000-000000000000}"/>
          </ac:spMkLst>
        </pc:spChg>
        <pc:spChg chg="mod">
          <ac:chgData name="Rolando Franco" userId="4l9nrPt3eBSKL9/kzsxZ7ddf4ZoNvPqKc+ik9m9T3HE=" providerId="None" clId="Web-{7B359CA3-F8DA-4FEE-80B5-DFD7A220D5C1}" dt="2026-07-29T19:19:18.995" v="54" actId="1076"/>
          <ac:spMkLst>
            <pc:docMk/>
            <pc:sldMk cId="0" sldId="259"/>
            <ac:spMk id="32" creationId="{E7EAEC34-5C4B-53E3-8F9C-BC212F2A3FAE}"/>
          </ac:spMkLst>
        </pc:spChg>
        <pc:spChg chg="mod">
          <ac:chgData name="Rolando Franco" userId="4l9nrPt3eBSKL9/kzsxZ7ddf4ZoNvPqKc+ik9m9T3HE=" providerId="None" clId="Web-{7B359CA3-F8DA-4FEE-80B5-DFD7A220D5C1}" dt="2026-07-29T19:19:18.370" v="28" actId="1076"/>
          <ac:spMkLst>
            <pc:docMk/>
            <pc:sldMk cId="0" sldId="259"/>
            <ac:spMk id="33" creationId="{00000000-0000-0000-0000-000000000000}"/>
          </ac:spMkLst>
        </pc:spChg>
        <pc:spChg chg="mod">
          <ac:chgData name="Rolando Franco" userId="4l9nrPt3eBSKL9/kzsxZ7ddf4ZoNvPqKc+ik9m9T3HE=" providerId="None" clId="Web-{7B359CA3-F8DA-4FEE-80B5-DFD7A220D5C1}" dt="2026-07-29T19:19:18.401" v="29" actId="1076"/>
          <ac:spMkLst>
            <pc:docMk/>
            <pc:sldMk cId="0" sldId="259"/>
            <ac:spMk id="34" creationId="{00000000-0000-0000-0000-000000000000}"/>
          </ac:spMkLst>
        </pc:spChg>
        <pc:spChg chg="mod">
          <ac:chgData name="Rolando Franco" userId="4l9nrPt3eBSKL9/kzsxZ7ddf4ZoNvPqKc+ik9m9T3HE=" providerId="None" clId="Web-{7B359CA3-F8DA-4FEE-80B5-DFD7A220D5C1}" dt="2026-07-29T19:19:18.433" v="30" actId="1076"/>
          <ac:spMkLst>
            <pc:docMk/>
            <pc:sldMk cId="0" sldId="259"/>
            <ac:spMk id="35" creationId="{00000000-0000-0000-0000-000000000000}"/>
          </ac:spMkLst>
        </pc:spChg>
        <pc:spChg chg="mod">
          <ac:chgData name="Rolando Franco" userId="4l9nrPt3eBSKL9/kzsxZ7ddf4ZoNvPqKc+ik9m9T3HE=" providerId="None" clId="Web-{7B359CA3-F8DA-4FEE-80B5-DFD7A220D5C1}" dt="2026-07-29T19:19:18.448" v="31" actId="1076"/>
          <ac:spMkLst>
            <pc:docMk/>
            <pc:sldMk cId="0" sldId="259"/>
            <ac:spMk id="36" creationId="{00000000-0000-0000-0000-000000000000}"/>
          </ac:spMkLst>
        </pc:spChg>
        <pc:spChg chg="mod">
          <ac:chgData name="Rolando Franco" userId="4l9nrPt3eBSKL9/kzsxZ7ddf4ZoNvPqKc+ik9m9T3HE=" providerId="None" clId="Web-{7B359CA3-F8DA-4FEE-80B5-DFD7A220D5C1}" dt="2026-07-29T19:19:18.479" v="32" actId="1076"/>
          <ac:spMkLst>
            <pc:docMk/>
            <pc:sldMk cId="0" sldId="259"/>
            <ac:spMk id="37" creationId="{00000000-0000-0000-0000-000000000000}"/>
          </ac:spMkLst>
        </pc:spChg>
        <pc:spChg chg="mod">
          <ac:chgData name="Rolando Franco" userId="4l9nrPt3eBSKL9/kzsxZ7ddf4ZoNvPqKc+ik9m9T3HE=" providerId="None" clId="Web-{7B359CA3-F8DA-4FEE-80B5-DFD7A220D5C1}" dt="2026-07-29T19:19:19.026" v="55" actId="1076"/>
          <ac:spMkLst>
            <pc:docMk/>
            <pc:sldMk cId="0" sldId="259"/>
            <ac:spMk id="38" creationId="{40DD76D2-3F07-A092-C3CE-449ADBE5835F}"/>
          </ac:spMkLst>
        </pc:spChg>
        <pc:spChg chg="mod">
          <ac:chgData name="Rolando Franco" userId="4l9nrPt3eBSKL9/kzsxZ7ddf4ZoNvPqKc+ik9m9T3HE=" providerId="None" clId="Web-{7B359CA3-F8DA-4FEE-80B5-DFD7A220D5C1}" dt="2026-07-29T19:19:18.495" v="33" actId="1076"/>
          <ac:spMkLst>
            <pc:docMk/>
            <pc:sldMk cId="0" sldId="259"/>
            <ac:spMk id="39" creationId="{00000000-0000-0000-0000-000000000000}"/>
          </ac:spMkLst>
        </pc:spChg>
        <pc:spChg chg="mod">
          <ac:chgData name="Rolando Franco" userId="4l9nrPt3eBSKL9/kzsxZ7ddf4ZoNvPqKc+ik9m9T3HE=" providerId="None" clId="Web-{7B359CA3-F8DA-4FEE-80B5-DFD7A220D5C1}" dt="2026-07-29T19:19:18.526" v="34" actId="1076"/>
          <ac:spMkLst>
            <pc:docMk/>
            <pc:sldMk cId="0" sldId="259"/>
            <ac:spMk id="40" creationId="{00000000-0000-0000-0000-000000000000}"/>
          </ac:spMkLst>
        </pc:spChg>
        <pc:spChg chg="mod">
          <ac:chgData name="Rolando Franco" userId="4l9nrPt3eBSKL9/kzsxZ7ddf4ZoNvPqKc+ik9m9T3HE=" providerId="None" clId="Web-{7B359CA3-F8DA-4FEE-80B5-DFD7A220D5C1}" dt="2026-07-29T19:19:18.558" v="35" actId="1076"/>
          <ac:spMkLst>
            <pc:docMk/>
            <pc:sldMk cId="0" sldId="259"/>
            <ac:spMk id="41" creationId="{00000000-0000-0000-0000-000000000000}"/>
          </ac:spMkLst>
        </pc:spChg>
        <pc:spChg chg="mod">
          <ac:chgData name="Rolando Franco" userId="4l9nrPt3eBSKL9/kzsxZ7ddf4ZoNvPqKc+ik9m9T3HE=" providerId="None" clId="Web-{7B359CA3-F8DA-4FEE-80B5-DFD7A220D5C1}" dt="2026-07-29T19:25:40.729" v="166"/>
          <ac:spMkLst>
            <pc:docMk/>
            <pc:sldMk cId="0" sldId="259"/>
            <ac:spMk id="42" creationId="{00000000-0000-0000-0000-000000000000}"/>
          </ac:spMkLst>
        </pc:spChg>
        <pc:spChg chg="mod">
          <ac:chgData name="Rolando Franco" userId="4l9nrPt3eBSKL9/kzsxZ7ddf4ZoNvPqKc+ik9m9T3HE=" providerId="None" clId="Web-{7B359CA3-F8DA-4FEE-80B5-DFD7A220D5C1}" dt="2026-07-29T19:19:18.604" v="37" actId="1076"/>
          <ac:spMkLst>
            <pc:docMk/>
            <pc:sldMk cId="0" sldId="259"/>
            <ac:spMk id="43" creationId="{00000000-0000-0000-0000-000000000000}"/>
          </ac:spMkLst>
        </pc:spChg>
        <pc:spChg chg="mod">
          <ac:chgData name="Rolando Franco" userId="4l9nrPt3eBSKL9/kzsxZ7ddf4ZoNvPqKc+ik9m9T3HE=" providerId="None" clId="Web-{7B359CA3-F8DA-4FEE-80B5-DFD7A220D5C1}" dt="2026-07-29T19:29:06.978" v="172" actId="20577"/>
          <ac:spMkLst>
            <pc:docMk/>
            <pc:sldMk cId="0" sldId="259"/>
            <ac:spMk id="45" creationId="{00000000-0000-0000-0000-000000000000}"/>
          </ac:spMkLst>
        </pc:spChg>
        <pc:spChg chg="mod">
          <ac:chgData name="Rolando Franco" userId="4l9nrPt3eBSKL9/kzsxZ7ddf4ZoNvPqKc+ik9m9T3HE=" providerId="None" clId="Web-{7B359CA3-F8DA-4FEE-80B5-DFD7A220D5C1}" dt="2026-07-29T19:25:45.416" v="167" actId="20577"/>
          <ac:spMkLst>
            <pc:docMk/>
            <pc:sldMk cId="0" sldId="259"/>
            <ac:spMk id="46" creationId="{00000000-0000-0000-0000-000000000000}"/>
          </ac:spMkLst>
        </pc:spChg>
        <pc:spChg chg="mod">
          <ac:chgData name="Rolando Franco" userId="4l9nrPt3eBSKL9/kzsxZ7ddf4ZoNvPqKc+ik9m9T3HE=" providerId="None" clId="Web-{7B359CA3-F8DA-4FEE-80B5-DFD7A220D5C1}" dt="2026-07-29T19:28:49.510" v="171" actId="20577"/>
          <ac:spMkLst>
            <pc:docMk/>
            <pc:sldMk cId="0" sldId="259"/>
            <ac:spMk id="47" creationId="{00000000-0000-0000-0000-000000000000}"/>
          </ac:spMkLst>
        </pc:spChg>
        <pc:spChg chg="mod">
          <ac:chgData name="Rolando Franco" userId="4l9nrPt3eBSKL9/kzsxZ7ddf4ZoNvPqKc+ik9m9T3HE=" providerId="None" clId="Web-{7B359CA3-F8DA-4FEE-80B5-DFD7A220D5C1}" dt="2026-07-29T19:19:18.698" v="41" actId="1076"/>
          <ac:spMkLst>
            <pc:docMk/>
            <pc:sldMk cId="0" sldId="259"/>
            <ac:spMk id="48" creationId="{00000000-0000-0000-0000-000000000000}"/>
          </ac:spMkLst>
        </pc:spChg>
        <pc:spChg chg="mod">
          <ac:chgData name="Rolando Franco" userId="4l9nrPt3eBSKL9/kzsxZ7ddf4ZoNvPqKc+ik9m9T3HE=" providerId="None" clId="Web-{7B359CA3-F8DA-4FEE-80B5-DFD7A220D5C1}" dt="2026-07-29T19:19:18.714" v="42" actId="1076"/>
          <ac:spMkLst>
            <pc:docMk/>
            <pc:sldMk cId="0" sldId="259"/>
            <ac:spMk id="49" creationId="{00000000-0000-0000-0000-000000000000}"/>
          </ac:spMkLst>
        </pc:spChg>
        <pc:spChg chg="add mod">
          <ac:chgData name="Rolando Franco" userId="4l9nrPt3eBSKL9/kzsxZ7ddf4ZoNvPqKc+ik9m9T3HE=" providerId="None" clId="Web-{7B359CA3-F8DA-4FEE-80B5-DFD7A220D5C1}" dt="2026-07-29T19:25:01.916" v="164" actId="20577"/>
          <ac:spMkLst>
            <pc:docMk/>
            <pc:sldMk cId="0" sldId="259"/>
            <ac:spMk id="50" creationId="{C2A01388-3A90-8983-E335-9E65830A1ECC}"/>
          </ac:spMkLst>
        </pc:spChg>
        <pc:spChg chg="mod">
          <ac:chgData name="Rolando Franco" userId="4l9nrPt3eBSKL9/kzsxZ7ddf4ZoNvPqKc+ik9m9T3HE=" providerId="None" clId="Web-{7B359CA3-F8DA-4FEE-80B5-DFD7A220D5C1}" dt="2026-07-29T19:19:18.729" v="43" actId="1076"/>
          <ac:spMkLst>
            <pc:docMk/>
            <pc:sldMk cId="0" sldId="259"/>
            <ac:spMk id="51" creationId="{00000000-0000-0000-0000-000000000000}"/>
          </ac:spMkLst>
        </pc:spChg>
        <pc:spChg chg="mod">
          <ac:chgData name="Rolando Franco" userId="4l9nrPt3eBSKL9/kzsxZ7ddf4ZoNvPqKc+ik9m9T3HE=" providerId="None" clId="Web-{7B359CA3-F8DA-4FEE-80B5-DFD7A220D5C1}" dt="2026-07-29T19:19:18.761" v="44" actId="1076"/>
          <ac:spMkLst>
            <pc:docMk/>
            <pc:sldMk cId="0" sldId="259"/>
            <ac:spMk id="52" creationId="{00000000-0000-0000-0000-000000000000}"/>
          </ac:spMkLst>
        </pc:spChg>
        <pc:spChg chg="mod">
          <ac:chgData name="Rolando Franco" userId="4l9nrPt3eBSKL9/kzsxZ7ddf4ZoNvPqKc+ik9m9T3HE=" providerId="None" clId="Web-{7B359CA3-F8DA-4FEE-80B5-DFD7A220D5C1}" dt="2026-07-29T19:19:18.792" v="45" actId="1076"/>
          <ac:spMkLst>
            <pc:docMk/>
            <pc:sldMk cId="0" sldId="259"/>
            <ac:spMk id="53" creationId="{00000000-0000-0000-0000-000000000000}"/>
          </ac:spMkLst>
        </pc:spChg>
        <pc:spChg chg="mod">
          <ac:chgData name="Rolando Franco" userId="4l9nrPt3eBSKL9/kzsxZ7ddf4ZoNvPqKc+ik9m9T3HE=" providerId="None" clId="Web-{7B359CA3-F8DA-4FEE-80B5-DFD7A220D5C1}" dt="2026-07-29T19:19:18.823" v="46" actId="1076"/>
          <ac:spMkLst>
            <pc:docMk/>
            <pc:sldMk cId="0" sldId="259"/>
            <ac:spMk id="54" creationId="{00000000-0000-0000-0000-000000000000}"/>
          </ac:spMkLst>
        </pc:spChg>
        <pc:spChg chg="mod">
          <ac:chgData name="Rolando Franco" userId="4l9nrPt3eBSKL9/kzsxZ7ddf4ZoNvPqKc+ik9m9T3HE=" providerId="None" clId="Web-{7B359CA3-F8DA-4FEE-80B5-DFD7A220D5C1}" dt="2026-07-29T19:19:18.839" v="47" actId="1076"/>
          <ac:spMkLst>
            <pc:docMk/>
            <pc:sldMk cId="0" sldId="259"/>
            <ac:spMk id="55" creationId="{00000000-0000-0000-0000-000000000000}"/>
          </ac:spMkLst>
        </pc:spChg>
        <pc:spChg chg="mod">
          <ac:chgData name="Rolando Franco" userId="4l9nrPt3eBSKL9/kzsxZ7ddf4ZoNvPqKc+ik9m9T3HE=" providerId="None" clId="Web-{7B359CA3-F8DA-4FEE-80B5-DFD7A220D5C1}" dt="2026-07-29T19:19:18.870" v="48" actId="1076"/>
          <ac:spMkLst>
            <pc:docMk/>
            <pc:sldMk cId="0" sldId="259"/>
            <ac:spMk id="57" creationId="{00000000-0000-0000-0000-000000000000}"/>
          </ac:spMkLst>
        </pc:spChg>
        <pc:spChg chg="mod">
          <ac:chgData name="Rolando Franco" userId="4l9nrPt3eBSKL9/kzsxZ7ddf4ZoNvPqKc+ik9m9T3HE=" providerId="None" clId="Web-{7B359CA3-F8DA-4FEE-80B5-DFD7A220D5C1}" dt="2026-07-29T19:19:18.886" v="49" actId="1076"/>
          <ac:spMkLst>
            <pc:docMk/>
            <pc:sldMk cId="0" sldId="259"/>
            <ac:spMk id="58" creationId="{00000000-0000-0000-0000-000000000000}"/>
          </ac:spMkLst>
        </pc:spChg>
        <pc:spChg chg="mod">
          <ac:chgData name="Rolando Franco" userId="4l9nrPt3eBSKL9/kzsxZ7ddf4ZoNvPqKc+ik9m9T3HE=" providerId="None" clId="Web-{7B359CA3-F8DA-4FEE-80B5-DFD7A220D5C1}" dt="2026-07-29T19:19:18.901" v="50" actId="1076"/>
          <ac:spMkLst>
            <pc:docMk/>
            <pc:sldMk cId="0" sldId="259"/>
            <ac:spMk id="59" creationId="{00000000-0000-0000-0000-000000000000}"/>
          </ac:spMkLst>
        </pc:spChg>
        <pc:spChg chg="del">
          <ac:chgData name="Rolando Franco" userId="4l9nrPt3eBSKL9/kzsxZ7ddf4ZoNvPqKc+ik9m9T3HE=" providerId="None" clId="Web-{7B359CA3-F8DA-4FEE-80B5-DFD7A220D5C1}" dt="2026-07-29T19:19:02.323" v="1"/>
          <ac:spMkLst>
            <pc:docMk/>
            <pc:sldMk cId="0" sldId="259"/>
            <ac:spMk id="60" creationId="{00000000-0000-0000-0000-000000000000}"/>
          </ac:spMkLst>
        </pc:spChg>
        <pc:spChg chg="mod">
          <ac:chgData name="Rolando Franco" userId="4l9nrPt3eBSKL9/kzsxZ7ddf4ZoNvPqKc+ik9m9T3HE=" providerId="None" clId="Web-{7B359CA3-F8DA-4FEE-80B5-DFD7A220D5C1}" dt="2026-07-29T19:19:18.933" v="51" actId="1076"/>
          <ac:spMkLst>
            <pc:docMk/>
            <pc:sldMk cId="0" sldId="259"/>
            <ac:spMk id="61" creationId="{FDA1324E-C882-D180-36C6-77CD30616F43}"/>
          </ac:spMkLst>
        </pc:spChg>
        <pc:spChg chg="mod">
          <ac:chgData name="Rolando Franco" userId="4l9nrPt3eBSKL9/kzsxZ7ddf4ZoNvPqKc+ik9m9T3HE=" providerId="None" clId="Web-{7B359CA3-F8DA-4FEE-80B5-DFD7A220D5C1}" dt="2026-07-29T19:19:18.948" v="52" actId="1076"/>
          <ac:spMkLst>
            <pc:docMk/>
            <pc:sldMk cId="0" sldId="259"/>
            <ac:spMk id="63" creationId="{F241CFE5-DF08-0E6A-1EB9-C91E28B1E650}"/>
          </ac:spMkLst>
        </pc:spChg>
        <pc:spChg chg="mod">
          <ac:chgData name="Rolando Franco" userId="4l9nrPt3eBSKL9/kzsxZ7ddf4ZoNvPqKc+ik9m9T3HE=" providerId="None" clId="Web-{7B359CA3-F8DA-4FEE-80B5-DFD7A220D5C1}" dt="2026-07-29T19:19:18.964" v="53" actId="1076"/>
          <ac:spMkLst>
            <pc:docMk/>
            <pc:sldMk cId="0" sldId="259"/>
            <ac:spMk id="64" creationId="{743E6CF1-4064-1B9C-BDC4-AF06D65F4072}"/>
          </ac:spMkLst>
        </pc:spChg>
      </pc:sldChg>
      <pc:sldChg chg="ord">
        <pc:chgData name="Rolando Franco" userId="4l9nrPt3eBSKL9/kzsxZ7ddf4ZoNvPqKc+ik9m9T3HE=" providerId="None" clId="Web-{7B359CA3-F8DA-4FEE-80B5-DFD7A220D5C1}" dt="2026-07-29T19:20:34.839" v="73"/>
        <pc:sldMkLst>
          <pc:docMk/>
          <pc:sldMk cId="0" sldId="260"/>
        </pc:sldMkLst>
      </pc:sldChg>
      <pc:sldChg chg="ord">
        <pc:chgData name="Rolando Franco" userId="4l9nrPt3eBSKL9/kzsxZ7ddf4ZoNvPqKc+ik9m9T3HE=" providerId="None" clId="Web-{7B359CA3-F8DA-4FEE-80B5-DFD7A220D5C1}" dt="2026-07-29T19:20:05.636" v="72"/>
        <pc:sldMkLst>
          <pc:docMk/>
          <pc:sldMk cId="0" sldId="264"/>
        </pc:sldMkLst>
      </pc:sldChg>
      <pc:sldChg chg="add replId">
        <pc:chgData name="Rolando Franco" userId="4l9nrPt3eBSKL9/kzsxZ7ddf4ZoNvPqKc+ik9m9T3HE=" providerId="None" clId="Web-{7B359CA3-F8DA-4FEE-80B5-DFD7A220D5C1}" dt="2026-07-29T19:18:49.636" v="0"/>
        <pc:sldMkLst>
          <pc:docMk/>
          <pc:sldMk cId="1676607410" sldId="265"/>
        </pc:sldMkLst>
      </pc:sldChg>
      <pc:sldChg chg="addSp modSp new">
        <pc:chgData name="Rolando Franco" userId="4l9nrPt3eBSKL9/kzsxZ7ddf4ZoNvPqKc+ik9m9T3HE=" providerId="None" clId="Web-{7B359CA3-F8DA-4FEE-80B5-DFD7A220D5C1}" dt="2026-07-29T19:20:57.229" v="80" actId="1076"/>
        <pc:sldMkLst>
          <pc:docMk/>
          <pc:sldMk cId="4033025895" sldId="266"/>
        </pc:sldMkLst>
        <pc:spChg chg="add mod">
          <ac:chgData name="Rolando Franco" userId="4l9nrPt3eBSKL9/kzsxZ7ddf4ZoNvPqKc+ik9m9T3HE=" providerId="None" clId="Web-{7B359CA3-F8DA-4FEE-80B5-DFD7A220D5C1}" dt="2026-07-29T19:20:57.229" v="80" actId="1076"/>
          <ac:spMkLst>
            <pc:docMk/>
            <pc:sldMk cId="4033025895" sldId="266"/>
            <ac:spMk id="2" creationId="{F8B7415B-7959-9368-CEFE-F70F9E18B375}"/>
          </ac:spMkLst>
        </pc:spChg>
      </pc:sldChg>
    </pc:docChg>
  </pc:docChgLst>
  <pc:docChgLst>
    <pc:chgData name="RISPNA JAIN" userId="BACls/CsqQHsmJerp4btPuq5xEp8SyXqEv6EpVkZvhI=" providerId="None" clId="Web-{01E4ABBB-B3DD-4E55-8735-6EFF518BE5AE}"/>
    <pc:docChg chg="modSld">
      <pc:chgData name="RISPNA JAIN" userId="BACls/CsqQHsmJerp4btPuq5xEp8SyXqEv6EpVkZvhI=" providerId="None" clId="Web-{01E4ABBB-B3DD-4E55-8735-6EFF518BE5AE}" dt="2026-07-29T19:47:53.087" v="109" actId="20577"/>
      <pc:docMkLst>
        <pc:docMk/>
      </pc:docMkLst>
      <pc:sldChg chg="modSp">
        <pc:chgData name="RISPNA JAIN" userId="BACls/CsqQHsmJerp4btPuq5xEp8SyXqEv6EpVkZvhI=" providerId="None" clId="Web-{01E4ABBB-B3DD-4E55-8735-6EFF518BE5AE}" dt="2026-07-29T19:47:53.087" v="109" actId="20577"/>
        <pc:sldMkLst>
          <pc:docMk/>
          <pc:sldMk cId="0" sldId="259"/>
        </pc:sldMkLst>
        <pc:spChg chg="mod">
          <ac:chgData name="RISPNA JAIN" userId="BACls/CsqQHsmJerp4btPuq5xEp8SyXqEv6EpVkZvhI=" providerId="None" clId="Web-{01E4ABBB-B3DD-4E55-8735-6EFF518BE5AE}" dt="2026-07-29T19:47:53.087" v="109" actId="20577"/>
          <ac:spMkLst>
            <pc:docMk/>
            <pc:sldMk cId="0" sldId="259"/>
            <ac:spMk id="4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692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answer Rolando’s question directly. State what is ready, what is in progress, and what is planned. Be careful not to overstate readiness. Db2 is the first completed BVA and can be shown in Value 360. ODM has the CS to Vitality motion validated. Cognos and App Runtime are active but still require PM validation before broad field use. DataStage and Planning Analytics are planned next.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what IBM Consulting can do with the completed BVA. The key message is that Value 360 provides a reusable baseline, but the client-specific BVA comes after validating inputs. The Product Modernization Technical View provides product proof. Value 360 provides the quantified client-specific business value. If a real Value 360 screenshot is available before the review, replace the placeholder in the middle with the actual Db2 Business Outcomes view.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transcript guidance from Rispna was to keep this high level and avoid going into the specific title shown in the raw ISC example, because the seller-entered title can create unnecessary questions. The message should be that ISC / Value360 gives sellers a guided BVA path.
Talk track:
This is an example of what sellers see in ISC / Value360. The journey starts in Discovery, where the seller frames Why Change, Why Now, and Why IBM. Then the seller moves to Business Outcomes to select the modernization motion and value levers. In Assumptions, the seller enters client operating inputs and benchmarks. In Outputs, the model produces the business case output, including benefits, ROI, payback, and cost of inaction.
For this App Runtime example, the existing BVA supports WAS / Java modernization toward Liberty. Containerization benefits are being assessed and added as the BVA is refined. For the GM review, do not lead with detailed motion scope. Keep the story focused on seller usability and the path from qualitative framing to quantified value.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0F566-97D1-F124-6300-6063110B8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F0DA8-1408-1F72-0BBB-0614A9E0E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43496-B2F7-E8FA-2D5F-35DA6EE49059}"/>
              </a:ext>
            </a:extLst>
          </p:cNvPr>
          <p:cNvSpPr>
            <a:spLocks noGrp="1"/>
          </p:cNvSpPr>
          <p:nvPr>
            <p:ph type="body" idx="1"/>
          </p:nvPr>
        </p:nvSpPr>
        <p:spPr/>
        <p:txBody>
          <a:bodyPr/>
          <a:lstStyle/>
          <a:p>
            <a:r>
              <a:rPr lang="en-US" dirty="0"/>
              <a:t>Use this slide to answer Rolando’s question directly. State what is ready, what is in progress, and what is planned. Be careful not to overstate readiness. Db2 is the first completed BVA and can be shown in Value 360. ODM has the CS to Vitality motion validated. Cognos and App Runtime are active but still require PM validation before broad field use. DataStage and Planning Analytics are planned next.</a:t>
            </a:r>
          </a:p>
        </p:txBody>
      </p:sp>
      <p:sp>
        <p:nvSpPr>
          <p:cNvPr id="4" name="Slide Number Placeholder 3">
            <a:extLst>
              <a:ext uri="{FF2B5EF4-FFF2-40B4-BE49-F238E27FC236}">
                <a16:creationId xmlns:a16="http://schemas.microsoft.com/office/drawing/2014/main" id="{DED9804F-C33B-3701-3492-88657FCE840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0456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buyer question. Sellers can explain upgrade urgency and product features, but the conversation becomes harder when the client asks what the change does for the business and whether it is worth funding. The bridge is simple: the Product Modernization Technical View gives product proof, and Value 360 turns that proof into a business value assessment. The seller should not lead with tool training. The seller should lead with the client problem and the three whys.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meant to answer what the BVA looks like inside ISC and how a seller would use it. The animation cycles through four screens. First, the seller starts in Discovery with Why Change, Why Now, and Why IBM. Second, the seller moves into Business Outcomes, selects the relevant modernization motion, and reviews the available benefit levers. Third, the seller enters key assumptions and client inputs. Fourth, the outputs show quantified operational benefits and the cost of doing nothing. The core message for the GM review is that these BVAs are not static spreadsheets. They become a repeatable seller workflow inside ISC and Value360. The seller starts with guided discovery, selects product-backed outcomes, refines assumptions with client data, and produces a business value output that can support a deeper modernization conversation.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28600"/>
            <a:ext cx="30175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Core-to-Mod BVA status</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Text 1"/>
          <p:cNvSpPr/>
          <p:nvPr/>
        </p:nvSpPr>
        <p:spPr>
          <a:xfrm>
            <a:off x="502920" y="475488"/>
            <a:ext cx="8138160" cy="384048"/>
          </a:xfrm>
          <a:prstGeom prst="rect">
            <a:avLst/>
          </a:prstGeom>
          <a:noFill/>
          <a:ln/>
        </p:spPr>
        <p:txBody>
          <a:bodyPr wrap="square" lIns="0" tIns="0" rIns="0" bIns="0" rtlCol="0" anchor="ctr">
            <a:normAutofit/>
          </a:bodyPr>
          <a:lstStyle/>
          <a:p>
            <a:pPr>
              <a:defRPr/>
            </a:pPr>
            <a:r>
              <a:rPr lang="en-US" sz="2500" b="1" dirty="0">
                <a:solidFill>
                  <a:srgbClr val="161616"/>
                </a:solidFill>
                <a:latin typeface="Arial"/>
                <a:ea typeface="Arial" pitchFamily="34" charset="-122"/>
                <a:cs typeface="Arial"/>
              </a:rPr>
              <a:t>Core to Modernize</a:t>
            </a:r>
            <a:r>
              <a:rPr kumimoji="0" lang="en-US" sz="2500" b="1" i="0" u="none" strike="noStrike" kern="1200" cap="none" spc="0" normalizeH="0" baseline="0" noProof="0" dirty="0">
                <a:ln>
                  <a:noFill/>
                </a:ln>
                <a:solidFill>
                  <a:srgbClr val="161616"/>
                </a:solidFill>
                <a:effectLst/>
                <a:uLnTx/>
                <a:uFillTx/>
                <a:latin typeface="Arial"/>
                <a:ea typeface="Arial" pitchFamily="34" charset="-122"/>
                <a:cs typeface="Arial"/>
              </a:rPr>
              <a:t> BVAs: </a:t>
            </a:r>
            <a:r>
              <a:rPr lang="en-US" sz="2500" b="1" dirty="0">
                <a:solidFill>
                  <a:srgbClr val="161616"/>
                </a:solidFill>
                <a:latin typeface="Arial"/>
                <a:ea typeface="Arial" pitchFamily="34" charset="-122"/>
                <a:cs typeface="Arial"/>
              </a:rPr>
              <a:t>Readiness</a:t>
            </a:r>
            <a:r>
              <a:rPr kumimoji="0" lang="en-US" sz="2500" b="1" i="0" u="none" strike="noStrike" kern="1200" cap="none" spc="0" normalizeH="0" baseline="0" noProof="0" dirty="0">
                <a:ln>
                  <a:noFill/>
                </a:ln>
                <a:solidFill>
                  <a:srgbClr val="161616"/>
                </a:solidFill>
                <a:effectLst/>
                <a:uLnTx/>
                <a:uFillTx/>
                <a:latin typeface="Arial"/>
                <a:ea typeface="Arial" pitchFamily="34" charset="-122"/>
                <a:cs typeface="Arial"/>
              </a:rPr>
              <a:t> </a:t>
            </a:r>
            <a:r>
              <a:rPr lang="en-US" sz="2500" b="1" dirty="0">
                <a:solidFill>
                  <a:srgbClr val="161616"/>
                </a:solidFill>
                <a:latin typeface="Arial"/>
                <a:ea typeface="Arial" pitchFamily="34" charset="-122"/>
                <a:cs typeface="Arial"/>
              </a:rPr>
              <a:t>Status</a:t>
            </a:r>
            <a:endParaRPr kumimoji="0" lang="en-US" sz="2500" b="0" i="0" u="none" strike="noStrike" kern="1200" cap="none" spc="0" normalizeH="0" baseline="0" noProof="0" dirty="0">
              <a:ln>
                <a:noFill/>
              </a:ln>
              <a:solidFill>
                <a:prstClr val="black"/>
              </a:solidFill>
              <a:effectLst/>
              <a:uLnTx/>
              <a:uFillTx/>
              <a:latin typeface="Arial"/>
              <a:cs typeface="Arial"/>
            </a:endParaRPr>
          </a:p>
        </p:txBody>
      </p:sp>
      <p:sp>
        <p:nvSpPr>
          <p:cNvPr id="4" name="Text 2"/>
          <p:cNvSpPr/>
          <p:nvPr/>
        </p:nvSpPr>
        <p:spPr>
          <a:xfrm>
            <a:off x="521208" y="896112"/>
            <a:ext cx="106984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BVA assets give Sellers a reusable path to quantify modernization value with field-ready assumptions.</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Shape 3"/>
          <p:cNvSpPr/>
          <p:nvPr/>
        </p:nvSpPr>
        <p:spPr>
          <a:xfrm>
            <a:off x="502920" y="1207008"/>
            <a:ext cx="11201400" cy="22860"/>
          </a:xfrm>
          <a:prstGeom prst="rect">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8" name="Shape 16"/>
          <p:cNvSpPr/>
          <p:nvPr/>
        </p:nvSpPr>
        <p:spPr>
          <a:xfrm>
            <a:off x="502920" y="1887728"/>
            <a:ext cx="11201400" cy="384048"/>
          </a:xfrm>
          <a:prstGeom prst="rect">
            <a:avLst/>
          </a:prstGeom>
          <a:solidFill>
            <a:srgbClr val="262626"/>
          </a:solidFill>
          <a:ln w="12700">
            <a:solidFill>
              <a:srgbClr val="262626">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9" name="Text 17"/>
          <p:cNvSpPr/>
          <p:nvPr/>
        </p:nvSpPr>
        <p:spPr>
          <a:xfrm>
            <a:off x="557784" y="1988312"/>
            <a:ext cx="164592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Product</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8"/>
          <p:cNvSpPr/>
          <p:nvPr/>
        </p:nvSpPr>
        <p:spPr>
          <a:xfrm>
            <a:off x="2432304" y="1988312"/>
            <a:ext cx="160020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BVA status</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9"/>
          <p:cNvSpPr/>
          <p:nvPr/>
        </p:nvSpPr>
        <p:spPr>
          <a:xfrm>
            <a:off x="4261104" y="1988312"/>
            <a:ext cx="237744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Validation / dependency</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Text 20"/>
          <p:cNvSpPr/>
          <p:nvPr/>
        </p:nvSpPr>
        <p:spPr>
          <a:xfrm>
            <a:off x="6912864" y="1988312"/>
            <a:ext cx="196596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Ready for use</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Text 21"/>
          <p:cNvSpPr/>
          <p:nvPr/>
        </p:nvSpPr>
        <p:spPr>
          <a:xfrm>
            <a:off x="9198864" y="1988312"/>
            <a:ext cx="233172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IBMC access</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Shape 22"/>
          <p:cNvSpPr/>
          <p:nvPr/>
        </p:nvSpPr>
        <p:spPr>
          <a:xfrm>
            <a:off x="502920" y="2271776"/>
            <a:ext cx="11201400" cy="475488"/>
          </a:xfrm>
          <a:prstGeom prst="rect">
            <a:avLst/>
          </a:prstGeom>
          <a:solidFill>
            <a:srgbClr val="FFFFFF"/>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5" name="Text 23"/>
          <p:cNvSpPr/>
          <p:nvPr/>
        </p:nvSpPr>
        <p:spPr>
          <a:xfrm>
            <a:off x="557784" y="2381504"/>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Db2</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Text 24"/>
          <p:cNvSpPr/>
          <p:nvPr/>
        </p:nvSpPr>
        <p:spPr>
          <a:xfrm>
            <a:off x="2432304" y="2399792"/>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Text 25"/>
          <p:cNvSpPr/>
          <p:nvPr/>
        </p:nvSpPr>
        <p:spPr>
          <a:xfrm>
            <a:off x="4261104" y="2354072"/>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CSE draft complete; PM capability input captured; ready to demonstrate in Value 360.</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Text 26"/>
          <p:cNvSpPr/>
          <p:nvPr/>
        </p:nvSpPr>
        <p:spPr>
          <a:xfrm>
            <a:off x="6912864" y="2354072"/>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Use now for guided seller / IBMC conversations.</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7"/>
          <p:cNvSpPr/>
          <p:nvPr/>
        </p:nvSpPr>
        <p:spPr>
          <a:xfrm>
            <a:off x="9198864" y="2354072"/>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Value 360 template once published; interim via C2M / BVE team.</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Shape 28"/>
          <p:cNvSpPr/>
          <p:nvPr/>
        </p:nvSpPr>
        <p:spPr>
          <a:xfrm>
            <a:off x="502920" y="2747264"/>
            <a:ext cx="11201400" cy="475488"/>
          </a:xfrm>
          <a:prstGeom prst="rect">
            <a:avLst/>
          </a:prstGeom>
          <a:solidFill>
            <a:srgbClr val="FAFAFA"/>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1" name="Text 29"/>
          <p:cNvSpPr/>
          <p:nvPr/>
        </p:nvSpPr>
        <p:spPr>
          <a:xfrm>
            <a:off x="557784" y="2856992"/>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ODM</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33" name="Text 31"/>
          <p:cNvSpPr/>
          <p:nvPr/>
        </p:nvSpPr>
        <p:spPr>
          <a:xfrm>
            <a:off x="4261104" y="2829560"/>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CS→Vitality validated. Containerization and SaaS require Antony / Bacary input.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34" name="Text 32"/>
          <p:cNvSpPr/>
          <p:nvPr/>
        </p:nvSpPr>
        <p:spPr>
          <a:xfrm>
            <a:off x="6912864" y="2829560"/>
            <a:ext cx="1965960" cy="301752"/>
          </a:xfrm>
          <a:prstGeom prst="rect">
            <a:avLst/>
          </a:prstGeom>
          <a:noFill/>
          <a:ln/>
        </p:spPr>
        <p:txBody>
          <a:bodyPr wrap="square" lIns="127" tIns="127" rIns="127" bIns="127" rtlCol="0" anchor="t">
            <a:normAutofit/>
          </a:bodyPr>
          <a:lstStyle/>
          <a:p>
            <a:pPr lvl="0">
              <a:defRPr/>
            </a:pPr>
            <a:r>
              <a:rPr lang="en-US" sz="780" dirty="0">
                <a:solidFill>
                  <a:srgbClr val="262626"/>
                </a:solidFill>
                <a:latin typeface="Arial" pitchFamily="34" charset="0"/>
                <a:ea typeface="Arial" pitchFamily="34" charset="-122"/>
                <a:cs typeface="Arial" pitchFamily="34" charset="-120"/>
              </a:rPr>
              <a:t>Use now for guided seller / IBMC conversations.</a:t>
            </a:r>
            <a:endParaRPr lang="en-US" sz="780" dirty="0">
              <a:solidFill>
                <a:prstClr val="black"/>
              </a:solidFill>
            </a:endParaRPr>
          </a:p>
        </p:txBody>
      </p:sp>
      <p:sp>
        <p:nvSpPr>
          <p:cNvPr id="35" name="Text 33"/>
          <p:cNvSpPr/>
          <p:nvPr/>
        </p:nvSpPr>
        <p:spPr>
          <a:xfrm>
            <a:off x="9198864" y="2829560"/>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Value 360 after motion packaging; interim via C2M / BVE team.</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36" name="Shape 34"/>
          <p:cNvSpPr/>
          <p:nvPr/>
        </p:nvSpPr>
        <p:spPr>
          <a:xfrm>
            <a:off x="502920" y="3222752"/>
            <a:ext cx="11201400" cy="475488"/>
          </a:xfrm>
          <a:prstGeom prst="rect">
            <a:avLst/>
          </a:prstGeom>
          <a:solidFill>
            <a:srgbClr val="FFFFFF"/>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7" name="Text 35"/>
          <p:cNvSpPr/>
          <p:nvPr/>
        </p:nvSpPr>
        <p:spPr>
          <a:xfrm>
            <a:off x="557784" y="3332480"/>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Cognos</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39" name="Text 37"/>
          <p:cNvSpPr/>
          <p:nvPr/>
        </p:nvSpPr>
        <p:spPr>
          <a:xfrm>
            <a:off x="4261104" y="3305048"/>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Draft started in March. PM review still needed to close capability-led value.</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0" name="Text 38"/>
          <p:cNvSpPr/>
          <p:nvPr/>
        </p:nvSpPr>
        <p:spPr>
          <a:xfrm>
            <a:off x="6912864" y="3305048"/>
            <a:ext cx="1965960" cy="301752"/>
          </a:xfrm>
          <a:prstGeom prst="rect">
            <a:avLst/>
          </a:prstGeom>
          <a:noFill/>
          <a:ln/>
        </p:spPr>
        <p:txBody>
          <a:bodyPr wrap="square" lIns="127" tIns="127" rIns="127" bIns="127" rtlCol="0" anchor="t">
            <a:normAutofit fontScale="92500"/>
          </a:bodyPr>
          <a:lstStyle/>
          <a:p>
            <a:r>
              <a:rPr lang="en-US" sz="780" dirty="0">
                <a:solidFill>
                  <a:srgbClr val="262626"/>
                </a:solidFill>
                <a:latin typeface="Arial" pitchFamily="34" charset="0"/>
                <a:ea typeface="Arial" pitchFamily="34" charset="-122"/>
                <a:cs typeface="Arial" pitchFamily="34" charset="-120"/>
              </a:rPr>
              <a:t>Use now for guided seller / IBMC conversations.</a:t>
            </a:r>
            <a:endParaRPr lang="en-US" sz="780"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1" name="Text 39"/>
          <p:cNvSpPr/>
          <p:nvPr/>
        </p:nvSpPr>
        <p:spPr>
          <a:xfrm>
            <a:off x="9198864" y="3305048"/>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Pending PM confirmation and Value 360 packaging.</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2" name="Shape 40"/>
          <p:cNvSpPr/>
          <p:nvPr/>
        </p:nvSpPr>
        <p:spPr>
          <a:xfrm>
            <a:off x="502920" y="3698240"/>
            <a:ext cx="11201400" cy="475488"/>
          </a:xfrm>
          <a:prstGeom prst="rect">
            <a:avLst/>
          </a:prstGeom>
          <a:solidFill>
            <a:srgbClr val="FAFAFA"/>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a:solidFill>
                <a:srgbClr val="262626"/>
              </a:solidFill>
              <a:latin typeface="Arial" pitchFamily="34" charset="0"/>
              <a:cs typeface="Arial" pitchFamily="34" charset="-120"/>
            </a:endParaRPr>
          </a:p>
        </p:txBody>
      </p:sp>
      <p:sp>
        <p:nvSpPr>
          <p:cNvPr id="43" name="Text 41"/>
          <p:cNvSpPr/>
          <p:nvPr/>
        </p:nvSpPr>
        <p:spPr>
          <a:xfrm>
            <a:off x="557784" y="3807968"/>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WAS / Liberty modernization</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45" name="Text 43"/>
          <p:cNvSpPr/>
          <p:nvPr/>
        </p:nvSpPr>
        <p:spPr>
          <a:xfrm>
            <a:off x="4261104" y="3780536"/>
            <a:ext cx="2377440" cy="301752"/>
          </a:xfrm>
          <a:prstGeom prst="rect">
            <a:avLst/>
          </a:prstGeom>
          <a:noFill/>
          <a:ln/>
        </p:spPr>
        <p:txBody>
          <a:bodyPr wrap="square" lIns="127" tIns="127" rIns="127" bIns="127" rtlCol="0" anchor="t">
            <a:normAutofit fontScale="92500" lnSpcReduction="10000"/>
          </a:bodyPr>
          <a:lstStyle/>
          <a:p>
            <a:pPr>
              <a:defRPr/>
            </a:pPr>
            <a:r>
              <a:rPr kumimoji="0" lang="en-US" sz="750" b="0" i="0" u="none" strike="noStrike" kern="1200" cap="none" spc="0" normalizeH="0" baseline="0" noProof="0" dirty="0">
                <a:ln>
                  <a:noFill/>
                </a:ln>
                <a:solidFill>
                  <a:srgbClr val="262626"/>
                </a:solidFill>
                <a:effectLst/>
                <a:uLnTx/>
                <a:uFillTx/>
                <a:latin typeface="Arial"/>
                <a:ea typeface="Arial" pitchFamily="34" charset="-122"/>
                <a:cs typeface="Arial"/>
              </a:rPr>
              <a:t>Scope is </a:t>
            </a:r>
            <a:r>
              <a:rPr lang="en-US" sz="750" dirty="0">
                <a:solidFill>
                  <a:srgbClr val="262626"/>
                </a:solidFill>
                <a:latin typeface="Arial"/>
                <a:ea typeface="Arial" pitchFamily="34" charset="-122"/>
                <a:cs typeface="Arial"/>
              </a:rPr>
              <a:t>WAS to Liberty modernization, created by Doug. Enhancing with containerization and vitality C2M motions .</a:t>
            </a:r>
            <a:r>
              <a:rPr kumimoji="0" lang="en-US" sz="750" b="0" i="0" u="none" strike="noStrike" kern="1200" cap="none" spc="0" normalizeH="0" baseline="0" noProof="0" dirty="0">
                <a:ln>
                  <a:noFill/>
                </a:ln>
                <a:solidFill>
                  <a:srgbClr val="262626"/>
                </a:solidFill>
                <a:effectLst/>
                <a:uLnTx/>
                <a:uFillTx/>
                <a:latin typeface="Arial"/>
                <a:ea typeface="Arial" pitchFamily="34" charset="-122"/>
                <a:cs typeface="Arial"/>
              </a:rPr>
              <a:t> PM engagement with Brian, Craig, Cassi and Kaushik.</a:t>
            </a:r>
            <a:endParaRPr kumimoji="0" lang="en-US" sz="750" b="0" i="0" u="none" strike="noStrike" kern="1200" cap="none" spc="0" normalizeH="0" baseline="0" noProof="0" dirty="0">
              <a:ln>
                <a:noFill/>
              </a:ln>
              <a:solidFill>
                <a:prstClr val="black"/>
              </a:solidFill>
              <a:effectLst/>
              <a:uLnTx/>
              <a:uFillTx/>
              <a:latin typeface="Arial"/>
              <a:cs typeface="Arial"/>
            </a:endParaRPr>
          </a:p>
        </p:txBody>
      </p:sp>
      <p:sp>
        <p:nvSpPr>
          <p:cNvPr id="46" name="Text 44"/>
          <p:cNvSpPr/>
          <p:nvPr/>
        </p:nvSpPr>
        <p:spPr>
          <a:xfrm>
            <a:off x="6912864" y="3780536"/>
            <a:ext cx="1965960" cy="301752"/>
          </a:xfrm>
          <a:prstGeom prst="rect">
            <a:avLst/>
          </a:prstGeom>
          <a:noFill/>
          <a:ln/>
        </p:spPr>
        <p:txBody>
          <a:bodyPr wrap="square" lIns="127" tIns="127" rIns="127" bIns="127" rtlCol="0" anchor="t">
            <a:normAutofit/>
          </a:bodyPr>
          <a:lstStyle/>
          <a:p>
            <a:pPr>
              <a:defRPr/>
            </a:pPr>
            <a:r>
              <a:rPr lang="en-US" sz="700" dirty="0">
                <a:solidFill>
                  <a:srgbClr val="262626"/>
                </a:solidFill>
                <a:latin typeface="Arial"/>
                <a:ea typeface="Arial" pitchFamily="34" charset="-122"/>
                <a:cs typeface="Arial"/>
              </a:rPr>
              <a:t>Use now for guided seller / IBMC conversations</a:t>
            </a:r>
            <a:r>
              <a:rPr kumimoji="0" lang="en-US" sz="700" b="0" i="0" u="none" strike="noStrike" kern="1200" cap="none" spc="0" normalizeH="0" baseline="0" noProof="0" dirty="0">
                <a:ln>
                  <a:noFill/>
                </a:ln>
                <a:solidFill>
                  <a:srgbClr val="262626"/>
                </a:solidFill>
                <a:effectLst/>
                <a:uLnTx/>
                <a:uFillTx/>
                <a:latin typeface="Arial"/>
                <a:ea typeface="Arial" pitchFamily="34" charset="-122"/>
                <a:cs typeface="Arial"/>
              </a:rPr>
              <a:t>.</a:t>
            </a:r>
            <a:endParaRPr lang="en-US" sz="700" dirty="0">
              <a:latin typeface="Arial"/>
              <a:cs typeface="Arial"/>
            </a:endParaRPr>
          </a:p>
        </p:txBody>
      </p:sp>
      <p:sp>
        <p:nvSpPr>
          <p:cNvPr id="47" name="Text 45"/>
          <p:cNvSpPr/>
          <p:nvPr/>
        </p:nvSpPr>
        <p:spPr>
          <a:xfrm>
            <a:off x="9198864" y="3780536"/>
            <a:ext cx="2331720" cy="301752"/>
          </a:xfrm>
          <a:prstGeom prst="rect">
            <a:avLst/>
          </a:prstGeom>
          <a:noFill/>
          <a:ln/>
        </p:spPr>
        <p:txBody>
          <a:bodyPr wrap="square" lIns="127" tIns="127" rIns="127" bIns="127" rtlCol="0" anchor="t">
            <a:normAutofit/>
          </a:bodyPr>
          <a:lstStyle/>
          <a:p>
            <a:pPr>
              <a:defRPr/>
            </a:pPr>
            <a:r>
              <a:rPr lang="en-US" sz="700" dirty="0">
                <a:solidFill>
                  <a:srgbClr val="262626"/>
                </a:solidFill>
                <a:latin typeface="Arial"/>
                <a:cs typeface="Arial"/>
              </a:rPr>
              <a:t>Value 360 </a:t>
            </a:r>
            <a:endParaRPr lang="en-US" sz="700" dirty="0">
              <a:ea typeface="+mn-ea"/>
              <a:cs typeface="+mn-cs"/>
            </a:endParaRPr>
          </a:p>
        </p:txBody>
      </p:sp>
      <p:sp>
        <p:nvSpPr>
          <p:cNvPr id="48" name="Shape 46"/>
          <p:cNvSpPr/>
          <p:nvPr/>
        </p:nvSpPr>
        <p:spPr>
          <a:xfrm>
            <a:off x="502920" y="4173728"/>
            <a:ext cx="11201400" cy="475488"/>
          </a:xfrm>
          <a:prstGeom prst="rect">
            <a:avLst/>
          </a:prstGeom>
          <a:solidFill>
            <a:srgbClr val="FFFFFF"/>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9" name="Text 47"/>
          <p:cNvSpPr/>
          <p:nvPr/>
        </p:nvSpPr>
        <p:spPr>
          <a:xfrm>
            <a:off x="557784" y="4283456"/>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FileNet (Content Cortex)</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51" name="Text 49"/>
          <p:cNvSpPr/>
          <p:nvPr/>
        </p:nvSpPr>
        <p:spPr>
          <a:xfrm>
            <a:off x="4261104" y="4256024"/>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Next product after Db2 </a:t>
            </a:r>
            <a:r>
              <a:rPr kumimoji="0" lang="en-US" sz="780" b="0" i="0" u="none" strike="noStrike" kern="1200" cap="none" spc="0" normalizeH="0" baseline="0" noProof="0" dirty="0" err="1">
                <a:ln>
                  <a:noFill/>
                </a:ln>
                <a:solidFill>
                  <a:srgbClr val="262626"/>
                </a:solidFill>
                <a:effectLst/>
                <a:uLnTx/>
                <a:uFillTx/>
                <a:latin typeface="Arial" pitchFamily="34" charset="0"/>
                <a:ea typeface="Arial" pitchFamily="34" charset="-122"/>
                <a:cs typeface="Arial" pitchFamily="34" charset="-120"/>
              </a:rPr>
              <a:t>sequencin</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2" name="Text 50"/>
          <p:cNvSpPr/>
          <p:nvPr/>
        </p:nvSpPr>
        <p:spPr>
          <a:xfrm>
            <a:off x="6912864" y="4256024"/>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Not ready yet.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3" name="Text 51"/>
          <p:cNvSpPr/>
          <p:nvPr/>
        </p:nvSpPr>
        <p:spPr>
          <a:xfrm>
            <a:off x="9198864" y="4256024"/>
            <a:ext cx="2331720" cy="301752"/>
          </a:xfrm>
          <a:prstGeom prst="rect">
            <a:avLst/>
          </a:prstGeom>
          <a:noFill/>
          <a:ln/>
        </p:spPr>
        <p:txBody>
          <a:bodyPr wrap="square" lIns="127" tIns="127" rIns="127" bIns="127" rtlCol="0" anchor="t">
            <a:normAutofit/>
          </a:bodyPr>
          <a:lstStyle/>
          <a:p>
            <a:r>
              <a:rPr lang="en-US" sz="780" dirty="0">
                <a:solidFill>
                  <a:srgbClr val="262626"/>
                </a:solidFill>
                <a:latin typeface="Arial" pitchFamily="34" charset="0"/>
                <a:ea typeface="Arial" pitchFamily="34" charset="-122"/>
                <a:cs typeface="Arial" pitchFamily="34" charset="-120"/>
              </a:rPr>
              <a:t>Pending BVA build and PM validation.</a:t>
            </a:r>
            <a:endParaRPr lang="en-US" sz="780"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4" name="Shape 52"/>
          <p:cNvSpPr/>
          <p:nvPr/>
        </p:nvSpPr>
        <p:spPr>
          <a:xfrm>
            <a:off x="502920" y="4649216"/>
            <a:ext cx="11201400" cy="475488"/>
          </a:xfrm>
          <a:prstGeom prst="rect">
            <a:avLst/>
          </a:prstGeom>
          <a:solidFill>
            <a:srgbClr val="FAFAFA"/>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5" name="Text 53"/>
          <p:cNvSpPr/>
          <p:nvPr/>
        </p:nvSpPr>
        <p:spPr>
          <a:xfrm>
            <a:off x="557784" y="4758944"/>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Planning Analytics</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57" name="Text 55"/>
          <p:cNvSpPr/>
          <p:nvPr/>
        </p:nvSpPr>
        <p:spPr>
          <a:xfrm>
            <a:off x="4261104" y="4731512"/>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Sequenced after DataStage. PM team currently busy with demos and pilots.</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8" name="Text 56"/>
          <p:cNvSpPr/>
          <p:nvPr/>
        </p:nvSpPr>
        <p:spPr>
          <a:xfrm>
            <a:off x="6912864" y="4731512"/>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Not ready yet.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9" name="Text 57"/>
          <p:cNvSpPr/>
          <p:nvPr/>
        </p:nvSpPr>
        <p:spPr>
          <a:xfrm>
            <a:off x="9198864" y="4731512"/>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PM collaboration.</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61" name="Text 24">
            <a:extLst>
              <a:ext uri="{FF2B5EF4-FFF2-40B4-BE49-F238E27FC236}">
                <a16:creationId xmlns:a16="http://schemas.microsoft.com/office/drawing/2014/main" id="{FDA1324E-C882-D180-36C6-77CD30616F43}"/>
              </a:ext>
            </a:extLst>
          </p:cNvPr>
          <p:cNvSpPr/>
          <p:nvPr/>
        </p:nvSpPr>
        <p:spPr>
          <a:xfrm>
            <a:off x="2432304" y="2902712"/>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63" name="Text 42">
            <a:extLst>
              <a:ext uri="{FF2B5EF4-FFF2-40B4-BE49-F238E27FC236}">
                <a16:creationId xmlns:a16="http://schemas.microsoft.com/office/drawing/2014/main" id="{F241CFE5-DF08-0E6A-1EB9-C91E28B1E650}"/>
              </a:ext>
            </a:extLst>
          </p:cNvPr>
          <p:cNvSpPr/>
          <p:nvPr/>
        </p:nvSpPr>
        <p:spPr>
          <a:xfrm>
            <a:off x="2432304" y="4288028"/>
            <a:ext cx="960120" cy="237744"/>
          </a:xfrm>
          <a:prstGeom prst="rect">
            <a:avLst/>
          </a:prstGeom>
          <a:solidFill>
            <a:srgbClr val="FFF1E5"/>
          </a:solidFill>
          <a:ln>
            <a:solidFill>
              <a:srgbClr val="FFF1E5">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FF832B"/>
                </a:solidFill>
                <a:effectLst/>
                <a:uLnTx/>
                <a:uFillTx/>
                <a:latin typeface="Arial" pitchFamily="34" charset="0"/>
                <a:ea typeface="Arial" pitchFamily="34" charset="-122"/>
                <a:cs typeface="Arial" pitchFamily="34" charset="-120"/>
              </a:rPr>
              <a:t>In progress</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64" name="Text 42">
            <a:extLst>
              <a:ext uri="{FF2B5EF4-FFF2-40B4-BE49-F238E27FC236}">
                <a16:creationId xmlns:a16="http://schemas.microsoft.com/office/drawing/2014/main" id="{743E6CF1-4064-1B9C-BDC4-AF06D65F4072}"/>
              </a:ext>
            </a:extLst>
          </p:cNvPr>
          <p:cNvSpPr/>
          <p:nvPr/>
        </p:nvSpPr>
        <p:spPr>
          <a:xfrm>
            <a:off x="2409444" y="4774418"/>
            <a:ext cx="960120" cy="237744"/>
          </a:xfrm>
          <a:prstGeom prst="rect">
            <a:avLst/>
          </a:prstGeom>
          <a:solidFill>
            <a:srgbClr val="FFF1E5"/>
          </a:solidFill>
          <a:ln>
            <a:solidFill>
              <a:srgbClr val="FFF1E5">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FF832B"/>
                </a:solidFill>
                <a:effectLst/>
                <a:uLnTx/>
                <a:uFillTx/>
                <a:latin typeface="Arial" pitchFamily="34" charset="0"/>
                <a:ea typeface="Arial" pitchFamily="34" charset="-122"/>
                <a:cs typeface="Arial" pitchFamily="34" charset="-120"/>
              </a:rPr>
              <a:t>In progress</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38" name="Text 24">
            <a:extLst>
              <a:ext uri="{FF2B5EF4-FFF2-40B4-BE49-F238E27FC236}">
                <a16:creationId xmlns:a16="http://schemas.microsoft.com/office/drawing/2014/main" id="{40DD76D2-3F07-A092-C3CE-449ADBE5835F}"/>
              </a:ext>
            </a:extLst>
          </p:cNvPr>
          <p:cNvSpPr/>
          <p:nvPr/>
        </p:nvSpPr>
        <p:spPr>
          <a:xfrm>
            <a:off x="2409444" y="3812540"/>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50" name="Text 58">
            <a:extLst>
              <a:ext uri="{FF2B5EF4-FFF2-40B4-BE49-F238E27FC236}">
                <a16:creationId xmlns:a16="http://schemas.microsoft.com/office/drawing/2014/main" id="{C2A01388-3A90-8983-E335-9E65830A1ECC}"/>
              </a:ext>
            </a:extLst>
          </p:cNvPr>
          <p:cNvSpPr/>
          <p:nvPr/>
        </p:nvSpPr>
        <p:spPr>
          <a:xfrm>
            <a:off x="502920" y="5879818"/>
            <a:ext cx="10881360" cy="256032"/>
          </a:xfrm>
          <a:prstGeom prst="rect">
            <a:avLst/>
          </a:prstGeom>
          <a:solidFill>
            <a:srgbClr val="EDF5FF"/>
          </a:solidFill>
          <a:ln w="12700">
            <a:solidFill>
              <a:srgbClr val="EDF5FF"/>
            </a:solidFill>
          </a:ln>
        </p:spPr>
        <p:txBody>
          <a:bodyPr wrap="square" lIns="1016" tIns="1016" rIns="1016" bIns="1016" rtlCol="0" anchor="t">
            <a:normAutofit/>
          </a:bodyPr>
          <a:lstStyle/>
          <a:p>
            <a:pPr>
              <a:defRPr/>
            </a:pPr>
            <a:r>
              <a:rPr lang="en-US" sz="1150" b="1" dirty="0">
                <a:solidFill>
                  <a:srgbClr val="161616"/>
                </a:solidFill>
                <a:latin typeface="Arial"/>
                <a:ea typeface="Arial" pitchFamily="34" charset="-122"/>
                <a:cs typeface="Arial"/>
              </a:rPr>
              <a:t>All BVAs are available via ISC Value360 tool as customizable templates.</a:t>
            </a:r>
            <a:endParaRPr lang="en-US" sz="1150" b="1" i="0" u="none" strike="noStrike" kern="1200" cap="none" spc="0" normalizeH="0" baseline="0" noProof="0" dirty="0">
              <a:ln>
                <a:noFill/>
              </a:ln>
              <a:solidFill>
                <a:srgbClr val="161616"/>
              </a:solidFill>
              <a:effectLst/>
              <a:uLnTx/>
              <a:uFillTx/>
              <a:latin typeface="Arial"/>
              <a:cs typeface="Arial"/>
            </a:endParaRPr>
          </a:p>
        </p:txBody>
      </p:sp>
      <p:sp>
        <p:nvSpPr>
          <p:cNvPr id="6" name="Text 24">
            <a:extLst>
              <a:ext uri="{FF2B5EF4-FFF2-40B4-BE49-F238E27FC236}">
                <a16:creationId xmlns:a16="http://schemas.microsoft.com/office/drawing/2014/main" id="{489677BB-FF35-6E5E-AC57-AC9CAC2F36BA}"/>
              </a:ext>
            </a:extLst>
          </p:cNvPr>
          <p:cNvSpPr/>
          <p:nvPr/>
        </p:nvSpPr>
        <p:spPr>
          <a:xfrm>
            <a:off x="2432304" y="3377196"/>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28600"/>
            <a:ext cx="30175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Core-to-Mod BVA status</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Text 1"/>
          <p:cNvSpPr/>
          <p:nvPr/>
        </p:nvSpPr>
        <p:spPr>
          <a:xfrm>
            <a:off x="502920" y="475488"/>
            <a:ext cx="81381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b="1" dirty="0">
                <a:solidFill>
                  <a:srgbClr val="161616"/>
                </a:solidFill>
                <a:latin typeface="Arial" pitchFamily="34" charset="0"/>
                <a:ea typeface="Arial" pitchFamily="34" charset="-122"/>
                <a:cs typeface="Arial" pitchFamily="34" charset="-120"/>
              </a:rPr>
              <a:t>Sellers </a:t>
            </a:r>
            <a:r>
              <a:rPr kumimoji="0" lang="en-US" sz="2500" b="1" i="0" u="none" strike="noStrike" kern="1200" cap="none" spc="0" normalizeH="0" baseline="0" noProof="0" dirty="0">
                <a:ln>
                  <a:noFill/>
                </a:ln>
                <a:solidFill>
                  <a:srgbClr val="161616"/>
                </a:solidFill>
                <a:effectLst/>
                <a:uLnTx/>
                <a:uFillTx/>
                <a:latin typeface="Arial" pitchFamily="34" charset="0"/>
                <a:ea typeface="Arial" pitchFamily="34" charset="-122"/>
                <a:cs typeface="Arial" pitchFamily="34" charset="-120"/>
              </a:rPr>
              <a:t>can use the completed BVAs</a:t>
            </a:r>
            <a:endParaRPr kumimoji="0" lang="en-US" sz="25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2"/>
          <p:cNvSpPr/>
          <p:nvPr/>
        </p:nvSpPr>
        <p:spPr>
          <a:xfrm>
            <a:off x="521208" y="896112"/>
            <a:ext cx="106984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Completed BVAs provide a starting model in Value 360. Client-specific value requires validated inputs and assumptions.</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Shape 3"/>
          <p:cNvSpPr/>
          <p:nvPr/>
        </p:nvSpPr>
        <p:spPr>
          <a:xfrm>
            <a:off x="502920" y="1207008"/>
            <a:ext cx="11201400" cy="22860"/>
          </a:xfrm>
          <a:prstGeom prst="rect">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 name="Text 4"/>
          <p:cNvSpPr/>
          <p:nvPr/>
        </p:nvSpPr>
        <p:spPr>
          <a:xfrm>
            <a:off x="621792" y="1481328"/>
            <a:ext cx="2377440" cy="25603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1616"/>
                </a:solidFill>
                <a:effectLst/>
                <a:uLnTx/>
                <a:uFillTx/>
                <a:latin typeface="Arial" pitchFamily="34" charset="0"/>
                <a:ea typeface="Arial" pitchFamily="34" charset="-122"/>
                <a:cs typeface="Arial" pitchFamily="34" charset="-120"/>
              </a:rPr>
              <a:t>Access path</a:t>
            </a:r>
            <a:endParaRPr kumimoji="0" lang="en-US" sz="16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Shape 5"/>
          <p:cNvSpPr/>
          <p:nvPr/>
        </p:nvSpPr>
        <p:spPr>
          <a:xfrm>
            <a:off x="658368" y="1901952"/>
            <a:ext cx="310896" cy="310896"/>
          </a:xfrm>
          <a:prstGeom prst="ellipse">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6"/>
          <p:cNvSpPr/>
          <p:nvPr/>
        </p:nvSpPr>
        <p:spPr>
          <a:xfrm>
            <a:off x="758952" y="1975104"/>
            <a:ext cx="109728" cy="91440"/>
          </a:xfrm>
          <a:prstGeom prst="rect">
            <a:avLst/>
          </a:prstGeom>
          <a:noFill/>
          <a:ln/>
        </p:spPr>
        <p:txBody>
          <a:bodyPr wrap="square" lIns="0" tIns="0" rIns="0" bIns="0" rtlCol="0" anchor="t">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7"/>
          <p:cNvSpPr/>
          <p:nvPr/>
        </p:nvSpPr>
        <p:spPr>
          <a:xfrm>
            <a:off x="1115568" y="1874520"/>
            <a:ext cx="2011680" cy="1828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Open Value 360 in ISC</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Text 8"/>
          <p:cNvSpPr/>
          <p:nvPr/>
        </p:nvSpPr>
        <p:spPr>
          <a:xfrm>
            <a:off x="1115568" y="2103120"/>
            <a:ext cx="2971800" cy="24688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6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Go to the Core-to-Mod product template.</a:t>
            </a:r>
            <a:endParaRPr kumimoji="0" lang="en-US" sz="86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Shape 9"/>
          <p:cNvSpPr/>
          <p:nvPr/>
        </p:nvSpPr>
        <p:spPr>
          <a:xfrm>
            <a:off x="813816" y="2231136"/>
            <a:ext cx="0" cy="356616"/>
          </a:xfrm>
          <a:prstGeom prst="line">
            <a:avLst/>
          </a:prstGeom>
          <a:noFill/>
          <a:ln w="13970">
            <a:solidFill>
              <a:srgbClr val="C6C6C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2" name="Shape 10"/>
          <p:cNvSpPr/>
          <p:nvPr/>
        </p:nvSpPr>
        <p:spPr>
          <a:xfrm>
            <a:off x="658368" y="2651760"/>
            <a:ext cx="310896" cy="310896"/>
          </a:xfrm>
          <a:prstGeom prst="ellipse">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Text 11"/>
          <p:cNvSpPr/>
          <p:nvPr/>
        </p:nvSpPr>
        <p:spPr>
          <a:xfrm>
            <a:off x="758952" y="2724912"/>
            <a:ext cx="109728" cy="91440"/>
          </a:xfrm>
          <a:prstGeom prst="rect">
            <a:avLst/>
          </a:prstGeom>
          <a:noFill/>
          <a:ln/>
        </p:spPr>
        <p:txBody>
          <a:bodyPr wrap="square" lIns="0" tIns="0" rIns="0" bIns="0" rtlCol="0" anchor="t">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Text 12"/>
          <p:cNvSpPr/>
          <p:nvPr/>
        </p:nvSpPr>
        <p:spPr>
          <a:xfrm>
            <a:off x="1115568" y="2624328"/>
            <a:ext cx="2011680" cy="1828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Select product + motion</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Text 13"/>
          <p:cNvSpPr/>
          <p:nvPr/>
        </p:nvSpPr>
        <p:spPr>
          <a:xfrm>
            <a:off x="1115568" y="2852928"/>
            <a:ext cx="2971800" cy="24688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6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Choose the modernization path that fits the account.</a:t>
            </a:r>
            <a:endParaRPr kumimoji="0" lang="en-US" sz="86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Shape 14"/>
          <p:cNvSpPr/>
          <p:nvPr/>
        </p:nvSpPr>
        <p:spPr>
          <a:xfrm>
            <a:off x="813816" y="2980944"/>
            <a:ext cx="0" cy="356616"/>
          </a:xfrm>
          <a:prstGeom prst="line">
            <a:avLst/>
          </a:prstGeom>
          <a:noFill/>
          <a:ln w="13970">
            <a:solidFill>
              <a:srgbClr val="C6C6C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 name="Shape 15"/>
          <p:cNvSpPr/>
          <p:nvPr/>
        </p:nvSpPr>
        <p:spPr>
          <a:xfrm>
            <a:off x="658368" y="3401568"/>
            <a:ext cx="310896" cy="310896"/>
          </a:xfrm>
          <a:prstGeom prst="ellipse">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8" name="Text 16"/>
          <p:cNvSpPr/>
          <p:nvPr/>
        </p:nvSpPr>
        <p:spPr>
          <a:xfrm>
            <a:off x="758952" y="3474720"/>
            <a:ext cx="109728" cy="91440"/>
          </a:xfrm>
          <a:prstGeom prst="rect">
            <a:avLst/>
          </a:prstGeom>
          <a:noFill/>
          <a:ln/>
        </p:spPr>
        <p:txBody>
          <a:bodyPr wrap="square" lIns="0" tIns="0" rIns="0" bIns="0" rtlCol="0" anchor="t">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Text 17"/>
          <p:cNvSpPr/>
          <p:nvPr/>
        </p:nvSpPr>
        <p:spPr>
          <a:xfrm>
            <a:off x="1115568" y="3374136"/>
            <a:ext cx="2011680" cy="1828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Review baseline BVA</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8"/>
          <p:cNvSpPr/>
          <p:nvPr/>
        </p:nvSpPr>
        <p:spPr>
          <a:xfrm>
            <a:off x="1115568" y="3602736"/>
            <a:ext cx="2971800" cy="246888"/>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6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Start with approved benefit levers and benchmark assumptions.</a:t>
            </a:r>
            <a:endParaRPr kumimoji="0" lang="en-US" sz="86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Shape 19"/>
          <p:cNvSpPr/>
          <p:nvPr/>
        </p:nvSpPr>
        <p:spPr>
          <a:xfrm>
            <a:off x="813816" y="3730752"/>
            <a:ext cx="0" cy="356616"/>
          </a:xfrm>
          <a:prstGeom prst="line">
            <a:avLst/>
          </a:prstGeom>
          <a:noFill/>
          <a:ln w="13970">
            <a:solidFill>
              <a:srgbClr val="C6C6C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2" name="Shape 20"/>
          <p:cNvSpPr/>
          <p:nvPr/>
        </p:nvSpPr>
        <p:spPr>
          <a:xfrm>
            <a:off x="658368" y="4151376"/>
            <a:ext cx="310896" cy="310896"/>
          </a:xfrm>
          <a:prstGeom prst="ellipse">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3" name="Text 21"/>
          <p:cNvSpPr/>
          <p:nvPr/>
        </p:nvSpPr>
        <p:spPr>
          <a:xfrm>
            <a:off x="758952" y="4224528"/>
            <a:ext cx="109728" cy="91440"/>
          </a:xfrm>
          <a:prstGeom prst="rect">
            <a:avLst/>
          </a:prstGeom>
          <a:noFill/>
          <a:ln/>
        </p:spPr>
        <p:txBody>
          <a:bodyPr wrap="square" lIns="0" tIns="0" rIns="0" bIns="0" rtlCol="0" anchor="t">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Text 22"/>
          <p:cNvSpPr/>
          <p:nvPr/>
        </p:nvSpPr>
        <p:spPr>
          <a:xfrm>
            <a:off x="1115568" y="4123944"/>
            <a:ext cx="2011680" cy="1828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Add client inputs</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Text 23"/>
          <p:cNvSpPr/>
          <p:nvPr/>
        </p:nvSpPr>
        <p:spPr>
          <a:xfrm>
            <a:off x="1115568" y="4352544"/>
            <a:ext cx="2971800" cy="246888"/>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6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Validate environment, costs, effort, downtime, and operating data.</a:t>
            </a:r>
            <a:endParaRPr kumimoji="0" lang="en-US" sz="86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Shape 24"/>
          <p:cNvSpPr/>
          <p:nvPr/>
        </p:nvSpPr>
        <p:spPr>
          <a:xfrm>
            <a:off x="813816" y="4480560"/>
            <a:ext cx="0" cy="356616"/>
          </a:xfrm>
          <a:prstGeom prst="line">
            <a:avLst/>
          </a:prstGeom>
          <a:noFill/>
          <a:ln w="13970">
            <a:solidFill>
              <a:srgbClr val="C6C6C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7" name="Shape 25"/>
          <p:cNvSpPr/>
          <p:nvPr/>
        </p:nvSpPr>
        <p:spPr>
          <a:xfrm>
            <a:off x="658368" y="4901184"/>
            <a:ext cx="310896" cy="310896"/>
          </a:xfrm>
          <a:prstGeom prst="ellipse">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8" name="Text 26"/>
          <p:cNvSpPr/>
          <p:nvPr/>
        </p:nvSpPr>
        <p:spPr>
          <a:xfrm>
            <a:off x="758952" y="4974336"/>
            <a:ext cx="109728" cy="91440"/>
          </a:xfrm>
          <a:prstGeom prst="rect">
            <a:avLst/>
          </a:prstGeom>
          <a:noFill/>
          <a:ln/>
        </p:spPr>
        <p:txBody>
          <a:bodyPr wrap="square" lIns="0" tIns="0" rIns="0" bIns="0" rtlCol="0" anchor="t">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5</a:t>
            </a:r>
            <a:endParaRPr kumimoji="0" lang="en-US" sz="85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7"/>
          <p:cNvSpPr/>
          <p:nvPr/>
        </p:nvSpPr>
        <p:spPr>
          <a:xfrm>
            <a:off x="1115568" y="4873752"/>
            <a:ext cx="2011680" cy="1828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Generate client BVA</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Text 28"/>
          <p:cNvSpPr/>
          <p:nvPr/>
        </p:nvSpPr>
        <p:spPr>
          <a:xfrm>
            <a:off x="1115568" y="5102352"/>
            <a:ext cx="2971800" cy="24688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6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Use the output for a funded modernization discussion.</a:t>
            </a:r>
            <a:endParaRPr kumimoji="0" lang="en-US" sz="86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Shape 29"/>
          <p:cNvSpPr/>
          <p:nvPr/>
        </p:nvSpPr>
        <p:spPr>
          <a:xfrm>
            <a:off x="4617720" y="1444752"/>
            <a:ext cx="3840480" cy="2834640"/>
          </a:xfrm>
          <a:prstGeom prst="roundRect">
            <a:avLst>
              <a:gd name="adj" fmla="val 1935"/>
            </a:avLst>
          </a:prstGeom>
          <a:solidFill>
            <a:srgbClr val="FAFAFA"/>
          </a:solidFill>
          <a:ln w="12700">
            <a:solidFill>
              <a:srgbClr val="C6C6C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2" name="Text 30"/>
          <p:cNvSpPr/>
          <p:nvPr/>
        </p:nvSpPr>
        <p:spPr>
          <a:xfrm>
            <a:off x="4800600" y="1664208"/>
            <a:ext cx="2286000" cy="23774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Value 360 example view</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33" name="Text 31"/>
          <p:cNvSpPr/>
          <p:nvPr/>
        </p:nvSpPr>
        <p:spPr>
          <a:xfrm>
            <a:off x="4800600" y="1993392"/>
            <a:ext cx="2560320" cy="16459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Db2 Core-to-Mod BVA</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34" name="Shape 32"/>
          <p:cNvSpPr/>
          <p:nvPr/>
        </p:nvSpPr>
        <p:spPr>
          <a:xfrm>
            <a:off x="4800600" y="2331720"/>
            <a:ext cx="3456432" cy="329184"/>
          </a:xfrm>
          <a:prstGeom prst="rect">
            <a:avLst/>
          </a:prstGeom>
          <a:solidFill>
            <a:srgbClr val="EDF5FF"/>
          </a:solidFill>
          <a:ln w="12700">
            <a:solidFill>
              <a:srgbClr val="EDF5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5" name="Text 33"/>
          <p:cNvSpPr/>
          <p:nvPr/>
        </p:nvSpPr>
        <p:spPr>
          <a:xfrm>
            <a:off x="4919472" y="2432304"/>
            <a:ext cx="1143000" cy="73152"/>
          </a:xfrm>
          <a:prstGeom prst="rect">
            <a:avLst/>
          </a:prstGeom>
          <a:noFill/>
          <a:ln/>
        </p:spPr>
        <p:txBody>
          <a:bodyPr wrap="square" lIns="0" tIns="0" rIns="0" bIns="0" rtlCol="0" anchor="t">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Benefit levers</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36" name="Text 34"/>
          <p:cNvSpPr/>
          <p:nvPr/>
        </p:nvSpPr>
        <p:spPr>
          <a:xfrm>
            <a:off x="6236208" y="2432304"/>
            <a:ext cx="1051560" cy="73152"/>
          </a:xfrm>
          <a:prstGeom prst="rect">
            <a:avLst/>
          </a:prstGeom>
          <a:noFill/>
          <a:ln/>
        </p:spPr>
        <p:txBody>
          <a:bodyPr wrap="square" lIns="0" tIns="0" rIns="0" bIns="0" rtlCol="0" anchor="t">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Assumptions</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37" name="Text 35"/>
          <p:cNvSpPr/>
          <p:nvPr/>
        </p:nvSpPr>
        <p:spPr>
          <a:xfrm>
            <a:off x="7370064" y="2432304"/>
            <a:ext cx="777240" cy="73152"/>
          </a:xfrm>
          <a:prstGeom prst="rect">
            <a:avLst/>
          </a:prstGeom>
          <a:noFill/>
          <a:ln/>
        </p:spPr>
        <p:txBody>
          <a:bodyPr wrap="square" lIns="0" tIns="0" rIns="0" bIns="0" rtlCol="0" anchor="t">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3-year impact</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38" name="Shape 36"/>
          <p:cNvSpPr/>
          <p:nvPr/>
        </p:nvSpPr>
        <p:spPr>
          <a:xfrm>
            <a:off x="4800600" y="2743200"/>
            <a:ext cx="3456432" cy="228600"/>
          </a:xfrm>
          <a:prstGeom prst="rect">
            <a:avLst/>
          </a:prstGeom>
          <a:solidFill>
            <a:srgbClr val="F4F4F4"/>
          </a:solidFill>
          <a:ln w="508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9" name="Text 37"/>
          <p:cNvSpPr/>
          <p:nvPr/>
        </p:nvSpPr>
        <p:spPr>
          <a:xfrm>
            <a:off x="4919472" y="2807208"/>
            <a:ext cx="123444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Avoid upgrade cost</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40" name="Text 38"/>
          <p:cNvSpPr/>
          <p:nvPr/>
        </p:nvSpPr>
        <p:spPr>
          <a:xfrm>
            <a:off x="6236208" y="2807208"/>
            <a:ext cx="100584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Upgrade cycle</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41" name="Text 39"/>
          <p:cNvSpPr/>
          <p:nvPr/>
        </p:nvSpPr>
        <p:spPr>
          <a:xfrm>
            <a:off x="7479792" y="2807208"/>
            <a:ext cx="41148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42" name="Shape 40"/>
          <p:cNvSpPr/>
          <p:nvPr/>
        </p:nvSpPr>
        <p:spPr>
          <a:xfrm>
            <a:off x="4800600" y="3044952"/>
            <a:ext cx="3456432" cy="228600"/>
          </a:xfrm>
          <a:prstGeom prst="rect">
            <a:avLst/>
          </a:prstGeom>
          <a:solidFill>
            <a:srgbClr val="FFFFFF"/>
          </a:solidFill>
          <a:ln w="508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3" name="Text 41"/>
          <p:cNvSpPr/>
          <p:nvPr/>
        </p:nvSpPr>
        <p:spPr>
          <a:xfrm>
            <a:off x="4919472" y="3108960"/>
            <a:ext cx="123444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Reduce DBA effort</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44" name="Text 42"/>
          <p:cNvSpPr/>
          <p:nvPr/>
        </p:nvSpPr>
        <p:spPr>
          <a:xfrm>
            <a:off x="6236208" y="3108960"/>
            <a:ext cx="100584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FTE hours</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45" name="Text 43"/>
          <p:cNvSpPr/>
          <p:nvPr/>
        </p:nvSpPr>
        <p:spPr>
          <a:xfrm>
            <a:off x="7479792" y="3108960"/>
            <a:ext cx="41148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46" name="Shape 44"/>
          <p:cNvSpPr/>
          <p:nvPr/>
        </p:nvSpPr>
        <p:spPr>
          <a:xfrm>
            <a:off x="4800600" y="3346704"/>
            <a:ext cx="3456432" cy="228600"/>
          </a:xfrm>
          <a:prstGeom prst="rect">
            <a:avLst/>
          </a:prstGeom>
          <a:solidFill>
            <a:srgbClr val="F4F4F4"/>
          </a:solidFill>
          <a:ln w="508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7" name="Text 45"/>
          <p:cNvSpPr/>
          <p:nvPr/>
        </p:nvSpPr>
        <p:spPr>
          <a:xfrm>
            <a:off x="4919472" y="3410712"/>
            <a:ext cx="123444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Improve availability</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48" name="Text 46"/>
          <p:cNvSpPr/>
          <p:nvPr/>
        </p:nvSpPr>
        <p:spPr>
          <a:xfrm>
            <a:off x="6236208" y="3410712"/>
            <a:ext cx="100584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Downtime hours</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49" name="Text 47"/>
          <p:cNvSpPr/>
          <p:nvPr/>
        </p:nvSpPr>
        <p:spPr>
          <a:xfrm>
            <a:off x="7479792" y="3410712"/>
            <a:ext cx="41148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50" name="Shape 48"/>
          <p:cNvSpPr/>
          <p:nvPr/>
        </p:nvSpPr>
        <p:spPr>
          <a:xfrm>
            <a:off x="4800600" y="3648456"/>
            <a:ext cx="3456432" cy="228600"/>
          </a:xfrm>
          <a:prstGeom prst="rect">
            <a:avLst/>
          </a:prstGeom>
          <a:solidFill>
            <a:srgbClr val="FFFFFF"/>
          </a:solidFill>
          <a:ln w="508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1" name="Text 49"/>
          <p:cNvSpPr/>
          <p:nvPr/>
        </p:nvSpPr>
        <p:spPr>
          <a:xfrm>
            <a:off x="4919472" y="3712464"/>
            <a:ext cx="123444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Speed provisioning</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52" name="Text 50"/>
          <p:cNvSpPr/>
          <p:nvPr/>
        </p:nvSpPr>
        <p:spPr>
          <a:xfrm>
            <a:off x="6236208" y="3712464"/>
            <a:ext cx="100584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Cycle time</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53" name="Text 51"/>
          <p:cNvSpPr/>
          <p:nvPr/>
        </p:nvSpPr>
        <p:spPr>
          <a:xfrm>
            <a:off x="7479792" y="3712464"/>
            <a:ext cx="411480" cy="64008"/>
          </a:xfrm>
          <a:prstGeom prst="rect">
            <a:avLst/>
          </a:prstGeom>
          <a:noFill/>
          <a:ln/>
        </p:spPr>
        <p:txBody>
          <a:bodyPr wrap="square" lIns="0" tIns="0" rIns="0" bIns="0" rtlCol="0" anchor="t">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a:t>
            </a:r>
            <a:endParaRPr kumimoji="0" lang="en-US" sz="680" b="0" i="0" u="none" strike="noStrike" kern="1200" cap="none" spc="0" normalizeH="0" baseline="0" noProof="0" dirty="0">
              <a:ln>
                <a:noFill/>
              </a:ln>
              <a:solidFill>
                <a:prstClr val="black"/>
              </a:solidFill>
              <a:effectLst/>
              <a:uLnTx/>
              <a:uFillTx/>
              <a:latin typeface="Arial"/>
              <a:ea typeface="+mn-ea"/>
              <a:cs typeface="+mn-cs"/>
            </a:endParaRPr>
          </a:p>
        </p:txBody>
      </p:sp>
      <p:sp>
        <p:nvSpPr>
          <p:cNvPr id="54" name="Text 52"/>
          <p:cNvSpPr/>
          <p:nvPr/>
        </p:nvSpPr>
        <p:spPr>
          <a:xfrm>
            <a:off x="4800600" y="3904488"/>
            <a:ext cx="3383280" cy="128016"/>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Replace with actual Value 360 screenshot before final external use if available.</a:t>
            </a:r>
            <a:endParaRPr kumimoji="0" lang="en-US" sz="720" b="0" i="0" u="none" strike="noStrike" kern="1200" cap="none" spc="0" normalizeH="0" baseline="0" noProof="0" dirty="0">
              <a:ln>
                <a:noFill/>
              </a:ln>
              <a:solidFill>
                <a:prstClr val="black"/>
              </a:solidFill>
              <a:effectLst/>
              <a:uLnTx/>
              <a:uFillTx/>
              <a:latin typeface="Arial"/>
              <a:ea typeface="+mn-ea"/>
              <a:cs typeface="+mn-cs"/>
            </a:endParaRPr>
          </a:p>
        </p:txBody>
      </p:sp>
      <p:sp>
        <p:nvSpPr>
          <p:cNvPr id="55" name="Text 53"/>
          <p:cNvSpPr/>
          <p:nvPr/>
        </p:nvSpPr>
        <p:spPr>
          <a:xfrm>
            <a:off x="8915400" y="1481328"/>
            <a:ext cx="2103120" cy="25603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1616"/>
                </a:solidFill>
                <a:effectLst/>
                <a:uLnTx/>
                <a:uFillTx/>
                <a:latin typeface="Arial" pitchFamily="34" charset="0"/>
                <a:ea typeface="Arial" pitchFamily="34" charset="-122"/>
                <a:cs typeface="Arial" pitchFamily="34" charset="-120"/>
              </a:rPr>
              <a:t>What Sellers gets</a:t>
            </a:r>
            <a:endParaRPr kumimoji="0" lang="en-US" sz="1600" b="0" i="0" u="none" strike="noStrike" kern="1200" cap="none" spc="0" normalizeH="0" baseline="0" noProof="0" dirty="0">
              <a:ln>
                <a:noFill/>
              </a:ln>
              <a:solidFill>
                <a:prstClr val="black"/>
              </a:solidFill>
              <a:effectLst/>
              <a:uLnTx/>
              <a:uFillTx/>
              <a:latin typeface="Arial"/>
              <a:ea typeface="+mn-ea"/>
              <a:cs typeface="+mn-cs"/>
            </a:endParaRPr>
          </a:p>
        </p:txBody>
      </p:sp>
      <p:sp>
        <p:nvSpPr>
          <p:cNvPr id="56" name="Text 54"/>
          <p:cNvSpPr/>
          <p:nvPr/>
        </p:nvSpPr>
        <p:spPr>
          <a:xfrm>
            <a:off x="8915400" y="1874520"/>
            <a:ext cx="2560320" cy="941832"/>
          </a:xfrm>
          <a:prstGeom prst="rect">
            <a:avLst/>
          </a:prstGeom>
          <a:solidFill>
            <a:srgbClr val="DEFBE6"/>
          </a:solidFill>
          <a:ln w="12700">
            <a:solidFill>
              <a:srgbClr val="DEFBE6"/>
            </a:solidFill>
          </a:ln>
        </p:spPr>
        <p:txBody>
          <a:bodyPr wrap="square" lIns="1524" tIns="1524" rIns="1524" bIns="152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 Reusable BVA template by product</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 Benefit levers tied to modernization</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 Starting benchmarks and assumptions</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 Client-specific business case after input validation</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57" name="Text 55"/>
          <p:cNvSpPr/>
          <p:nvPr/>
        </p:nvSpPr>
        <p:spPr>
          <a:xfrm>
            <a:off x="8915400" y="3108960"/>
            <a:ext cx="2103120" cy="25603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1616"/>
                </a:solidFill>
                <a:effectLst/>
                <a:uLnTx/>
                <a:uFillTx/>
                <a:latin typeface="Arial" pitchFamily="34" charset="0"/>
                <a:ea typeface="Arial" pitchFamily="34" charset="-122"/>
                <a:cs typeface="Arial" pitchFamily="34" charset="-120"/>
              </a:rPr>
              <a:t>What to avoid</a:t>
            </a:r>
            <a:endParaRPr kumimoji="0" lang="en-US" sz="1600" b="0" i="0" u="none" strike="noStrike" kern="1200" cap="none" spc="0" normalizeH="0" baseline="0" noProof="0" dirty="0">
              <a:ln>
                <a:noFill/>
              </a:ln>
              <a:solidFill>
                <a:prstClr val="black"/>
              </a:solidFill>
              <a:effectLst/>
              <a:uLnTx/>
              <a:uFillTx/>
              <a:latin typeface="Arial"/>
              <a:ea typeface="+mn-ea"/>
              <a:cs typeface="+mn-cs"/>
            </a:endParaRPr>
          </a:p>
        </p:txBody>
      </p:sp>
      <p:sp>
        <p:nvSpPr>
          <p:cNvPr id="58" name="Text 56"/>
          <p:cNvSpPr/>
          <p:nvPr/>
        </p:nvSpPr>
        <p:spPr>
          <a:xfrm>
            <a:off x="8915400" y="3493008"/>
            <a:ext cx="2560320" cy="786384"/>
          </a:xfrm>
          <a:prstGeom prst="rect">
            <a:avLst/>
          </a:prstGeom>
          <a:solidFill>
            <a:srgbClr val="FFF1F1"/>
          </a:solidFill>
          <a:ln w="12700">
            <a:solidFill>
              <a:srgbClr val="FFF1F1"/>
            </a:solidFill>
          </a:ln>
        </p:spPr>
        <p:txBody>
          <a:bodyPr wrap="square" lIns="1524" tIns="1524" rIns="1524" bIns="152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 Do not treat benchmarks as confirmed client value</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 Do not present drafts as ready for broad use</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 Do not detach value claims from product proof</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59" name="Shape 57"/>
          <p:cNvSpPr/>
          <p:nvPr/>
        </p:nvSpPr>
        <p:spPr>
          <a:xfrm>
            <a:off x="502920" y="5532120"/>
            <a:ext cx="11201400" cy="548640"/>
          </a:xfrm>
          <a:prstGeom prst="rect">
            <a:avLst/>
          </a:prstGeom>
          <a:solidFill>
            <a:srgbClr val="161616"/>
          </a:solidFill>
          <a:ln w="12700">
            <a:solidFill>
              <a:srgbClr val="161616">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0" name="Text 58"/>
          <p:cNvSpPr/>
          <p:nvPr/>
        </p:nvSpPr>
        <p:spPr>
          <a:xfrm>
            <a:off x="749808" y="5696712"/>
            <a:ext cx="10607040" cy="164592"/>
          </a:xfrm>
          <a:prstGeom prst="rect">
            <a:avLst/>
          </a:prstGeom>
          <a:noFill/>
          <a:ln/>
        </p:spPr>
        <p:txBody>
          <a:bodyPr wrap="square" lIns="0" tIns="0" rIns="0" bIns="0" rtlCol="0" anchor="t">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Product Modernization Technical View = product proof  |  Value 360 BVA = client-specific value</a:t>
            </a:r>
            <a:endParaRPr kumimoji="0" lang="en-US" sz="1350" b="0" i="0" u="none" strike="noStrike" kern="1200" cap="none" spc="0" normalizeH="0" baseline="0" noProof="0" dirty="0">
              <a:ln>
                <a:noFill/>
              </a:ln>
              <a:solidFill>
                <a:prstClr val="black"/>
              </a:solidFill>
              <a:effectLst/>
              <a:uLnTx/>
              <a:uFillTx/>
              <a:latin typeface="Arial"/>
              <a:ea typeface="+mn-ea"/>
              <a:cs typeface="+mn-cs"/>
            </a:endParaRPr>
          </a:p>
        </p:txBody>
      </p:sp>
      <p:sp>
        <p:nvSpPr>
          <p:cNvPr id="61" name="Text 59"/>
          <p:cNvSpPr/>
          <p:nvPr/>
        </p:nvSpPr>
        <p:spPr>
          <a:xfrm>
            <a:off x="640080" y="6318504"/>
            <a:ext cx="8503920" cy="16459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Access note: until templates are formally published, requests should route through the C2M / BVE team for guided use.</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6032" y="146304"/>
            <a:ext cx="6400800" cy="420624"/>
          </a:xfrm>
          <a:prstGeom prst="rect">
            <a:avLst/>
          </a:prstGeom>
          <a:noFill/>
          <a:ln/>
        </p:spPr>
        <p:txBody>
          <a:bodyPr wrap="square" lIns="0" tIns="0" rIns="0" bIns="0" rtlCol="0" anchor="t">
            <a:normAutofit fontScale="92500"/>
          </a:bodyPr>
          <a:lstStyle/>
          <a:p>
            <a:pPr marL="0" indent="0" algn="l">
              <a:buNone/>
            </a:pPr>
            <a:r>
              <a:rPr lang="en-US" sz="2600" b="1" dirty="0">
                <a:solidFill>
                  <a:srgbClr val="161616"/>
                </a:solidFill>
                <a:latin typeface="Arial" pitchFamily="34" charset="0"/>
                <a:ea typeface="Arial" pitchFamily="34" charset="-122"/>
                <a:cs typeface="Arial" pitchFamily="34" charset="-120"/>
              </a:rPr>
              <a:t>Value360 in ISC: App Runtime seller journey</a:t>
            </a:r>
            <a:endParaRPr lang="en-US" sz="2600" dirty="0"/>
          </a:p>
        </p:txBody>
      </p:sp>
      <p:sp>
        <p:nvSpPr>
          <p:cNvPr id="3" name="Text 1"/>
          <p:cNvSpPr/>
          <p:nvPr/>
        </p:nvSpPr>
        <p:spPr>
          <a:xfrm>
            <a:off x="256032" y="585216"/>
            <a:ext cx="5486400" cy="228600"/>
          </a:xfrm>
          <a:prstGeom prst="rect">
            <a:avLst/>
          </a:prstGeom>
          <a:noFill/>
          <a:ln/>
        </p:spPr>
        <p:txBody>
          <a:bodyPr wrap="square" lIns="0" tIns="0" rIns="0" bIns="0" rtlCol="0" anchor="t">
            <a:normAutofit fontScale="92500"/>
          </a:bodyPr>
          <a:lstStyle/>
          <a:p>
            <a:pPr marL="0" indent="0" algn="l">
              <a:buNone/>
            </a:pPr>
            <a:r>
              <a:rPr lang="en-US" sz="1380" dirty="0">
                <a:solidFill>
                  <a:srgbClr val="525252"/>
                </a:solidFill>
                <a:latin typeface="Arial" pitchFamily="34" charset="0"/>
                <a:ea typeface="Arial" pitchFamily="34" charset="-122"/>
                <a:cs typeface="Arial" pitchFamily="34" charset="-120"/>
              </a:rPr>
              <a:t>WAS / Java modernization example: discovery to quantified BVA output</a:t>
            </a:r>
            <a:endParaRPr lang="en-US" sz="1380" dirty="0"/>
          </a:p>
        </p:txBody>
      </p:sp>
      <p:sp>
        <p:nvSpPr>
          <p:cNvPr id="4" name="Text 2"/>
          <p:cNvSpPr/>
          <p:nvPr/>
        </p:nvSpPr>
        <p:spPr>
          <a:xfrm>
            <a:off x="9829800" y="201168"/>
            <a:ext cx="1280160" cy="182880"/>
          </a:xfrm>
          <a:prstGeom prst="rect">
            <a:avLst/>
          </a:prstGeom>
          <a:noFill/>
          <a:ln/>
        </p:spPr>
        <p:txBody>
          <a:bodyPr wrap="square" lIns="0" tIns="0" rIns="0" bIns="0" rtlCol="0" anchor="t">
            <a:normAutofit/>
          </a:bodyPr>
          <a:lstStyle/>
          <a:p>
            <a:pPr marL="0" indent="0" algn="r">
              <a:buNone/>
            </a:pPr>
            <a:r>
              <a:rPr lang="en-US" sz="1100" dirty="0">
                <a:solidFill>
                  <a:srgbClr val="525252"/>
                </a:solidFill>
                <a:latin typeface="Arial" pitchFamily="34" charset="0"/>
                <a:ea typeface="Arial" pitchFamily="34" charset="-122"/>
                <a:cs typeface="Arial" pitchFamily="34" charset="-120"/>
              </a:rPr>
              <a:t>Executive view</a:t>
            </a:r>
            <a:endParaRPr lang="en-US" sz="1100" dirty="0"/>
          </a:p>
        </p:txBody>
      </p:sp>
      <p:sp>
        <p:nvSpPr>
          <p:cNvPr id="5" name="Text 3"/>
          <p:cNvSpPr/>
          <p:nvPr/>
        </p:nvSpPr>
        <p:spPr>
          <a:xfrm>
            <a:off x="11539728" y="91440"/>
            <a:ext cx="502920" cy="201168"/>
          </a:xfrm>
          <a:prstGeom prst="rect">
            <a:avLst/>
          </a:prstGeom>
          <a:noFill/>
          <a:ln/>
        </p:spPr>
        <p:txBody>
          <a:bodyPr wrap="square" lIns="0" tIns="0" rIns="0" bIns="0" rtlCol="0" anchor="t">
            <a:normAutofit fontScale="92500" lnSpcReduction="20000"/>
          </a:bodyPr>
          <a:lstStyle/>
          <a:p>
            <a:pPr marL="0" indent="0" algn="r">
              <a:buNone/>
            </a:pPr>
            <a:r>
              <a:rPr lang="en-US" sz="1700" b="1" dirty="0">
                <a:solidFill>
                  <a:srgbClr val="161616"/>
                </a:solidFill>
                <a:latin typeface="Arial" pitchFamily="34" charset="0"/>
                <a:ea typeface="Arial" pitchFamily="34" charset="-122"/>
                <a:cs typeface="Arial" pitchFamily="34" charset="-120"/>
              </a:rPr>
              <a:t>IBM</a:t>
            </a:r>
            <a:endParaRPr lang="en-US" sz="1700" dirty="0"/>
          </a:p>
        </p:txBody>
      </p:sp>
      <p:sp>
        <p:nvSpPr>
          <p:cNvPr id="6" name="Shape 4"/>
          <p:cNvSpPr/>
          <p:nvPr/>
        </p:nvSpPr>
        <p:spPr>
          <a:xfrm>
            <a:off x="256032" y="877824"/>
            <a:ext cx="11722608" cy="27432"/>
          </a:xfrm>
          <a:prstGeom prst="rect">
            <a:avLst/>
          </a:prstGeom>
          <a:solidFill>
            <a:srgbClr val="0F62FE"/>
          </a:solidFill>
          <a:ln w="12700">
            <a:solidFill>
              <a:srgbClr val="0F62FE">
                <a:alpha val="0"/>
              </a:srgbClr>
            </a:solidFill>
            <a:prstDash val="solid"/>
          </a:ln>
        </p:spPr>
        <p:txBody>
          <a:bodyPr/>
          <a:lstStyle/>
          <a:p>
            <a:endParaRPr lang="en-US"/>
          </a:p>
        </p:txBody>
      </p:sp>
      <p:sp>
        <p:nvSpPr>
          <p:cNvPr id="7" name="Shape 5"/>
          <p:cNvSpPr/>
          <p:nvPr/>
        </p:nvSpPr>
        <p:spPr>
          <a:xfrm>
            <a:off x="365760" y="1170432"/>
            <a:ext cx="8019288" cy="4736592"/>
          </a:xfrm>
          <a:prstGeom prst="roundRect">
            <a:avLst>
              <a:gd name="adj" fmla="val 1158"/>
            </a:avLst>
          </a:prstGeom>
          <a:solidFill>
            <a:srgbClr val="FFFFFF"/>
          </a:solidFill>
          <a:ln w="12700">
            <a:solidFill>
              <a:srgbClr val="DDE1E6"/>
            </a:solidFill>
            <a:prstDash val="solid"/>
          </a:ln>
        </p:spPr>
        <p:txBody>
          <a:bodyPr/>
          <a:lstStyle/>
          <a:p>
            <a:endParaRPr lang="en-US"/>
          </a:p>
        </p:txBody>
      </p:sp>
      <p:sp>
        <p:nvSpPr>
          <p:cNvPr id="8" name="Shape 6"/>
          <p:cNvSpPr/>
          <p:nvPr/>
        </p:nvSpPr>
        <p:spPr>
          <a:xfrm>
            <a:off x="484632" y="1307592"/>
            <a:ext cx="7699248" cy="4370832"/>
          </a:xfrm>
          <a:prstGeom prst="rect">
            <a:avLst/>
          </a:prstGeom>
          <a:solidFill>
            <a:srgbClr val="FFFFFF"/>
          </a:solidFill>
          <a:ln w="12700">
            <a:solidFill>
              <a:srgbClr val="FFFFFF">
                <a:alpha val="0"/>
              </a:srgbClr>
            </a:solidFill>
            <a:prstDash val="solid"/>
          </a:ln>
        </p:spPr>
        <p:txBody>
          <a:bodyPr/>
          <a:lstStyle/>
          <a:p>
            <a:endParaRPr lang="en-US"/>
          </a:p>
        </p:txBody>
      </p:sp>
      <p:pic>
        <p:nvPicPr>
          <p:cNvPr id="9" name="Image 0" descr="/mnt/data/was_java_value360_seller_flow_transcript_v2.gif"/>
          <p:cNvPicPr>
            <a:picLocks noChangeAspect="1"/>
          </p:cNvPicPr>
          <p:nvPr/>
        </p:nvPicPr>
        <p:blipFill>
          <a:blip r:embed="rId3"/>
          <a:stretch>
            <a:fillRect/>
          </a:stretch>
        </p:blipFill>
        <p:spPr>
          <a:xfrm>
            <a:off x="512064" y="1335024"/>
            <a:ext cx="7635240" cy="4279392"/>
          </a:xfrm>
          <a:prstGeom prst="rect">
            <a:avLst/>
          </a:prstGeom>
        </p:spPr>
      </p:pic>
      <p:sp>
        <p:nvSpPr>
          <p:cNvPr id="10" name="Text 7"/>
          <p:cNvSpPr/>
          <p:nvPr/>
        </p:nvSpPr>
        <p:spPr>
          <a:xfrm>
            <a:off x="8723376" y="1152144"/>
            <a:ext cx="2560320" cy="320040"/>
          </a:xfrm>
          <a:prstGeom prst="rect">
            <a:avLst/>
          </a:prstGeom>
          <a:noFill/>
          <a:ln/>
        </p:spPr>
        <p:txBody>
          <a:bodyPr wrap="square" lIns="0" tIns="0" rIns="0" bIns="0" rtlCol="0" anchor="t">
            <a:normAutofit lnSpcReduction="10000"/>
          </a:bodyPr>
          <a:lstStyle/>
          <a:p>
            <a:pPr marL="0" indent="0" algn="l">
              <a:buNone/>
            </a:pPr>
            <a:r>
              <a:rPr lang="en-US" sz="2200" b="1" dirty="0">
                <a:solidFill>
                  <a:srgbClr val="161616"/>
                </a:solidFill>
                <a:latin typeface="Arial" pitchFamily="34" charset="0"/>
                <a:ea typeface="Arial" pitchFamily="34" charset="-122"/>
                <a:cs typeface="Arial" pitchFamily="34" charset="-120"/>
              </a:rPr>
              <a:t>Seller flow</a:t>
            </a:r>
            <a:endParaRPr lang="en-US" sz="2200" dirty="0"/>
          </a:p>
        </p:txBody>
      </p:sp>
      <p:sp>
        <p:nvSpPr>
          <p:cNvPr id="11" name="Text 8"/>
          <p:cNvSpPr/>
          <p:nvPr/>
        </p:nvSpPr>
        <p:spPr>
          <a:xfrm>
            <a:off x="8732520" y="1517904"/>
            <a:ext cx="2606040" cy="566928"/>
          </a:xfrm>
          <a:prstGeom prst="rect">
            <a:avLst/>
          </a:prstGeom>
          <a:noFill/>
          <a:ln/>
        </p:spPr>
        <p:txBody>
          <a:bodyPr wrap="square" lIns="0" tIns="0" rIns="0" bIns="0" rtlCol="0" anchor="t">
            <a:normAutofit/>
          </a:bodyPr>
          <a:lstStyle/>
          <a:p>
            <a:pPr marL="0" indent="0" algn="l">
              <a:buNone/>
            </a:pPr>
            <a:r>
              <a:rPr lang="en-US" sz="1150" dirty="0">
                <a:solidFill>
                  <a:srgbClr val="525252"/>
                </a:solidFill>
                <a:latin typeface="Arial" pitchFamily="34" charset="0"/>
                <a:ea typeface="Arial" pitchFamily="34" charset="-122"/>
                <a:cs typeface="Arial" pitchFamily="34" charset="-120"/>
              </a:rPr>
              <a:t>A guided view of how sellers move from</a:t>
            </a:r>
            <a:endParaRPr lang="en-US" sz="1150" dirty="0"/>
          </a:p>
          <a:p>
            <a:pPr marL="0" indent="0" algn="l">
              <a:buNone/>
            </a:pPr>
            <a:r>
              <a:rPr lang="en-US" sz="1150" dirty="0">
                <a:solidFill>
                  <a:srgbClr val="525252"/>
                </a:solidFill>
                <a:latin typeface="Arial" pitchFamily="34" charset="0"/>
                <a:ea typeface="Arial" pitchFamily="34" charset="-122"/>
                <a:cs typeface="Arial" pitchFamily="34" charset="-120"/>
              </a:rPr>
              <a:t>qualitative framing to quantified</a:t>
            </a:r>
            <a:endParaRPr lang="en-US" sz="1150" dirty="0"/>
          </a:p>
          <a:p>
            <a:pPr marL="0" indent="0" algn="l">
              <a:buNone/>
            </a:pPr>
            <a:r>
              <a:rPr lang="en-US" sz="1150" dirty="0">
                <a:solidFill>
                  <a:srgbClr val="525252"/>
                </a:solidFill>
                <a:latin typeface="Arial" pitchFamily="34" charset="0"/>
                <a:ea typeface="Arial" pitchFamily="34" charset="-122"/>
                <a:cs typeface="Arial" pitchFamily="34" charset="-120"/>
              </a:rPr>
              <a:t>business outcomes.</a:t>
            </a:r>
            <a:endParaRPr lang="en-US" sz="1150" dirty="0"/>
          </a:p>
        </p:txBody>
      </p:sp>
      <p:sp>
        <p:nvSpPr>
          <p:cNvPr id="12" name="Shape 9"/>
          <p:cNvSpPr/>
          <p:nvPr/>
        </p:nvSpPr>
        <p:spPr>
          <a:xfrm>
            <a:off x="8705088" y="2167128"/>
            <a:ext cx="2441448" cy="768096"/>
          </a:xfrm>
          <a:prstGeom prst="roundRect">
            <a:avLst>
              <a:gd name="adj" fmla="val 7143"/>
            </a:avLst>
          </a:prstGeom>
          <a:solidFill>
            <a:srgbClr val="EAF2FF"/>
          </a:solidFill>
          <a:ln w="10160">
            <a:solidFill>
              <a:srgbClr val="DDE1E6"/>
            </a:solidFill>
            <a:prstDash val="solid"/>
          </a:ln>
        </p:spPr>
        <p:txBody>
          <a:bodyPr/>
          <a:lstStyle/>
          <a:p>
            <a:endParaRPr lang="en-US"/>
          </a:p>
        </p:txBody>
      </p:sp>
      <p:sp>
        <p:nvSpPr>
          <p:cNvPr id="13" name="Shape 10"/>
          <p:cNvSpPr/>
          <p:nvPr/>
        </p:nvSpPr>
        <p:spPr>
          <a:xfrm>
            <a:off x="8823960" y="2322576"/>
            <a:ext cx="384048" cy="384048"/>
          </a:xfrm>
          <a:prstGeom prst="ellipse">
            <a:avLst/>
          </a:prstGeom>
          <a:solidFill>
            <a:srgbClr val="0F62FE"/>
          </a:solidFill>
          <a:ln w="12700">
            <a:solidFill>
              <a:srgbClr val="0F62FE">
                <a:alpha val="0"/>
              </a:srgbClr>
            </a:solidFill>
            <a:prstDash val="solid"/>
          </a:ln>
        </p:spPr>
        <p:txBody>
          <a:bodyPr/>
          <a:lstStyle/>
          <a:p>
            <a:endParaRPr lang="en-US"/>
          </a:p>
        </p:txBody>
      </p:sp>
      <p:sp>
        <p:nvSpPr>
          <p:cNvPr id="14" name="Text 11"/>
          <p:cNvSpPr/>
          <p:nvPr/>
        </p:nvSpPr>
        <p:spPr>
          <a:xfrm>
            <a:off x="8823960" y="2404872"/>
            <a:ext cx="384048" cy="109728"/>
          </a:xfrm>
          <a:prstGeom prst="rect">
            <a:avLst/>
          </a:prstGeom>
          <a:noFill/>
          <a:ln/>
        </p:spPr>
        <p:txBody>
          <a:bodyPr wrap="square" lIns="0" tIns="0" rIns="0" bIns="0" rtlCol="0" anchor="t">
            <a:normAutofit fontScale="92500" lnSpcReduction="20000"/>
          </a:bodyPr>
          <a:lstStyle/>
          <a:p>
            <a:pPr marL="0" indent="0" algn="ctr">
              <a:buNone/>
            </a:pPr>
            <a:r>
              <a:rPr lang="en-US" sz="920" b="1" dirty="0">
                <a:solidFill>
                  <a:srgbClr val="FFFFFF"/>
                </a:solidFill>
                <a:latin typeface="Arial" pitchFamily="34" charset="0"/>
                <a:ea typeface="Arial" pitchFamily="34" charset="-122"/>
                <a:cs typeface="Arial" pitchFamily="34" charset="-120"/>
              </a:rPr>
              <a:t>1</a:t>
            </a:r>
            <a:endParaRPr lang="en-US" sz="920" dirty="0"/>
          </a:p>
        </p:txBody>
      </p:sp>
      <p:sp>
        <p:nvSpPr>
          <p:cNvPr id="15" name="Text 12"/>
          <p:cNvSpPr/>
          <p:nvPr/>
        </p:nvSpPr>
        <p:spPr>
          <a:xfrm>
            <a:off x="9363456" y="2313432"/>
            <a:ext cx="1581912" cy="201168"/>
          </a:xfrm>
          <a:prstGeom prst="rect">
            <a:avLst/>
          </a:prstGeom>
          <a:noFill/>
          <a:ln/>
        </p:spPr>
        <p:txBody>
          <a:bodyPr wrap="square" lIns="0" tIns="0" rIns="0" bIns="0" rtlCol="0" anchor="t">
            <a:normAutofit/>
          </a:bodyPr>
          <a:lstStyle/>
          <a:p>
            <a:pPr marL="0" indent="0" algn="l">
              <a:buNone/>
            </a:pPr>
            <a:r>
              <a:rPr lang="en-US" sz="1230" b="1" dirty="0">
                <a:solidFill>
                  <a:srgbClr val="0F62FE"/>
                </a:solidFill>
                <a:latin typeface="Arial" pitchFamily="34" charset="0"/>
                <a:ea typeface="Arial" pitchFamily="34" charset="-122"/>
                <a:cs typeface="Arial" pitchFamily="34" charset="-120"/>
              </a:rPr>
              <a:t>Discovery</a:t>
            </a:r>
            <a:endParaRPr lang="en-US" sz="1230" dirty="0"/>
          </a:p>
        </p:txBody>
      </p:sp>
      <p:sp>
        <p:nvSpPr>
          <p:cNvPr id="16" name="Text 13"/>
          <p:cNvSpPr/>
          <p:nvPr/>
        </p:nvSpPr>
        <p:spPr>
          <a:xfrm>
            <a:off x="9363456" y="2578608"/>
            <a:ext cx="1600200" cy="228600"/>
          </a:xfrm>
          <a:prstGeom prst="rect">
            <a:avLst/>
          </a:prstGeom>
          <a:noFill/>
          <a:ln/>
        </p:spPr>
        <p:txBody>
          <a:bodyPr wrap="square" lIns="0" tIns="0" rIns="0" bIns="0" rtlCol="0" anchor="t">
            <a:normAutofit fontScale="92500" lnSpcReduction="10000"/>
          </a:bodyPr>
          <a:lstStyle/>
          <a:p>
            <a:pPr marL="0" indent="0" algn="l">
              <a:buNone/>
            </a:pPr>
            <a:r>
              <a:rPr lang="en-US" sz="870" dirty="0">
                <a:solidFill>
                  <a:srgbClr val="525252"/>
                </a:solidFill>
                <a:latin typeface="Arial" pitchFamily="34" charset="0"/>
                <a:ea typeface="Arial" pitchFamily="34" charset="-122"/>
                <a:cs typeface="Arial" pitchFamily="34" charset="-120"/>
              </a:rPr>
              <a:t>Why Change / Why Now / Why IBM</a:t>
            </a:r>
            <a:endParaRPr lang="en-US" sz="870" dirty="0"/>
          </a:p>
        </p:txBody>
      </p:sp>
      <p:sp>
        <p:nvSpPr>
          <p:cNvPr id="17" name="Shape 14"/>
          <p:cNvSpPr/>
          <p:nvPr/>
        </p:nvSpPr>
        <p:spPr>
          <a:xfrm>
            <a:off x="8705088" y="3044952"/>
            <a:ext cx="2441448" cy="768096"/>
          </a:xfrm>
          <a:prstGeom prst="roundRect">
            <a:avLst>
              <a:gd name="adj" fmla="val 7143"/>
            </a:avLst>
          </a:prstGeom>
          <a:solidFill>
            <a:srgbClr val="E5F6F6"/>
          </a:solidFill>
          <a:ln w="10160">
            <a:solidFill>
              <a:srgbClr val="DDE1E6"/>
            </a:solidFill>
            <a:prstDash val="solid"/>
          </a:ln>
        </p:spPr>
        <p:txBody>
          <a:bodyPr/>
          <a:lstStyle/>
          <a:p>
            <a:endParaRPr lang="en-US"/>
          </a:p>
        </p:txBody>
      </p:sp>
      <p:sp>
        <p:nvSpPr>
          <p:cNvPr id="18" name="Shape 15"/>
          <p:cNvSpPr/>
          <p:nvPr/>
        </p:nvSpPr>
        <p:spPr>
          <a:xfrm>
            <a:off x="8823960" y="3200400"/>
            <a:ext cx="384048" cy="384048"/>
          </a:xfrm>
          <a:prstGeom prst="ellipse">
            <a:avLst/>
          </a:prstGeom>
          <a:solidFill>
            <a:srgbClr val="009D9A"/>
          </a:solidFill>
          <a:ln w="12700">
            <a:solidFill>
              <a:srgbClr val="009D9A">
                <a:alpha val="0"/>
              </a:srgbClr>
            </a:solidFill>
            <a:prstDash val="solid"/>
          </a:ln>
        </p:spPr>
        <p:txBody>
          <a:bodyPr/>
          <a:lstStyle/>
          <a:p>
            <a:endParaRPr lang="en-US"/>
          </a:p>
        </p:txBody>
      </p:sp>
      <p:sp>
        <p:nvSpPr>
          <p:cNvPr id="19" name="Text 16"/>
          <p:cNvSpPr/>
          <p:nvPr/>
        </p:nvSpPr>
        <p:spPr>
          <a:xfrm>
            <a:off x="8823960" y="3282696"/>
            <a:ext cx="384048" cy="109728"/>
          </a:xfrm>
          <a:prstGeom prst="rect">
            <a:avLst/>
          </a:prstGeom>
          <a:noFill/>
          <a:ln/>
        </p:spPr>
        <p:txBody>
          <a:bodyPr wrap="square" lIns="0" tIns="0" rIns="0" bIns="0" rtlCol="0" anchor="t">
            <a:normAutofit fontScale="92500" lnSpcReduction="20000"/>
          </a:bodyPr>
          <a:lstStyle/>
          <a:p>
            <a:pPr marL="0" indent="0" algn="ctr">
              <a:buNone/>
            </a:pPr>
            <a:r>
              <a:rPr lang="en-US" sz="920" b="1" dirty="0">
                <a:solidFill>
                  <a:srgbClr val="FFFFFF"/>
                </a:solidFill>
                <a:latin typeface="Arial" pitchFamily="34" charset="0"/>
                <a:ea typeface="Arial" pitchFamily="34" charset="-122"/>
                <a:cs typeface="Arial" pitchFamily="34" charset="-120"/>
              </a:rPr>
              <a:t>2</a:t>
            </a:r>
            <a:endParaRPr lang="en-US" sz="920" dirty="0"/>
          </a:p>
        </p:txBody>
      </p:sp>
      <p:sp>
        <p:nvSpPr>
          <p:cNvPr id="20" name="Text 17"/>
          <p:cNvSpPr/>
          <p:nvPr/>
        </p:nvSpPr>
        <p:spPr>
          <a:xfrm>
            <a:off x="9363456" y="3191256"/>
            <a:ext cx="1581912" cy="201168"/>
          </a:xfrm>
          <a:prstGeom prst="rect">
            <a:avLst/>
          </a:prstGeom>
          <a:noFill/>
          <a:ln/>
        </p:spPr>
        <p:txBody>
          <a:bodyPr wrap="square" lIns="0" tIns="0" rIns="0" bIns="0" rtlCol="0" anchor="t">
            <a:normAutofit/>
          </a:bodyPr>
          <a:lstStyle/>
          <a:p>
            <a:pPr marL="0" indent="0" algn="l">
              <a:buNone/>
            </a:pPr>
            <a:r>
              <a:rPr lang="en-US" sz="1230" b="1" dirty="0">
                <a:solidFill>
                  <a:srgbClr val="009D9A"/>
                </a:solidFill>
                <a:latin typeface="Arial" pitchFamily="34" charset="0"/>
                <a:ea typeface="Arial" pitchFamily="34" charset="-122"/>
                <a:cs typeface="Arial" pitchFamily="34" charset="-120"/>
              </a:rPr>
              <a:t>Business outcomes</a:t>
            </a:r>
            <a:endParaRPr lang="en-US" sz="1230" dirty="0"/>
          </a:p>
        </p:txBody>
      </p:sp>
      <p:sp>
        <p:nvSpPr>
          <p:cNvPr id="21" name="Text 18"/>
          <p:cNvSpPr/>
          <p:nvPr/>
        </p:nvSpPr>
        <p:spPr>
          <a:xfrm>
            <a:off x="9363456" y="3456432"/>
            <a:ext cx="1600200" cy="228600"/>
          </a:xfrm>
          <a:prstGeom prst="rect">
            <a:avLst/>
          </a:prstGeom>
          <a:noFill/>
          <a:ln/>
        </p:spPr>
        <p:txBody>
          <a:bodyPr wrap="square" lIns="0" tIns="0" rIns="0" bIns="0" rtlCol="0" anchor="t">
            <a:normAutofit fontScale="92500" lnSpcReduction="10000"/>
          </a:bodyPr>
          <a:lstStyle/>
          <a:p>
            <a:pPr marL="0" indent="0" algn="l">
              <a:buNone/>
            </a:pPr>
            <a:r>
              <a:rPr lang="en-US" sz="870" dirty="0">
                <a:solidFill>
                  <a:srgbClr val="525252"/>
                </a:solidFill>
                <a:latin typeface="Arial" pitchFamily="34" charset="0"/>
                <a:ea typeface="Arial" pitchFamily="34" charset="-122"/>
                <a:cs typeface="Arial" pitchFamily="34" charset="-120"/>
              </a:rPr>
              <a:t>Select modernization motion and</a:t>
            </a:r>
            <a:endParaRPr lang="en-US" sz="870" dirty="0"/>
          </a:p>
          <a:p>
            <a:pPr marL="0" indent="0" algn="l">
              <a:buNone/>
            </a:pPr>
            <a:r>
              <a:rPr lang="en-US" sz="870" dirty="0">
                <a:solidFill>
                  <a:srgbClr val="525252"/>
                </a:solidFill>
                <a:latin typeface="Arial" pitchFamily="34" charset="0"/>
                <a:ea typeface="Arial" pitchFamily="34" charset="-122"/>
                <a:cs typeface="Arial" pitchFamily="34" charset="-120"/>
              </a:rPr>
              <a:t>benefits</a:t>
            </a:r>
            <a:endParaRPr lang="en-US" sz="870" dirty="0"/>
          </a:p>
        </p:txBody>
      </p:sp>
      <p:sp>
        <p:nvSpPr>
          <p:cNvPr id="22" name="Shape 19"/>
          <p:cNvSpPr/>
          <p:nvPr/>
        </p:nvSpPr>
        <p:spPr>
          <a:xfrm>
            <a:off x="8705088" y="3922776"/>
            <a:ext cx="2441448" cy="768096"/>
          </a:xfrm>
          <a:prstGeom prst="roundRect">
            <a:avLst>
              <a:gd name="adj" fmla="val 7143"/>
            </a:avLst>
          </a:prstGeom>
          <a:solidFill>
            <a:srgbClr val="F4F0FF"/>
          </a:solidFill>
          <a:ln w="10160">
            <a:solidFill>
              <a:srgbClr val="DDE1E6"/>
            </a:solidFill>
            <a:prstDash val="solid"/>
          </a:ln>
        </p:spPr>
        <p:txBody>
          <a:bodyPr/>
          <a:lstStyle/>
          <a:p>
            <a:endParaRPr lang="en-US"/>
          </a:p>
        </p:txBody>
      </p:sp>
      <p:sp>
        <p:nvSpPr>
          <p:cNvPr id="23" name="Shape 20"/>
          <p:cNvSpPr/>
          <p:nvPr/>
        </p:nvSpPr>
        <p:spPr>
          <a:xfrm>
            <a:off x="8823960" y="4078224"/>
            <a:ext cx="384048" cy="384048"/>
          </a:xfrm>
          <a:prstGeom prst="ellipse">
            <a:avLst/>
          </a:prstGeom>
          <a:solidFill>
            <a:srgbClr val="8A3FFC"/>
          </a:solidFill>
          <a:ln w="12700">
            <a:solidFill>
              <a:srgbClr val="8A3FFC">
                <a:alpha val="0"/>
              </a:srgbClr>
            </a:solidFill>
            <a:prstDash val="solid"/>
          </a:ln>
        </p:spPr>
        <p:txBody>
          <a:bodyPr/>
          <a:lstStyle/>
          <a:p>
            <a:endParaRPr lang="en-US"/>
          </a:p>
        </p:txBody>
      </p:sp>
      <p:sp>
        <p:nvSpPr>
          <p:cNvPr id="24" name="Text 21"/>
          <p:cNvSpPr/>
          <p:nvPr/>
        </p:nvSpPr>
        <p:spPr>
          <a:xfrm>
            <a:off x="8823960" y="4160520"/>
            <a:ext cx="384048" cy="109728"/>
          </a:xfrm>
          <a:prstGeom prst="rect">
            <a:avLst/>
          </a:prstGeom>
          <a:noFill/>
          <a:ln/>
        </p:spPr>
        <p:txBody>
          <a:bodyPr wrap="square" lIns="0" tIns="0" rIns="0" bIns="0" rtlCol="0" anchor="t">
            <a:normAutofit fontScale="92500" lnSpcReduction="20000"/>
          </a:bodyPr>
          <a:lstStyle/>
          <a:p>
            <a:pPr marL="0" indent="0" algn="ctr">
              <a:buNone/>
            </a:pPr>
            <a:r>
              <a:rPr lang="en-US" sz="920" b="1" dirty="0">
                <a:solidFill>
                  <a:srgbClr val="FFFFFF"/>
                </a:solidFill>
                <a:latin typeface="Arial" pitchFamily="34" charset="0"/>
                <a:ea typeface="Arial" pitchFamily="34" charset="-122"/>
                <a:cs typeface="Arial" pitchFamily="34" charset="-120"/>
              </a:rPr>
              <a:t>3</a:t>
            </a:r>
            <a:endParaRPr lang="en-US" sz="920" dirty="0"/>
          </a:p>
        </p:txBody>
      </p:sp>
      <p:sp>
        <p:nvSpPr>
          <p:cNvPr id="25" name="Text 22"/>
          <p:cNvSpPr/>
          <p:nvPr/>
        </p:nvSpPr>
        <p:spPr>
          <a:xfrm>
            <a:off x="9363456" y="4069080"/>
            <a:ext cx="1581912" cy="201168"/>
          </a:xfrm>
          <a:prstGeom prst="rect">
            <a:avLst/>
          </a:prstGeom>
          <a:noFill/>
          <a:ln/>
        </p:spPr>
        <p:txBody>
          <a:bodyPr wrap="square" lIns="0" tIns="0" rIns="0" bIns="0" rtlCol="0" anchor="t">
            <a:normAutofit/>
          </a:bodyPr>
          <a:lstStyle/>
          <a:p>
            <a:pPr marL="0" indent="0" algn="l">
              <a:buNone/>
            </a:pPr>
            <a:r>
              <a:rPr lang="en-US" sz="1230" b="1" dirty="0">
                <a:solidFill>
                  <a:srgbClr val="8A3FFC"/>
                </a:solidFill>
                <a:latin typeface="Arial" pitchFamily="34" charset="0"/>
                <a:ea typeface="Arial" pitchFamily="34" charset="-122"/>
                <a:cs typeface="Arial" pitchFamily="34" charset="-120"/>
              </a:rPr>
              <a:t>Assumptions</a:t>
            </a:r>
            <a:endParaRPr lang="en-US" sz="1230" dirty="0"/>
          </a:p>
        </p:txBody>
      </p:sp>
      <p:sp>
        <p:nvSpPr>
          <p:cNvPr id="26" name="Text 23"/>
          <p:cNvSpPr/>
          <p:nvPr/>
        </p:nvSpPr>
        <p:spPr>
          <a:xfrm>
            <a:off x="9363456" y="4334256"/>
            <a:ext cx="1600200" cy="228600"/>
          </a:xfrm>
          <a:prstGeom prst="rect">
            <a:avLst/>
          </a:prstGeom>
          <a:noFill/>
          <a:ln/>
        </p:spPr>
        <p:txBody>
          <a:bodyPr wrap="square" lIns="0" tIns="0" rIns="0" bIns="0" rtlCol="0" anchor="t">
            <a:normAutofit fontScale="92500"/>
          </a:bodyPr>
          <a:lstStyle/>
          <a:p>
            <a:pPr marL="0" indent="0" algn="l">
              <a:buNone/>
            </a:pPr>
            <a:r>
              <a:rPr lang="en-US" sz="870" dirty="0">
                <a:solidFill>
                  <a:srgbClr val="525252"/>
                </a:solidFill>
                <a:latin typeface="Arial" pitchFamily="34" charset="0"/>
                <a:ea typeface="Arial" pitchFamily="34" charset="-122"/>
                <a:cs typeface="Arial" pitchFamily="34" charset="-120"/>
              </a:rPr>
              <a:t>Enter client inputs and benchmarks</a:t>
            </a:r>
            <a:endParaRPr lang="en-US" sz="870" dirty="0"/>
          </a:p>
        </p:txBody>
      </p:sp>
      <p:sp>
        <p:nvSpPr>
          <p:cNvPr id="27" name="Shape 24"/>
          <p:cNvSpPr/>
          <p:nvPr/>
        </p:nvSpPr>
        <p:spPr>
          <a:xfrm>
            <a:off x="8705088" y="4800600"/>
            <a:ext cx="2441448" cy="768096"/>
          </a:xfrm>
          <a:prstGeom prst="roundRect">
            <a:avLst>
              <a:gd name="adj" fmla="val 7143"/>
            </a:avLst>
          </a:prstGeom>
          <a:solidFill>
            <a:srgbClr val="DEFBE6"/>
          </a:solidFill>
          <a:ln w="10160">
            <a:solidFill>
              <a:srgbClr val="DDE1E6"/>
            </a:solidFill>
            <a:prstDash val="solid"/>
          </a:ln>
        </p:spPr>
        <p:txBody>
          <a:bodyPr/>
          <a:lstStyle/>
          <a:p>
            <a:endParaRPr lang="en-US"/>
          </a:p>
        </p:txBody>
      </p:sp>
      <p:sp>
        <p:nvSpPr>
          <p:cNvPr id="28" name="Shape 25"/>
          <p:cNvSpPr/>
          <p:nvPr/>
        </p:nvSpPr>
        <p:spPr>
          <a:xfrm>
            <a:off x="8823960" y="4956048"/>
            <a:ext cx="384048" cy="384048"/>
          </a:xfrm>
          <a:prstGeom prst="ellipse">
            <a:avLst/>
          </a:prstGeom>
          <a:solidFill>
            <a:srgbClr val="198038"/>
          </a:solidFill>
          <a:ln w="12700">
            <a:solidFill>
              <a:srgbClr val="198038">
                <a:alpha val="0"/>
              </a:srgbClr>
            </a:solidFill>
            <a:prstDash val="solid"/>
          </a:ln>
        </p:spPr>
        <p:txBody>
          <a:bodyPr/>
          <a:lstStyle/>
          <a:p>
            <a:endParaRPr lang="en-US"/>
          </a:p>
        </p:txBody>
      </p:sp>
      <p:sp>
        <p:nvSpPr>
          <p:cNvPr id="29" name="Text 26"/>
          <p:cNvSpPr/>
          <p:nvPr/>
        </p:nvSpPr>
        <p:spPr>
          <a:xfrm>
            <a:off x="8823960" y="5038344"/>
            <a:ext cx="384048" cy="109728"/>
          </a:xfrm>
          <a:prstGeom prst="rect">
            <a:avLst/>
          </a:prstGeom>
          <a:noFill/>
          <a:ln/>
        </p:spPr>
        <p:txBody>
          <a:bodyPr wrap="square" lIns="0" tIns="0" rIns="0" bIns="0" rtlCol="0" anchor="t">
            <a:normAutofit fontScale="92500" lnSpcReduction="20000"/>
          </a:bodyPr>
          <a:lstStyle/>
          <a:p>
            <a:pPr marL="0" indent="0" algn="ctr">
              <a:buNone/>
            </a:pPr>
            <a:r>
              <a:rPr lang="en-US" sz="920" b="1" dirty="0">
                <a:solidFill>
                  <a:srgbClr val="FFFFFF"/>
                </a:solidFill>
                <a:latin typeface="Arial" pitchFamily="34" charset="0"/>
                <a:ea typeface="Arial" pitchFamily="34" charset="-122"/>
                <a:cs typeface="Arial" pitchFamily="34" charset="-120"/>
              </a:rPr>
              <a:t>4</a:t>
            </a:r>
            <a:endParaRPr lang="en-US" sz="920" dirty="0"/>
          </a:p>
        </p:txBody>
      </p:sp>
      <p:sp>
        <p:nvSpPr>
          <p:cNvPr id="30" name="Text 27"/>
          <p:cNvSpPr/>
          <p:nvPr/>
        </p:nvSpPr>
        <p:spPr>
          <a:xfrm>
            <a:off x="9363456" y="4946904"/>
            <a:ext cx="1581912" cy="201168"/>
          </a:xfrm>
          <a:prstGeom prst="rect">
            <a:avLst/>
          </a:prstGeom>
          <a:noFill/>
          <a:ln/>
        </p:spPr>
        <p:txBody>
          <a:bodyPr wrap="square" lIns="0" tIns="0" rIns="0" bIns="0" rtlCol="0" anchor="t">
            <a:normAutofit/>
          </a:bodyPr>
          <a:lstStyle/>
          <a:p>
            <a:pPr marL="0" indent="0" algn="l">
              <a:buNone/>
            </a:pPr>
            <a:r>
              <a:rPr lang="en-US" sz="1230" b="1" dirty="0">
                <a:solidFill>
                  <a:srgbClr val="198038"/>
                </a:solidFill>
                <a:latin typeface="Arial" pitchFamily="34" charset="0"/>
                <a:ea typeface="Arial" pitchFamily="34" charset="-122"/>
                <a:cs typeface="Arial" pitchFamily="34" charset="-120"/>
              </a:rPr>
              <a:t>Outputs</a:t>
            </a:r>
            <a:endParaRPr lang="en-US" sz="1230" dirty="0"/>
          </a:p>
        </p:txBody>
      </p:sp>
      <p:sp>
        <p:nvSpPr>
          <p:cNvPr id="31" name="Text 28"/>
          <p:cNvSpPr/>
          <p:nvPr/>
        </p:nvSpPr>
        <p:spPr>
          <a:xfrm>
            <a:off x="9363456" y="5212080"/>
            <a:ext cx="1600200" cy="228600"/>
          </a:xfrm>
          <a:prstGeom prst="rect">
            <a:avLst/>
          </a:prstGeom>
          <a:noFill/>
          <a:ln/>
        </p:spPr>
        <p:txBody>
          <a:bodyPr wrap="square" lIns="0" tIns="0" rIns="0" bIns="0" rtlCol="0" anchor="t">
            <a:normAutofit fontScale="92500"/>
          </a:bodyPr>
          <a:lstStyle/>
          <a:p>
            <a:pPr marL="0" indent="0" algn="l">
              <a:buNone/>
            </a:pPr>
            <a:r>
              <a:rPr lang="en-US" sz="870" dirty="0">
                <a:solidFill>
                  <a:srgbClr val="525252"/>
                </a:solidFill>
                <a:latin typeface="Arial" pitchFamily="34" charset="0"/>
                <a:ea typeface="Arial" pitchFamily="34" charset="-122"/>
                <a:cs typeface="Arial" pitchFamily="34" charset="-120"/>
              </a:rPr>
              <a:t>Show benefits and cost of inaction</a:t>
            </a:r>
            <a:endParaRPr lang="en-US" sz="870" dirty="0"/>
          </a:p>
        </p:txBody>
      </p:sp>
      <p:sp>
        <p:nvSpPr>
          <p:cNvPr id="32" name="Shape 29"/>
          <p:cNvSpPr/>
          <p:nvPr/>
        </p:nvSpPr>
        <p:spPr>
          <a:xfrm>
            <a:off x="8705088" y="5687568"/>
            <a:ext cx="2441448" cy="301752"/>
          </a:xfrm>
          <a:prstGeom prst="roundRect">
            <a:avLst>
              <a:gd name="adj" fmla="val 15152"/>
            </a:avLst>
          </a:prstGeom>
          <a:solidFill>
            <a:srgbClr val="FFFFFF"/>
          </a:solidFill>
          <a:ln w="7620">
            <a:solidFill>
              <a:srgbClr val="DDE1E6"/>
            </a:solidFill>
            <a:prstDash val="solid"/>
          </a:ln>
        </p:spPr>
        <p:txBody>
          <a:bodyPr/>
          <a:lstStyle/>
          <a:p>
            <a:endParaRPr lang="en-US"/>
          </a:p>
        </p:txBody>
      </p:sp>
      <p:sp>
        <p:nvSpPr>
          <p:cNvPr id="33" name="Text 30"/>
          <p:cNvSpPr/>
          <p:nvPr/>
        </p:nvSpPr>
        <p:spPr>
          <a:xfrm>
            <a:off x="8833104" y="5769864"/>
            <a:ext cx="2194560" cy="73152"/>
          </a:xfrm>
          <a:prstGeom prst="rect">
            <a:avLst/>
          </a:prstGeom>
          <a:noFill/>
          <a:ln/>
        </p:spPr>
        <p:txBody>
          <a:bodyPr wrap="square" lIns="0" tIns="0" rIns="0" bIns="0" rtlCol="0" anchor="t">
            <a:normAutofit fontScale="62500" lnSpcReduction="20000"/>
          </a:bodyPr>
          <a:lstStyle/>
          <a:p>
            <a:pPr marL="0" indent="0" algn="ctr">
              <a:buNone/>
            </a:pPr>
            <a:r>
              <a:rPr lang="en-US" sz="710" dirty="0">
                <a:solidFill>
                  <a:srgbClr val="525252"/>
                </a:solidFill>
                <a:latin typeface="Arial" pitchFamily="34" charset="0"/>
                <a:ea typeface="Arial" pitchFamily="34" charset="-122"/>
                <a:cs typeface="Arial" pitchFamily="34" charset="-120"/>
              </a:rPr>
              <a:t>GM framing: high-level seller journey. Detailed motion scope is handled after the review.</a:t>
            </a:r>
            <a:endParaRPr lang="en-US" sz="710" dirty="0"/>
          </a:p>
        </p:txBody>
      </p:sp>
      <p:sp>
        <p:nvSpPr>
          <p:cNvPr id="34" name="Shape 31"/>
          <p:cNvSpPr/>
          <p:nvPr/>
        </p:nvSpPr>
        <p:spPr>
          <a:xfrm>
            <a:off x="365760" y="6071616"/>
            <a:ext cx="11384280" cy="585216"/>
          </a:xfrm>
          <a:prstGeom prst="roundRect">
            <a:avLst>
              <a:gd name="adj" fmla="val 7813"/>
            </a:avLst>
          </a:prstGeom>
          <a:solidFill>
            <a:srgbClr val="F2F6FF"/>
          </a:solidFill>
          <a:ln w="12700">
            <a:solidFill>
              <a:srgbClr val="B9D3FF"/>
            </a:solidFill>
            <a:prstDash val="solid"/>
          </a:ln>
        </p:spPr>
        <p:txBody>
          <a:bodyPr/>
          <a:lstStyle/>
          <a:p>
            <a:endParaRPr lang="en-US"/>
          </a:p>
        </p:txBody>
      </p:sp>
      <p:sp>
        <p:nvSpPr>
          <p:cNvPr id="35" name="Text 32"/>
          <p:cNvSpPr/>
          <p:nvPr/>
        </p:nvSpPr>
        <p:spPr>
          <a:xfrm>
            <a:off x="585216" y="6254496"/>
            <a:ext cx="1417320" cy="182880"/>
          </a:xfrm>
          <a:prstGeom prst="rect">
            <a:avLst/>
          </a:prstGeom>
          <a:noFill/>
          <a:ln/>
        </p:spPr>
        <p:txBody>
          <a:bodyPr wrap="square" lIns="0" tIns="0" rIns="0" bIns="0" rtlCol="0" anchor="t">
            <a:normAutofit lnSpcReduction="10000"/>
          </a:bodyPr>
          <a:lstStyle/>
          <a:p>
            <a:pPr marL="0" indent="0" algn="l">
              <a:buNone/>
            </a:pPr>
            <a:r>
              <a:rPr lang="en-US" sz="1220" b="1" dirty="0">
                <a:solidFill>
                  <a:srgbClr val="0F62FE"/>
                </a:solidFill>
                <a:latin typeface="Arial" pitchFamily="34" charset="0"/>
                <a:ea typeface="Arial" pitchFamily="34" charset="-122"/>
                <a:cs typeface="Arial" pitchFamily="34" charset="-120"/>
              </a:rPr>
              <a:t>Seller access path</a:t>
            </a:r>
            <a:endParaRPr lang="en-US" sz="1220" dirty="0"/>
          </a:p>
        </p:txBody>
      </p:sp>
      <p:sp>
        <p:nvSpPr>
          <p:cNvPr id="36" name="Text 33"/>
          <p:cNvSpPr/>
          <p:nvPr/>
        </p:nvSpPr>
        <p:spPr>
          <a:xfrm>
            <a:off x="2176272" y="6254496"/>
            <a:ext cx="6931152" cy="201168"/>
          </a:xfrm>
          <a:prstGeom prst="rect">
            <a:avLst/>
          </a:prstGeom>
          <a:noFill/>
          <a:ln/>
        </p:spPr>
        <p:txBody>
          <a:bodyPr wrap="square" lIns="0" tIns="0" rIns="0" bIns="0" rtlCol="0" anchor="t">
            <a:normAutofit fontScale="85000" lnSpcReduction="10000"/>
          </a:bodyPr>
          <a:lstStyle/>
          <a:p>
            <a:pPr marL="0" indent="0" algn="l">
              <a:buNone/>
            </a:pPr>
            <a:r>
              <a:rPr lang="en-US" sz="1180" dirty="0">
                <a:solidFill>
                  <a:srgbClr val="161616"/>
                </a:solidFill>
                <a:latin typeface="Arial" pitchFamily="34" charset="0"/>
                <a:ea typeface="Arial" pitchFamily="34" charset="-122"/>
                <a:cs typeface="Arial" pitchFamily="34" charset="-120"/>
              </a:rPr>
              <a:t>ISC → Business Cases → Product modernization BVA template → Discovery → Business Outcomes → Outputs</a:t>
            </a:r>
            <a:endParaRPr lang="en-US" sz="1180" dirty="0"/>
          </a:p>
        </p:txBody>
      </p:sp>
      <p:sp>
        <p:nvSpPr>
          <p:cNvPr id="37" name="Text 34"/>
          <p:cNvSpPr/>
          <p:nvPr/>
        </p:nvSpPr>
        <p:spPr>
          <a:xfrm>
            <a:off x="10012680" y="6181344"/>
            <a:ext cx="1417320" cy="292608"/>
          </a:xfrm>
          <a:prstGeom prst="rect">
            <a:avLst/>
          </a:prstGeom>
          <a:noFill/>
          <a:ln/>
        </p:spPr>
        <p:txBody>
          <a:bodyPr wrap="square" lIns="0" tIns="0" rIns="0" bIns="0" rtlCol="0" anchor="t">
            <a:normAutofit fontScale="85000" lnSpcReduction="10000"/>
          </a:bodyPr>
          <a:lstStyle/>
          <a:p>
            <a:pPr marL="0" indent="0" algn="ctr">
              <a:buNone/>
            </a:pPr>
            <a:r>
              <a:rPr lang="en-US" sz="950" dirty="0">
                <a:solidFill>
                  <a:srgbClr val="525252"/>
                </a:solidFill>
                <a:latin typeface="Arial" pitchFamily="34" charset="0"/>
                <a:ea typeface="Arial" pitchFamily="34" charset="-122"/>
                <a:cs typeface="Arial" pitchFamily="34" charset="-120"/>
              </a:rPr>
              <a:t>Client value is finalized after</a:t>
            </a:r>
            <a:endParaRPr lang="en-US" sz="950" dirty="0"/>
          </a:p>
          <a:p>
            <a:pPr marL="0" indent="0" algn="ctr">
              <a:buNone/>
            </a:pPr>
            <a:r>
              <a:rPr lang="en-US" sz="950" dirty="0">
                <a:solidFill>
                  <a:srgbClr val="525252"/>
                </a:solidFill>
                <a:latin typeface="Arial" pitchFamily="34" charset="0"/>
                <a:ea typeface="Arial" pitchFamily="34" charset="-122"/>
                <a:cs typeface="Arial" pitchFamily="34" charset="-120"/>
              </a:rPr>
              <a:t>inputs are validated.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B7415B-7959-9368-CEFE-F70F9E18B375}"/>
              </a:ext>
            </a:extLst>
          </p:cNvPr>
          <p:cNvSpPr txBox="1"/>
          <p:nvPr/>
        </p:nvSpPr>
        <p:spPr>
          <a:xfrm>
            <a:off x="4724399" y="26980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cs typeface="Arial"/>
              </a:rPr>
              <a:t>Appendix</a:t>
            </a:r>
            <a:endParaRPr lang="en-US" dirty="0"/>
          </a:p>
        </p:txBody>
      </p:sp>
    </p:spTree>
    <p:extLst>
      <p:ext uri="{BB962C8B-B14F-4D97-AF65-F5344CB8AC3E}">
        <p14:creationId xmlns:p14="http://schemas.microsoft.com/office/powerpoint/2010/main" val="4033025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BDEDBC-3906-14EF-8A70-2950F2423F1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1E9AAD-E29D-8214-D1BB-8EF93C9B46EA}"/>
              </a:ext>
            </a:extLst>
          </p:cNvPr>
          <p:cNvSpPr/>
          <p:nvPr/>
        </p:nvSpPr>
        <p:spPr>
          <a:xfrm>
            <a:off x="502920" y="228600"/>
            <a:ext cx="30175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Core-to-Mod BVA status</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Text 1">
            <a:extLst>
              <a:ext uri="{FF2B5EF4-FFF2-40B4-BE49-F238E27FC236}">
                <a16:creationId xmlns:a16="http://schemas.microsoft.com/office/drawing/2014/main" id="{F77ADFA8-E172-3CFA-8E04-B9C38DB95A44}"/>
              </a:ext>
            </a:extLst>
          </p:cNvPr>
          <p:cNvSpPr/>
          <p:nvPr/>
        </p:nvSpPr>
        <p:spPr>
          <a:xfrm>
            <a:off x="502920" y="475488"/>
            <a:ext cx="81381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61616"/>
                </a:solidFill>
                <a:effectLst/>
                <a:uLnTx/>
                <a:uFillTx/>
                <a:latin typeface="Arial" pitchFamily="34" charset="0"/>
                <a:ea typeface="Arial" pitchFamily="34" charset="-122"/>
                <a:cs typeface="Arial" pitchFamily="34" charset="-120"/>
              </a:rPr>
              <a:t>C2M BVAs: readiness view</a:t>
            </a:r>
            <a:endParaRPr kumimoji="0" lang="en-US" sz="25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2">
            <a:extLst>
              <a:ext uri="{FF2B5EF4-FFF2-40B4-BE49-F238E27FC236}">
                <a16:creationId xmlns:a16="http://schemas.microsoft.com/office/drawing/2014/main" id="{C56E0FF1-51A2-DC40-3075-F8EFB26DB361}"/>
              </a:ext>
            </a:extLst>
          </p:cNvPr>
          <p:cNvSpPr/>
          <p:nvPr/>
        </p:nvSpPr>
        <p:spPr>
          <a:xfrm>
            <a:off x="521208" y="896112"/>
            <a:ext cx="106984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BVA assets give Sellers a reusable path to quantify modernization value with field-ready assumptions.</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Shape 3">
            <a:extLst>
              <a:ext uri="{FF2B5EF4-FFF2-40B4-BE49-F238E27FC236}">
                <a16:creationId xmlns:a16="http://schemas.microsoft.com/office/drawing/2014/main" id="{1DD8FDDF-65C6-3CA1-17BF-3A1E0B653633}"/>
              </a:ext>
            </a:extLst>
          </p:cNvPr>
          <p:cNvSpPr/>
          <p:nvPr/>
        </p:nvSpPr>
        <p:spPr>
          <a:xfrm>
            <a:off x="502920" y="1207008"/>
            <a:ext cx="11201400" cy="22860"/>
          </a:xfrm>
          <a:prstGeom prst="rect">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 name="Shape 4">
            <a:extLst>
              <a:ext uri="{FF2B5EF4-FFF2-40B4-BE49-F238E27FC236}">
                <a16:creationId xmlns:a16="http://schemas.microsoft.com/office/drawing/2014/main" id="{F6B1E079-5B27-0712-D179-77ECAA875301}"/>
              </a:ext>
            </a:extLst>
          </p:cNvPr>
          <p:cNvSpPr/>
          <p:nvPr/>
        </p:nvSpPr>
        <p:spPr>
          <a:xfrm>
            <a:off x="566928" y="1417320"/>
            <a:ext cx="2487168" cy="713232"/>
          </a:xfrm>
          <a:prstGeom prst="roundRect">
            <a:avLst>
              <a:gd name="adj" fmla="val 6410"/>
            </a:avLst>
          </a:prstGeom>
          <a:solidFill>
            <a:srgbClr val="DEFBE6"/>
          </a:solidFill>
          <a:ln w="1016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Text 5">
            <a:extLst>
              <a:ext uri="{FF2B5EF4-FFF2-40B4-BE49-F238E27FC236}">
                <a16:creationId xmlns:a16="http://schemas.microsoft.com/office/drawing/2014/main" id="{1F1E0384-BC92-9BF4-86E2-5FEE6BE119C3}"/>
              </a:ext>
            </a:extLst>
          </p:cNvPr>
          <p:cNvSpPr/>
          <p:nvPr/>
        </p:nvSpPr>
        <p:spPr>
          <a:xfrm>
            <a:off x="713232" y="1517904"/>
            <a:ext cx="411480" cy="38404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1</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6">
            <a:extLst>
              <a:ext uri="{FF2B5EF4-FFF2-40B4-BE49-F238E27FC236}">
                <a16:creationId xmlns:a16="http://schemas.microsoft.com/office/drawing/2014/main" id="{CE6ED99E-D04D-7556-D38A-101AA55F5708}"/>
              </a:ext>
            </a:extLst>
          </p:cNvPr>
          <p:cNvSpPr/>
          <p:nvPr/>
        </p:nvSpPr>
        <p:spPr>
          <a:xfrm>
            <a:off x="1225296" y="1536192"/>
            <a:ext cx="1664208" cy="34747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Ready for use</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Db2 BVA</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7">
            <a:extLst>
              <a:ext uri="{FF2B5EF4-FFF2-40B4-BE49-F238E27FC236}">
                <a16:creationId xmlns:a16="http://schemas.microsoft.com/office/drawing/2014/main" id="{74D2A61A-52DF-F618-D2DA-D3634EBE6BCE}"/>
              </a:ext>
            </a:extLst>
          </p:cNvPr>
          <p:cNvSpPr/>
          <p:nvPr/>
        </p:nvSpPr>
        <p:spPr>
          <a:xfrm>
            <a:off x="3383280" y="1417320"/>
            <a:ext cx="2487168" cy="713232"/>
          </a:xfrm>
          <a:prstGeom prst="roundRect">
            <a:avLst>
              <a:gd name="adj" fmla="val 6410"/>
            </a:avLst>
          </a:prstGeom>
          <a:solidFill>
            <a:srgbClr val="F6F2FF"/>
          </a:solidFill>
          <a:ln w="1016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Text 8">
            <a:extLst>
              <a:ext uri="{FF2B5EF4-FFF2-40B4-BE49-F238E27FC236}">
                <a16:creationId xmlns:a16="http://schemas.microsoft.com/office/drawing/2014/main" id="{63F67075-D712-20D8-3C2D-0AF12BAAFBE4}"/>
              </a:ext>
            </a:extLst>
          </p:cNvPr>
          <p:cNvSpPr/>
          <p:nvPr/>
        </p:nvSpPr>
        <p:spPr>
          <a:xfrm>
            <a:off x="3529584" y="1517904"/>
            <a:ext cx="411480" cy="38404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8A3FFC"/>
                </a:solidFill>
                <a:effectLst/>
                <a:uLnTx/>
                <a:uFillTx/>
                <a:latin typeface="Arial" pitchFamily="34" charset="0"/>
                <a:ea typeface="Arial" pitchFamily="34" charset="-122"/>
                <a:cs typeface="Arial" pitchFamily="34" charset="-120"/>
              </a:rPr>
              <a:t>1</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 9">
            <a:extLst>
              <a:ext uri="{FF2B5EF4-FFF2-40B4-BE49-F238E27FC236}">
                <a16:creationId xmlns:a16="http://schemas.microsoft.com/office/drawing/2014/main" id="{66020E3D-8927-2E48-BD1A-9C59DB9B3B39}"/>
              </a:ext>
            </a:extLst>
          </p:cNvPr>
          <p:cNvSpPr/>
          <p:nvPr/>
        </p:nvSpPr>
        <p:spPr>
          <a:xfrm>
            <a:off x="4041648" y="1536192"/>
            <a:ext cx="1664208" cy="34747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Validated motion</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ODM CS→Vitality</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Shape 10">
            <a:extLst>
              <a:ext uri="{FF2B5EF4-FFF2-40B4-BE49-F238E27FC236}">
                <a16:creationId xmlns:a16="http://schemas.microsoft.com/office/drawing/2014/main" id="{3401253D-E849-719F-079C-FE55A57837F2}"/>
              </a:ext>
            </a:extLst>
          </p:cNvPr>
          <p:cNvSpPr/>
          <p:nvPr/>
        </p:nvSpPr>
        <p:spPr>
          <a:xfrm>
            <a:off x="6199632" y="1417320"/>
            <a:ext cx="2487168" cy="713232"/>
          </a:xfrm>
          <a:prstGeom prst="roundRect">
            <a:avLst>
              <a:gd name="adj" fmla="val 6410"/>
            </a:avLst>
          </a:prstGeom>
          <a:solidFill>
            <a:srgbClr val="FFF1E5"/>
          </a:solidFill>
          <a:ln w="1016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Text 11">
            <a:extLst>
              <a:ext uri="{FF2B5EF4-FFF2-40B4-BE49-F238E27FC236}">
                <a16:creationId xmlns:a16="http://schemas.microsoft.com/office/drawing/2014/main" id="{F52A2D5F-E2E1-F3A5-717A-5944733A5BAB}"/>
              </a:ext>
            </a:extLst>
          </p:cNvPr>
          <p:cNvSpPr/>
          <p:nvPr/>
        </p:nvSpPr>
        <p:spPr>
          <a:xfrm>
            <a:off x="6345936" y="1517904"/>
            <a:ext cx="411480" cy="38404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832B"/>
                </a:solidFill>
                <a:effectLst/>
                <a:uLnTx/>
                <a:uFillTx/>
                <a:latin typeface="Arial" pitchFamily="34" charset="0"/>
                <a:ea typeface="Arial" pitchFamily="34" charset="-122"/>
                <a:cs typeface="Arial" pitchFamily="34" charset="-120"/>
              </a:rPr>
              <a:t>2</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Text 12">
            <a:extLst>
              <a:ext uri="{FF2B5EF4-FFF2-40B4-BE49-F238E27FC236}">
                <a16:creationId xmlns:a16="http://schemas.microsoft.com/office/drawing/2014/main" id="{1B57F7A2-3263-B914-E98A-D58AC7099DD4}"/>
              </a:ext>
            </a:extLst>
          </p:cNvPr>
          <p:cNvSpPr/>
          <p:nvPr/>
        </p:nvSpPr>
        <p:spPr>
          <a:xfrm>
            <a:off x="6858000" y="1536192"/>
            <a:ext cx="1664208" cy="347472"/>
          </a:xfrm>
          <a:prstGeom prst="rect">
            <a:avLst/>
          </a:prstGeom>
          <a:noFill/>
          <a:ln/>
        </p:spPr>
        <p:txBody>
          <a:bodyPr wrap="square" lIns="0" tIns="0" rIns="0" bIns="0" rtlCol="0" anchor="t">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In progress</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Cognos, App Runtime, MQ, BAW, FileNet (Content Cortex)</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Shape 13">
            <a:extLst>
              <a:ext uri="{FF2B5EF4-FFF2-40B4-BE49-F238E27FC236}">
                <a16:creationId xmlns:a16="http://schemas.microsoft.com/office/drawing/2014/main" id="{B9A8F25E-2FE0-038C-2559-F3CFA89D6F6D}"/>
              </a:ext>
            </a:extLst>
          </p:cNvPr>
          <p:cNvSpPr/>
          <p:nvPr/>
        </p:nvSpPr>
        <p:spPr>
          <a:xfrm>
            <a:off x="9015984" y="1417320"/>
            <a:ext cx="2487168" cy="713232"/>
          </a:xfrm>
          <a:prstGeom prst="roundRect">
            <a:avLst>
              <a:gd name="adj" fmla="val 6410"/>
            </a:avLst>
          </a:prstGeom>
          <a:solidFill>
            <a:srgbClr val="F4F4F4"/>
          </a:solidFill>
          <a:ln w="1016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Text 14">
            <a:extLst>
              <a:ext uri="{FF2B5EF4-FFF2-40B4-BE49-F238E27FC236}">
                <a16:creationId xmlns:a16="http://schemas.microsoft.com/office/drawing/2014/main" id="{E852BF68-D0B4-1641-46C2-16037CD4BB37}"/>
              </a:ext>
            </a:extLst>
          </p:cNvPr>
          <p:cNvSpPr/>
          <p:nvPr/>
        </p:nvSpPr>
        <p:spPr>
          <a:xfrm>
            <a:off x="9162288" y="1517904"/>
            <a:ext cx="411480" cy="38404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2</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5">
            <a:extLst>
              <a:ext uri="{FF2B5EF4-FFF2-40B4-BE49-F238E27FC236}">
                <a16:creationId xmlns:a16="http://schemas.microsoft.com/office/drawing/2014/main" id="{83F6AD51-2E52-BE6F-C2FE-95E4F33BAB99}"/>
              </a:ext>
            </a:extLst>
          </p:cNvPr>
          <p:cNvSpPr/>
          <p:nvPr/>
        </p:nvSpPr>
        <p:spPr>
          <a:xfrm>
            <a:off x="9674352" y="1536192"/>
            <a:ext cx="1664208" cy="34747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Planned next</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DataStage, PA</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Shape 16">
            <a:extLst>
              <a:ext uri="{FF2B5EF4-FFF2-40B4-BE49-F238E27FC236}">
                <a16:creationId xmlns:a16="http://schemas.microsoft.com/office/drawing/2014/main" id="{1C7FBADF-B3C5-32B8-3B50-D075DB090997}"/>
              </a:ext>
            </a:extLst>
          </p:cNvPr>
          <p:cNvSpPr/>
          <p:nvPr/>
        </p:nvSpPr>
        <p:spPr>
          <a:xfrm>
            <a:off x="502920" y="2395728"/>
            <a:ext cx="11201400" cy="384048"/>
          </a:xfrm>
          <a:prstGeom prst="rect">
            <a:avLst/>
          </a:prstGeom>
          <a:solidFill>
            <a:srgbClr val="262626"/>
          </a:solidFill>
          <a:ln w="12700">
            <a:solidFill>
              <a:srgbClr val="262626">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9" name="Text 17">
            <a:extLst>
              <a:ext uri="{FF2B5EF4-FFF2-40B4-BE49-F238E27FC236}">
                <a16:creationId xmlns:a16="http://schemas.microsoft.com/office/drawing/2014/main" id="{C4407256-E79F-64E3-CFEE-F0C7DFBC5FAB}"/>
              </a:ext>
            </a:extLst>
          </p:cNvPr>
          <p:cNvSpPr/>
          <p:nvPr/>
        </p:nvSpPr>
        <p:spPr>
          <a:xfrm>
            <a:off x="557784" y="2496312"/>
            <a:ext cx="164592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Product</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8">
            <a:extLst>
              <a:ext uri="{FF2B5EF4-FFF2-40B4-BE49-F238E27FC236}">
                <a16:creationId xmlns:a16="http://schemas.microsoft.com/office/drawing/2014/main" id="{D7C14717-8803-ADEB-20BE-5ADA20A09233}"/>
              </a:ext>
            </a:extLst>
          </p:cNvPr>
          <p:cNvSpPr/>
          <p:nvPr/>
        </p:nvSpPr>
        <p:spPr>
          <a:xfrm>
            <a:off x="2432304" y="2496312"/>
            <a:ext cx="160020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BVA status</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9">
            <a:extLst>
              <a:ext uri="{FF2B5EF4-FFF2-40B4-BE49-F238E27FC236}">
                <a16:creationId xmlns:a16="http://schemas.microsoft.com/office/drawing/2014/main" id="{21FEB30D-E705-AE16-2A77-18126F33D3D1}"/>
              </a:ext>
            </a:extLst>
          </p:cNvPr>
          <p:cNvSpPr/>
          <p:nvPr/>
        </p:nvSpPr>
        <p:spPr>
          <a:xfrm>
            <a:off x="4261104" y="2496312"/>
            <a:ext cx="237744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Validation / dependency</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Text 20">
            <a:extLst>
              <a:ext uri="{FF2B5EF4-FFF2-40B4-BE49-F238E27FC236}">
                <a16:creationId xmlns:a16="http://schemas.microsoft.com/office/drawing/2014/main" id="{4631D4F5-E695-4057-D2AB-0D1635743768}"/>
              </a:ext>
            </a:extLst>
          </p:cNvPr>
          <p:cNvSpPr/>
          <p:nvPr/>
        </p:nvSpPr>
        <p:spPr>
          <a:xfrm>
            <a:off x="6912864" y="2496312"/>
            <a:ext cx="196596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Ready for use</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Text 21">
            <a:extLst>
              <a:ext uri="{FF2B5EF4-FFF2-40B4-BE49-F238E27FC236}">
                <a16:creationId xmlns:a16="http://schemas.microsoft.com/office/drawing/2014/main" id="{24B93C9A-8B9F-74F5-EAB0-6CB3B33B18AF}"/>
              </a:ext>
            </a:extLst>
          </p:cNvPr>
          <p:cNvSpPr/>
          <p:nvPr/>
        </p:nvSpPr>
        <p:spPr>
          <a:xfrm>
            <a:off x="9198864" y="2496312"/>
            <a:ext cx="233172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IBMC access</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Shape 22">
            <a:extLst>
              <a:ext uri="{FF2B5EF4-FFF2-40B4-BE49-F238E27FC236}">
                <a16:creationId xmlns:a16="http://schemas.microsoft.com/office/drawing/2014/main" id="{478EBE87-0012-5223-8936-328250A13036}"/>
              </a:ext>
            </a:extLst>
          </p:cNvPr>
          <p:cNvSpPr/>
          <p:nvPr/>
        </p:nvSpPr>
        <p:spPr>
          <a:xfrm>
            <a:off x="502920" y="2779776"/>
            <a:ext cx="11201400" cy="475488"/>
          </a:xfrm>
          <a:prstGeom prst="rect">
            <a:avLst/>
          </a:prstGeom>
          <a:solidFill>
            <a:srgbClr val="FFFFFF"/>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5" name="Text 23">
            <a:extLst>
              <a:ext uri="{FF2B5EF4-FFF2-40B4-BE49-F238E27FC236}">
                <a16:creationId xmlns:a16="http://schemas.microsoft.com/office/drawing/2014/main" id="{90B57C0F-BFD6-6ED1-ECCE-C2024E85AFE3}"/>
              </a:ext>
            </a:extLst>
          </p:cNvPr>
          <p:cNvSpPr/>
          <p:nvPr/>
        </p:nvSpPr>
        <p:spPr>
          <a:xfrm>
            <a:off x="557784" y="2889504"/>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Db2</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Text 24">
            <a:extLst>
              <a:ext uri="{FF2B5EF4-FFF2-40B4-BE49-F238E27FC236}">
                <a16:creationId xmlns:a16="http://schemas.microsoft.com/office/drawing/2014/main" id="{6E57D690-7CA6-09DC-1DE4-4D9AB5F61BF6}"/>
              </a:ext>
            </a:extLst>
          </p:cNvPr>
          <p:cNvSpPr/>
          <p:nvPr/>
        </p:nvSpPr>
        <p:spPr>
          <a:xfrm>
            <a:off x="2432304" y="2907792"/>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Text 25">
            <a:extLst>
              <a:ext uri="{FF2B5EF4-FFF2-40B4-BE49-F238E27FC236}">
                <a16:creationId xmlns:a16="http://schemas.microsoft.com/office/drawing/2014/main" id="{2F7F51FB-F7C8-9ED3-B8B2-FEA747E8129F}"/>
              </a:ext>
            </a:extLst>
          </p:cNvPr>
          <p:cNvSpPr/>
          <p:nvPr/>
        </p:nvSpPr>
        <p:spPr>
          <a:xfrm>
            <a:off x="4261104" y="2862072"/>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CSE draft complete; PM capability input captured; ready to demonstrate in Value 360.</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Text 26">
            <a:extLst>
              <a:ext uri="{FF2B5EF4-FFF2-40B4-BE49-F238E27FC236}">
                <a16:creationId xmlns:a16="http://schemas.microsoft.com/office/drawing/2014/main" id="{09C7FBAC-A8D9-DB04-B49A-1839A924617E}"/>
              </a:ext>
            </a:extLst>
          </p:cNvPr>
          <p:cNvSpPr/>
          <p:nvPr/>
        </p:nvSpPr>
        <p:spPr>
          <a:xfrm>
            <a:off x="6912864" y="2862072"/>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Use now for guided seller / IBMC conversations.</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7">
            <a:extLst>
              <a:ext uri="{FF2B5EF4-FFF2-40B4-BE49-F238E27FC236}">
                <a16:creationId xmlns:a16="http://schemas.microsoft.com/office/drawing/2014/main" id="{C847BD1F-E2CD-FD43-35D1-4A91B300B334}"/>
              </a:ext>
            </a:extLst>
          </p:cNvPr>
          <p:cNvSpPr/>
          <p:nvPr/>
        </p:nvSpPr>
        <p:spPr>
          <a:xfrm>
            <a:off x="9198864" y="2862072"/>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Value 360 template once published; interim via C2M / BVE team.</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Shape 28">
            <a:extLst>
              <a:ext uri="{FF2B5EF4-FFF2-40B4-BE49-F238E27FC236}">
                <a16:creationId xmlns:a16="http://schemas.microsoft.com/office/drawing/2014/main" id="{154F6CBF-6CD7-D9E1-D820-2DE3D2237FF1}"/>
              </a:ext>
            </a:extLst>
          </p:cNvPr>
          <p:cNvSpPr/>
          <p:nvPr/>
        </p:nvSpPr>
        <p:spPr>
          <a:xfrm>
            <a:off x="502920" y="3255264"/>
            <a:ext cx="11201400" cy="475488"/>
          </a:xfrm>
          <a:prstGeom prst="rect">
            <a:avLst/>
          </a:prstGeom>
          <a:solidFill>
            <a:srgbClr val="FAFAFA"/>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1" name="Text 29">
            <a:extLst>
              <a:ext uri="{FF2B5EF4-FFF2-40B4-BE49-F238E27FC236}">
                <a16:creationId xmlns:a16="http://schemas.microsoft.com/office/drawing/2014/main" id="{DD63C90D-EF63-5FAB-8A56-3121FD9E4841}"/>
              </a:ext>
            </a:extLst>
          </p:cNvPr>
          <p:cNvSpPr/>
          <p:nvPr/>
        </p:nvSpPr>
        <p:spPr>
          <a:xfrm>
            <a:off x="557784" y="3364992"/>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ODM</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33" name="Text 31">
            <a:extLst>
              <a:ext uri="{FF2B5EF4-FFF2-40B4-BE49-F238E27FC236}">
                <a16:creationId xmlns:a16="http://schemas.microsoft.com/office/drawing/2014/main" id="{9EC308D1-AF4E-8035-9D97-ED1BC3597FE8}"/>
              </a:ext>
            </a:extLst>
          </p:cNvPr>
          <p:cNvSpPr/>
          <p:nvPr/>
        </p:nvSpPr>
        <p:spPr>
          <a:xfrm>
            <a:off x="4261104" y="3337560"/>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CS→Vitality validated. Containerization and SaaS require Antony / Bacary input.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34" name="Text 32">
            <a:extLst>
              <a:ext uri="{FF2B5EF4-FFF2-40B4-BE49-F238E27FC236}">
                <a16:creationId xmlns:a16="http://schemas.microsoft.com/office/drawing/2014/main" id="{CF12F9D8-B0F7-A16B-C1AC-2662577110C2}"/>
              </a:ext>
            </a:extLst>
          </p:cNvPr>
          <p:cNvSpPr/>
          <p:nvPr/>
        </p:nvSpPr>
        <p:spPr>
          <a:xfrm>
            <a:off x="6912864" y="3337560"/>
            <a:ext cx="1965960" cy="301752"/>
          </a:xfrm>
          <a:prstGeom prst="rect">
            <a:avLst/>
          </a:prstGeom>
          <a:noFill/>
          <a:ln/>
        </p:spPr>
        <p:txBody>
          <a:bodyPr wrap="square" lIns="127" tIns="127" rIns="127" bIns="127" rtlCol="0" anchor="t">
            <a:normAutofit/>
          </a:bodyPr>
          <a:lstStyle/>
          <a:p>
            <a:pPr lvl="0">
              <a:defRPr/>
            </a:pPr>
            <a:r>
              <a:rPr lang="en-US" sz="780" dirty="0">
                <a:solidFill>
                  <a:srgbClr val="262626"/>
                </a:solidFill>
                <a:latin typeface="Arial" pitchFamily="34" charset="0"/>
                <a:ea typeface="Arial" pitchFamily="34" charset="-122"/>
                <a:cs typeface="Arial" pitchFamily="34" charset="-120"/>
              </a:rPr>
              <a:t>Use now for guided seller / IBMC conversations.</a:t>
            </a:r>
            <a:endParaRPr lang="en-US" sz="780" dirty="0">
              <a:solidFill>
                <a:prstClr val="black"/>
              </a:solidFill>
            </a:endParaRPr>
          </a:p>
        </p:txBody>
      </p:sp>
      <p:sp>
        <p:nvSpPr>
          <p:cNvPr id="35" name="Text 33">
            <a:extLst>
              <a:ext uri="{FF2B5EF4-FFF2-40B4-BE49-F238E27FC236}">
                <a16:creationId xmlns:a16="http://schemas.microsoft.com/office/drawing/2014/main" id="{1633E6FC-5B08-91C0-E490-58F57EE90104}"/>
              </a:ext>
            </a:extLst>
          </p:cNvPr>
          <p:cNvSpPr/>
          <p:nvPr/>
        </p:nvSpPr>
        <p:spPr>
          <a:xfrm>
            <a:off x="9198864" y="3337560"/>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Value 360 after motion packaging; interim via C2M / BVE team.</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36" name="Shape 34">
            <a:extLst>
              <a:ext uri="{FF2B5EF4-FFF2-40B4-BE49-F238E27FC236}">
                <a16:creationId xmlns:a16="http://schemas.microsoft.com/office/drawing/2014/main" id="{BD1285B2-FD46-78BD-6B4C-A645F18B6F44}"/>
              </a:ext>
            </a:extLst>
          </p:cNvPr>
          <p:cNvSpPr/>
          <p:nvPr/>
        </p:nvSpPr>
        <p:spPr>
          <a:xfrm>
            <a:off x="502920" y="3730752"/>
            <a:ext cx="11201400" cy="475488"/>
          </a:xfrm>
          <a:prstGeom prst="rect">
            <a:avLst/>
          </a:prstGeom>
          <a:solidFill>
            <a:srgbClr val="FFFFFF"/>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7" name="Text 35">
            <a:extLst>
              <a:ext uri="{FF2B5EF4-FFF2-40B4-BE49-F238E27FC236}">
                <a16:creationId xmlns:a16="http://schemas.microsoft.com/office/drawing/2014/main" id="{052C74BF-5410-70D7-DBC9-EF1D529B04F8}"/>
              </a:ext>
            </a:extLst>
          </p:cNvPr>
          <p:cNvSpPr/>
          <p:nvPr/>
        </p:nvSpPr>
        <p:spPr>
          <a:xfrm>
            <a:off x="557784" y="3840480"/>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Cognos</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39" name="Text 37">
            <a:extLst>
              <a:ext uri="{FF2B5EF4-FFF2-40B4-BE49-F238E27FC236}">
                <a16:creationId xmlns:a16="http://schemas.microsoft.com/office/drawing/2014/main" id="{892C0A5A-7BDB-829B-DC49-B17724A58E3D}"/>
              </a:ext>
            </a:extLst>
          </p:cNvPr>
          <p:cNvSpPr/>
          <p:nvPr/>
        </p:nvSpPr>
        <p:spPr>
          <a:xfrm>
            <a:off x="4261104" y="3813048"/>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Draft started in March. PM review still needed to close capability-led value.</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0" name="Text 38">
            <a:extLst>
              <a:ext uri="{FF2B5EF4-FFF2-40B4-BE49-F238E27FC236}">
                <a16:creationId xmlns:a16="http://schemas.microsoft.com/office/drawing/2014/main" id="{DA83BDD5-BD08-5ADB-A44A-01A959F27A8A}"/>
              </a:ext>
            </a:extLst>
          </p:cNvPr>
          <p:cNvSpPr/>
          <p:nvPr/>
        </p:nvSpPr>
        <p:spPr>
          <a:xfrm>
            <a:off x="6912864" y="3813048"/>
            <a:ext cx="1965960" cy="301752"/>
          </a:xfrm>
          <a:prstGeom prst="rect">
            <a:avLst/>
          </a:prstGeom>
          <a:noFill/>
          <a:ln/>
        </p:spPr>
        <p:txBody>
          <a:bodyPr wrap="square" lIns="127" tIns="127" rIns="127" bIns="127" rtlCol="0" anchor="t">
            <a:normAutofit fontScale="92500"/>
          </a:bodyPr>
          <a:lstStyle/>
          <a:p>
            <a:r>
              <a:rPr lang="en-US" sz="780" dirty="0">
                <a:solidFill>
                  <a:srgbClr val="262626"/>
                </a:solidFill>
                <a:latin typeface="Arial" pitchFamily="34" charset="0"/>
                <a:ea typeface="Arial" pitchFamily="34" charset="-122"/>
                <a:cs typeface="Arial" pitchFamily="34" charset="-120"/>
              </a:rPr>
              <a:t>Use now for guided seller / IBMC conversations.</a:t>
            </a:r>
            <a:endParaRPr lang="en-US" sz="780"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1" name="Text 39">
            <a:extLst>
              <a:ext uri="{FF2B5EF4-FFF2-40B4-BE49-F238E27FC236}">
                <a16:creationId xmlns:a16="http://schemas.microsoft.com/office/drawing/2014/main" id="{90B9BC8C-6EE4-E598-D10C-A0DC91D4E1D2}"/>
              </a:ext>
            </a:extLst>
          </p:cNvPr>
          <p:cNvSpPr/>
          <p:nvPr/>
        </p:nvSpPr>
        <p:spPr>
          <a:xfrm>
            <a:off x="9198864" y="3813048"/>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Pending PM confirmation and Value 360 packaging.</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2" name="Shape 40">
            <a:extLst>
              <a:ext uri="{FF2B5EF4-FFF2-40B4-BE49-F238E27FC236}">
                <a16:creationId xmlns:a16="http://schemas.microsoft.com/office/drawing/2014/main" id="{A720B93C-0DDB-48E5-45AB-685D382E6E63}"/>
              </a:ext>
            </a:extLst>
          </p:cNvPr>
          <p:cNvSpPr/>
          <p:nvPr/>
        </p:nvSpPr>
        <p:spPr>
          <a:xfrm>
            <a:off x="502920" y="4206240"/>
            <a:ext cx="11201400" cy="475488"/>
          </a:xfrm>
          <a:prstGeom prst="rect">
            <a:avLst/>
          </a:prstGeom>
          <a:solidFill>
            <a:srgbClr val="FAFAFA"/>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3" name="Text 41">
            <a:extLst>
              <a:ext uri="{FF2B5EF4-FFF2-40B4-BE49-F238E27FC236}">
                <a16:creationId xmlns:a16="http://schemas.microsoft.com/office/drawing/2014/main" id="{BC800532-BA59-D4CE-F51B-618D9CD376DB}"/>
              </a:ext>
            </a:extLst>
          </p:cNvPr>
          <p:cNvSpPr/>
          <p:nvPr/>
        </p:nvSpPr>
        <p:spPr>
          <a:xfrm>
            <a:off x="557784" y="4315968"/>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WAS / Liberty modernization</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45" name="Text 43">
            <a:extLst>
              <a:ext uri="{FF2B5EF4-FFF2-40B4-BE49-F238E27FC236}">
                <a16:creationId xmlns:a16="http://schemas.microsoft.com/office/drawing/2014/main" id="{3310140E-65E9-90DF-E740-7480DDFD122E}"/>
              </a:ext>
            </a:extLst>
          </p:cNvPr>
          <p:cNvSpPr/>
          <p:nvPr/>
        </p:nvSpPr>
        <p:spPr>
          <a:xfrm>
            <a:off x="4261104" y="4288536"/>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Scope is Vitality and Containerization. PM engagement with Brian, Craig, Cassi and Kaushik.</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6" name="Text 44">
            <a:extLst>
              <a:ext uri="{FF2B5EF4-FFF2-40B4-BE49-F238E27FC236}">
                <a16:creationId xmlns:a16="http://schemas.microsoft.com/office/drawing/2014/main" id="{54098506-4A90-047D-2DED-AD331D31F1F3}"/>
              </a:ext>
            </a:extLst>
          </p:cNvPr>
          <p:cNvSpPr/>
          <p:nvPr/>
        </p:nvSpPr>
        <p:spPr>
          <a:xfrm>
            <a:off x="6912864" y="4288536"/>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Not ready yet.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7" name="Text 45">
            <a:extLst>
              <a:ext uri="{FF2B5EF4-FFF2-40B4-BE49-F238E27FC236}">
                <a16:creationId xmlns:a16="http://schemas.microsoft.com/office/drawing/2014/main" id="{199865CF-C7E7-5F01-1EF7-9594B69FBCBB}"/>
              </a:ext>
            </a:extLst>
          </p:cNvPr>
          <p:cNvSpPr/>
          <p:nvPr/>
        </p:nvSpPr>
        <p:spPr>
          <a:xfrm>
            <a:off x="9198864" y="4288536"/>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Pending BVA build and PM validation.</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8" name="Shape 46">
            <a:extLst>
              <a:ext uri="{FF2B5EF4-FFF2-40B4-BE49-F238E27FC236}">
                <a16:creationId xmlns:a16="http://schemas.microsoft.com/office/drawing/2014/main" id="{13B73036-8088-C61E-F692-E228E1CA2D9E}"/>
              </a:ext>
            </a:extLst>
          </p:cNvPr>
          <p:cNvSpPr/>
          <p:nvPr/>
        </p:nvSpPr>
        <p:spPr>
          <a:xfrm>
            <a:off x="502920" y="4681728"/>
            <a:ext cx="11201400" cy="475488"/>
          </a:xfrm>
          <a:prstGeom prst="rect">
            <a:avLst/>
          </a:prstGeom>
          <a:solidFill>
            <a:srgbClr val="FFFFFF"/>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9" name="Text 47">
            <a:extLst>
              <a:ext uri="{FF2B5EF4-FFF2-40B4-BE49-F238E27FC236}">
                <a16:creationId xmlns:a16="http://schemas.microsoft.com/office/drawing/2014/main" id="{088C278D-12C7-1E3C-E55B-E138BD6B3708}"/>
              </a:ext>
            </a:extLst>
          </p:cNvPr>
          <p:cNvSpPr/>
          <p:nvPr/>
        </p:nvSpPr>
        <p:spPr>
          <a:xfrm>
            <a:off x="557784" y="4791456"/>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FileNet (Content Cortex)</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51" name="Text 49">
            <a:extLst>
              <a:ext uri="{FF2B5EF4-FFF2-40B4-BE49-F238E27FC236}">
                <a16:creationId xmlns:a16="http://schemas.microsoft.com/office/drawing/2014/main" id="{BFF93666-C62B-2538-F620-C2699A36B0F4}"/>
              </a:ext>
            </a:extLst>
          </p:cNvPr>
          <p:cNvSpPr/>
          <p:nvPr/>
        </p:nvSpPr>
        <p:spPr>
          <a:xfrm>
            <a:off x="4261104" y="4764024"/>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Next product after Db2 </a:t>
            </a:r>
            <a:r>
              <a:rPr kumimoji="0" lang="en-US" sz="780" b="0" i="0" u="none" strike="noStrike" kern="1200" cap="none" spc="0" normalizeH="0" baseline="0" noProof="0" dirty="0" err="1">
                <a:ln>
                  <a:noFill/>
                </a:ln>
                <a:solidFill>
                  <a:srgbClr val="262626"/>
                </a:solidFill>
                <a:effectLst/>
                <a:uLnTx/>
                <a:uFillTx/>
                <a:latin typeface="Arial" pitchFamily="34" charset="0"/>
                <a:ea typeface="Arial" pitchFamily="34" charset="-122"/>
                <a:cs typeface="Arial" pitchFamily="34" charset="-120"/>
              </a:rPr>
              <a:t>sequencin</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2" name="Text 50">
            <a:extLst>
              <a:ext uri="{FF2B5EF4-FFF2-40B4-BE49-F238E27FC236}">
                <a16:creationId xmlns:a16="http://schemas.microsoft.com/office/drawing/2014/main" id="{D948BDD1-01CC-B883-A44B-5636510A9AF6}"/>
              </a:ext>
            </a:extLst>
          </p:cNvPr>
          <p:cNvSpPr/>
          <p:nvPr/>
        </p:nvSpPr>
        <p:spPr>
          <a:xfrm>
            <a:off x="6912864" y="4764024"/>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Not ready yet.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3" name="Text 51">
            <a:extLst>
              <a:ext uri="{FF2B5EF4-FFF2-40B4-BE49-F238E27FC236}">
                <a16:creationId xmlns:a16="http://schemas.microsoft.com/office/drawing/2014/main" id="{478D4F69-1247-5853-B8F6-2F4F10433422}"/>
              </a:ext>
            </a:extLst>
          </p:cNvPr>
          <p:cNvSpPr/>
          <p:nvPr/>
        </p:nvSpPr>
        <p:spPr>
          <a:xfrm>
            <a:off x="9198864" y="4764024"/>
            <a:ext cx="2331720" cy="301752"/>
          </a:xfrm>
          <a:prstGeom prst="rect">
            <a:avLst/>
          </a:prstGeom>
          <a:noFill/>
          <a:ln/>
        </p:spPr>
        <p:txBody>
          <a:bodyPr wrap="square" lIns="127" tIns="127" rIns="127" bIns="127" rtlCol="0" anchor="t">
            <a:normAutofit/>
          </a:bodyPr>
          <a:lstStyle/>
          <a:p>
            <a:r>
              <a:rPr lang="en-US" sz="780" dirty="0">
                <a:solidFill>
                  <a:srgbClr val="262626"/>
                </a:solidFill>
                <a:latin typeface="Arial" pitchFamily="34" charset="0"/>
                <a:ea typeface="Arial" pitchFamily="34" charset="-122"/>
                <a:cs typeface="Arial" pitchFamily="34" charset="-120"/>
              </a:rPr>
              <a:t>Pending BVA build and PM validation.</a:t>
            </a:r>
            <a:endParaRPr lang="en-US" sz="780"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4" name="Shape 52">
            <a:extLst>
              <a:ext uri="{FF2B5EF4-FFF2-40B4-BE49-F238E27FC236}">
                <a16:creationId xmlns:a16="http://schemas.microsoft.com/office/drawing/2014/main" id="{B9EDE573-3CB8-8B81-8AE4-C55AE36F3091}"/>
              </a:ext>
            </a:extLst>
          </p:cNvPr>
          <p:cNvSpPr/>
          <p:nvPr/>
        </p:nvSpPr>
        <p:spPr>
          <a:xfrm>
            <a:off x="502920" y="5157216"/>
            <a:ext cx="11201400" cy="475488"/>
          </a:xfrm>
          <a:prstGeom prst="rect">
            <a:avLst/>
          </a:prstGeom>
          <a:solidFill>
            <a:srgbClr val="FAFAFA"/>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5" name="Text 53">
            <a:extLst>
              <a:ext uri="{FF2B5EF4-FFF2-40B4-BE49-F238E27FC236}">
                <a16:creationId xmlns:a16="http://schemas.microsoft.com/office/drawing/2014/main" id="{4CB35DAB-A71D-A9F9-6992-86F6894A5575}"/>
              </a:ext>
            </a:extLst>
          </p:cNvPr>
          <p:cNvSpPr/>
          <p:nvPr/>
        </p:nvSpPr>
        <p:spPr>
          <a:xfrm>
            <a:off x="557784" y="5266944"/>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Planning Analytics</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57" name="Text 55">
            <a:extLst>
              <a:ext uri="{FF2B5EF4-FFF2-40B4-BE49-F238E27FC236}">
                <a16:creationId xmlns:a16="http://schemas.microsoft.com/office/drawing/2014/main" id="{9653F1E4-41D4-523E-F7A1-896BCB1FB0FF}"/>
              </a:ext>
            </a:extLst>
          </p:cNvPr>
          <p:cNvSpPr/>
          <p:nvPr/>
        </p:nvSpPr>
        <p:spPr>
          <a:xfrm>
            <a:off x="4261104" y="5239512"/>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Sequenced after DataStage. PM team currently busy with demos and pilots.</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8" name="Text 56">
            <a:extLst>
              <a:ext uri="{FF2B5EF4-FFF2-40B4-BE49-F238E27FC236}">
                <a16:creationId xmlns:a16="http://schemas.microsoft.com/office/drawing/2014/main" id="{4EB9E4E8-1C42-9D08-982B-52150D357933}"/>
              </a:ext>
            </a:extLst>
          </p:cNvPr>
          <p:cNvSpPr/>
          <p:nvPr/>
        </p:nvSpPr>
        <p:spPr>
          <a:xfrm>
            <a:off x="6912864" y="5239512"/>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Not ready yet.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9" name="Text 57">
            <a:extLst>
              <a:ext uri="{FF2B5EF4-FFF2-40B4-BE49-F238E27FC236}">
                <a16:creationId xmlns:a16="http://schemas.microsoft.com/office/drawing/2014/main" id="{A4A30270-D28D-D8B4-21C0-B6E5C52CF6ED}"/>
              </a:ext>
            </a:extLst>
          </p:cNvPr>
          <p:cNvSpPr/>
          <p:nvPr/>
        </p:nvSpPr>
        <p:spPr>
          <a:xfrm>
            <a:off x="9198864" y="5239512"/>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PM collaboration.</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60" name="Text 58">
            <a:extLst>
              <a:ext uri="{FF2B5EF4-FFF2-40B4-BE49-F238E27FC236}">
                <a16:creationId xmlns:a16="http://schemas.microsoft.com/office/drawing/2014/main" id="{45C4A6FD-DDAE-8216-0FC2-E7C29B2077FD}"/>
              </a:ext>
            </a:extLst>
          </p:cNvPr>
          <p:cNvSpPr/>
          <p:nvPr/>
        </p:nvSpPr>
        <p:spPr>
          <a:xfrm>
            <a:off x="502920" y="6263640"/>
            <a:ext cx="10881360" cy="256032"/>
          </a:xfrm>
          <a:prstGeom prst="rect">
            <a:avLst/>
          </a:prstGeom>
          <a:solidFill>
            <a:srgbClr val="EDF5FF"/>
          </a:solidFill>
          <a:ln w="12700">
            <a:solidFill>
              <a:srgbClr val="EDF5FF"/>
            </a:solidFill>
          </a:ln>
        </p:spPr>
        <p:txBody>
          <a:bodyPr wrap="square" lIns="1016" tIns="1016" rIns="1016" bIns="1016" rtlCol="0" anchor="t">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61616"/>
                </a:solidFill>
                <a:effectLst/>
                <a:uLnTx/>
                <a:uFillTx/>
                <a:latin typeface="Arial" pitchFamily="34" charset="0"/>
                <a:ea typeface="Arial" pitchFamily="34" charset="-122"/>
                <a:cs typeface="Arial" pitchFamily="34" charset="-120"/>
              </a:rPr>
              <a:t>Executive message: Db2 and ODM are the first completed BVA’s and are </a:t>
            </a:r>
            <a:r>
              <a:rPr lang="en-US" sz="1150" b="1" dirty="0">
                <a:solidFill>
                  <a:srgbClr val="161616"/>
                </a:solidFill>
                <a:latin typeface="Arial" pitchFamily="34" charset="0"/>
                <a:ea typeface="Arial" pitchFamily="34" charset="-122"/>
                <a:cs typeface="Arial" pitchFamily="34" charset="-120"/>
              </a:rPr>
              <a:t>published in Value 360</a:t>
            </a:r>
            <a:r>
              <a:rPr kumimoji="0" lang="en-US" sz="1150" b="1" i="0" u="none" strike="noStrike" kern="1200" cap="none" spc="0" normalizeH="0" baseline="0" noProof="0" dirty="0">
                <a:ln>
                  <a:noFill/>
                </a:ln>
                <a:solidFill>
                  <a:srgbClr val="161616"/>
                </a:solidFill>
                <a:effectLst/>
                <a:uLnTx/>
                <a:uFillTx/>
                <a:latin typeface="Arial" pitchFamily="34" charset="0"/>
                <a:ea typeface="Arial" pitchFamily="34" charset="-122"/>
                <a:cs typeface="Arial" pitchFamily="34" charset="-120"/>
              </a:rPr>
              <a:t>. Cognos and App Runtime are active, with PM validation as the main dependency.</a:t>
            </a:r>
            <a:endParaRPr kumimoji="0" lang="en-US" sz="1150" b="0" i="0" u="none" strike="noStrike" kern="1200" cap="none" spc="0" normalizeH="0" baseline="0" noProof="0" dirty="0">
              <a:ln>
                <a:noFill/>
              </a:ln>
              <a:solidFill>
                <a:prstClr val="black"/>
              </a:solidFill>
              <a:effectLst/>
              <a:uLnTx/>
              <a:uFillTx/>
              <a:latin typeface="Arial"/>
              <a:ea typeface="+mn-ea"/>
              <a:cs typeface="+mn-cs"/>
            </a:endParaRPr>
          </a:p>
        </p:txBody>
      </p:sp>
      <p:sp>
        <p:nvSpPr>
          <p:cNvPr id="61" name="Text 24">
            <a:extLst>
              <a:ext uri="{FF2B5EF4-FFF2-40B4-BE49-F238E27FC236}">
                <a16:creationId xmlns:a16="http://schemas.microsoft.com/office/drawing/2014/main" id="{06C8506E-2EF7-E42C-03B5-43019FB8263D}"/>
              </a:ext>
            </a:extLst>
          </p:cNvPr>
          <p:cNvSpPr/>
          <p:nvPr/>
        </p:nvSpPr>
        <p:spPr>
          <a:xfrm>
            <a:off x="2432304" y="3410712"/>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63" name="Text 42">
            <a:extLst>
              <a:ext uri="{FF2B5EF4-FFF2-40B4-BE49-F238E27FC236}">
                <a16:creationId xmlns:a16="http://schemas.microsoft.com/office/drawing/2014/main" id="{4A2F60B0-E1A8-3C25-90CD-297A446A0A2E}"/>
              </a:ext>
            </a:extLst>
          </p:cNvPr>
          <p:cNvSpPr/>
          <p:nvPr/>
        </p:nvSpPr>
        <p:spPr>
          <a:xfrm>
            <a:off x="2432304" y="4796028"/>
            <a:ext cx="960120" cy="237744"/>
          </a:xfrm>
          <a:prstGeom prst="rect">
            <a:avLst/>
          </a:prstGeom>
          <a:solidFill>
            <a:srgbClr val="FFF1E5"/>
          </a:solidFill>
          <a:ln>
            <a:solidFill>
              <a:srgbClr val="FFF1E5">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FF832B"/>
                </a:solidFill>
                <a:effectLst/>
                <a:uLnTx/>
                <a:uFillTx/>
                <a:latin typeface="Arial" pitchFamily="34" charset="0"/>
                <a:ea typeface="Arial" pitchFamily="34" charset="-122"/>
                <a:cs typeface="Arial" pitchFamily="34" charset="-120"/>
              </a:rPr>
              <a:t>In progress</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64" name="Text 42">
            <a:extLst>
              <a:ext uri="{FF2B5EF4-FFF2-40B4-BE49-F238E27FC236}">
                <a16:creationId xmlns:a16="http://schemas.microsoft.com/office/drawing/2014/main" id="{E743CC83-7682-1822-644F-5A66AEB774A2}"/>
              </a:ext>
            </a:extLst>
          </p:cNvPr>
          <p:cNvSpPr/>
          <p:nvPr/>
        </p:nvSpPr>
        <p:spPr>
          <a:xfrm>
            <a:off x="2409444" y="5282418"/>
            <a:ext cx="960120" cy="237744"/>
          </a:xfrm>
          <a:prstGeom prst="rect">
            <a:avLst/>
          </a:prstGeom>
          <a:solidFill>
            <a:srgbClr val="FFF1E5"/>
          </a:solidFill>
          <a:ln>
            <a:solidFill>
              <a:srgbClr val="FFF1E5">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FF832B"/>
                </a:solidFill>
                <a:effectLst/>
                <a:uLnTx/>
                <a:uFillTx/>
                <a:latin typeface="Arial" pitchFamily="34" charset="0"/>
                <a:ea typeface="Arial" pitchFamily="34" charset="-122"/>
                <a:cs typeface="Arial" pitchFamily="34" charset="-120"/>
              </a:rPr>
              <a:t>In progress</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32" name="Text 42">
            <a:extLst>
              <a:ext uri="{FF2B5EF4-FFF2-40B4-BE49-F238E27FC236}">
                <a16:creationId xmlns:a16="http://schemas.microsoft.com/office/drawing/2014/main" id="{9C4BB233-0620-F878-CB43-5F156073DC05}"/>
              </a:ext>
            </a:extLst>
          </p:cNvPr>
          <p:cNvSpPr/>
          <p:nvPr/>
        </p:nvSpPr>
        <p:spPr>
          <a:xfrm>
            <a:off x="2423160" y="3882482"/>
            <a:ext cx="960120" cy="237744"/>
          </a:xfrm>
          <a:prstGeom prst="rect">
            <a:avLst/>
          </a:prstGeom>
          <a:solidFill>
            <a:srgbClr val="FFF1E5"/>
          </a:solidFill>
          <a:ln>
            <a:solidFill>
              <a:srgbClr val="FFF1E5">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FF832B"/>
                </a:solidFill>
                <a:effectLst/>
                <a:uLnTx/>
                <a:uFillTx/>
                <a:latin typeface="Arial" pitchFamily="34" charset="0"/>
                <a:ea typeface="Arial" pitchFamily="34" charset="-122"/>
                <a:cs typeface="Arial" pitchFamily="34" charset="-120"/>
              </a:rPr>
              <a:t>In progress</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38" name="Text 24">
            <a:extLst>
              <a:ext uri="{FF2B5EF4-FFF2-40B4-BE49-F238E27FC236}">
                <a16:creationId xmlns:a16="http://schemas.microsoft.com/office/drawing/2014/main" id="{340DBC74-4493-BC41-AD6B-1AFA62E7488D}"/>
              </a:ext>
            </a:extLst>
          </p:cNvPr>
          <p:cNvSpPr/>
          <p:nvPr/>
        </p:nvSpPr>
        <p:spPr>
          <a:xfrm>
            <a:off x="2409444" y="4320540"/>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676607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201168"/>
            <a:ext cx="2194560" cy="201168"/>
          </a:xfrm>
          <a:prstGeom prst="rect">
            <a:avLst/>
          </a:prstGeom>
          <a:noFill/>
          <a:ln/>
        </p:spPr>
        <p:txBody>
          <a:bodyPr wrap="square" lIns="0" tIns="0" rIns="0" bIns="0" rtlCol="0" anchor="ctr"/>
          <a:lstStyle/>
          <a:p>
            <a:pPr marL="0" indent="0">
              <a:buNone/>
            </a:pPr>
            <a:r>
              <a:rPr lang="en-US" sz="850" b="1" dirty="0">
                <a:solidFill>
                  <a:srgbClr val="0F62FE"/>
                </a:solidFill>
                <a:latin typeface="Arial" pitchFamily="34" charset="0"/>
                <a:ea typeface="Arial" pitchFamily="34" charset="-122"/>
                <a:cs typeface="Arial" pitchFamily="34" charset="-120"/>
              </a:rPr>
              <a:t>Seller enablement</a:t>
            </a:r>
            <a:endParaRPr lang="en-US" sz="850" dirty="0"/>
          </a:p>
        </p:txBody>
      </p:sp>
      <p:sp>
        <p:nvSpPr>
          <p:cNvPr id="3" name="Text 1"/>
          <p:cNvSpPr/>
          <p:nvPr/>
        </p:nvSpPr>
        <p:spPr>
          <a:xfrm>
            <a:off x="502920" y="438912"/>
            <a:ext cx="10698480" cy="384048"/>
          </a:xfrm>
          <a:prstGeom prst="rect">
            <a:avLst/>
          </a:prstGeom>
          <a:noFill/>
          <a:ln/>
        </p:spPr>
        <p:txBody>
          <a:bodyPr wrap="square" lIns="0" tIns="0" rIns="0" bIns="0" rtlCol="0" anchor="ctr">
            <a:normAutofit/>
          </a:bodyPr>
          <a:lstStyle/>
          <a:p>
            <a:pPr marL="0" indent="0">
              <a:buNone/>
            </a:pPr>
            <a:r>
              <a:rPr lang="en-US" sz="2400" b="1" dirty="0">
                <a:solidFill>
                  <a:srgbClr val="161616"/>
                </a:solidFill>
                <a:latin typeface="Arial" pitchFamily="34" charset="0"/>
                <a:ea typeface="Arial" pitchFamily="34" charset="-122"/>
                <a:cs typeface="Arial" pitchFamily="34" charset="-120"/>
              </a:rPr>
              <a:t>Db2 modernization: connect technical proof to funded value</a:t>
            </a:r>
            <a:endParaRPr lang="en-US" sz="2400" dirty="0"/>
          </a:p>
        </p:txBody>
      </p:sp>
      <p:sp>
        <p:nvSpPr>
          <p:cNvPr id="4" name="Text 2"/>
          <p:cNvSpPr/>
          <p:nvPr/>
        </p:nvSpPr>
        <p:spPr>
          <a:xfrm>
            <a:off x="530352" y="859536"/>
            <a:ext cx="10332720" cy="237744"/>
          </a:xfrm>
          <a:prstGeom prst="rect">
            <a:avLst/>
          </a:prstGeom>
          <a:noFill/>
          <a:ln/>
        </p:spPr>
        <p:txBody>
          <a:bodyPr wrap="square" lIns="0" tIns="0" rIns="0" bIns="0" rtlCol="0" anchor="ctr">
            <a:normAutofit/>
          </a:bodyPr>
          <a:lstStyle/>
          <a:p>
            <a:pPr marL="0" indent="0">
              <a:buNone/>
            </a:pPr>
            <a:r>
              <a:rPr lang="en-US" sz="1050" dirty="0">
                <a:solidFill>
                  <a:srgbClr val="525252"/>
                </a:solidFill>
                <a:latin typeface="Arial" pitchFamily="34" charset="0"/>
                <a:ea typeface="Arial" pitchFamily="34" charset="-122"/>
                <a:cs typeface="Arial" pitchFamily="34" charset="-120"/>
              </a:rPr>
              <a:t>15-minute executive seller pitch for modernization conversations</a:t>
            </a:r>
            <a:endParaRPr lang="en-US" sz="1050" dirty="0"/>
          </a:p>
        </p:txBody>
      </p:sp>
      <p:sp>
        <p:nvSpPr>
          <p:cNvPr id="5" name="Shape 3"/>
          <p:cNvSpPr/>
          <p:nvPr/>
        </p:nvSpPr>
        <p:spPr>
          <a:xfrm>
            <a:off x="502920" y="1152144"/>
            <a:ext cx="11201400" cy="27432"/>
          </a:xfrm>
          <a:prstGeom prst="rect">
            <a:avLst/>
          </a:prstGeom>
          <a:solidFill>
            <a:srgbClr val="0F62FE"/>
          </a:solidFill>
          <a:ln w="12700">
            <a:solidFill>
              <a:srgbClr val="0F62FE">
                <a:alpha val="0"/>
              </a:srgbClr>
            </a:solidFill>
            <a:prstDash val="solid"/>
          </a:ln>
        </p:spPr>
        <p:txBody>
          <a:bodyPr/>
          <a:lstStyle/>
          <a:p>
            <a:endParaRPr lang="en-US"/>
          </a:p>
        </p:txBody>
      </p:sp>
      <p:sp>
        <p:nvSpPr>
          <p:cNvPr id="6" name="Text 4"/>
          <p:cNvSpPr/>
          <p:nvPr/>
        </p:nvSpPr>
        <p:spPr>
          <a:xfrm>
            <a:off x="685800" y="1508760"/>
            <a:ext cx="5120640" cy="329184"/>
          </a:xfrm>
          <a:prstGeom prst="rect">
            <a:avLst/>
          </a:prstGeom>
          <a:noFill/>
          <a:ln/>
        </p:spPr>
        <p:txBody>
          <a:bodyPr wrap="square" lIns="0" tIns="0" rIns="0" bIns="0" rtlCol="0" anchor="t">
            <a:normAutofit/>
          </a:bodyPr>
          <a:lstStyle/>
          <a:p>
            <a:pPr marL="0" indent="0" algn="l">
              <a:buNone/>
            </a:pPr>
            <a:r>
              <a:rPr lang="en-US" sz="1800" b="1" dirty="0">
                <a:solidFill>
                  <a:srgbClr val="161616"/>
                </a:solidFill>
                <a:latin typeface="Arial" pitchFamily="34" charset="0"/>
                <a:ea typeface="Arial" pitchFamily="34" charset="-122"/>
                <a:cs typeface="Arial" pitchFamily="34" charset="-120"/>
              </a:rPr>
              <a:t>Start with the buyer question</a:t>
            </a:r>
            <a:endParaRPr lang="en-US" sz="1800" dirty="0"/>
          </a:p>
        </p:txBody>
      </p:sp>
      <p:sp>
        <p:nvSpPr>
          <p:cNvPr id="7" name="Text 5"/>
          <p:cNvSpPr/>
          <p:nvPr/>
        </p:nvSpPr>
        <p:spPr>
          <a:xfrm>
            <a:off x="685800" y="1901952"/>
            <a:ext cx="5394960" cy="585216"/>
          </a:xfrm>
          <a:prstGeom prst="rect">
            <a:avLst/>
          </a:prstGeom>
          <a:noFill/>
          <a:ln/>
        </p:spPr>
        <p:txBody>
          <a:bodyPr wrap="square" lIns="254" tIns="254" rIns="254" bIns="254" rtlCol="0" anchor="t">
            <a:normAutofit fontScale="92500" lnSpcReduction="10000"/>
          </a:bodyPr>
          <a:lstStyle/>
          <a:p>
            <a:pPr marL="0" indent="0" algn="l">
              <a:buNone/>
            </a:pPr>
            <a:r>
              <a:rPr lang="en-US" sz="2300" b="1" dirty="0">
                <a:solidFill>
                  <a:srgbClr val="001D6C"/>
                </a:solidFill>
                <a:latin typeface="Arial" pitchFamily="34" charset="0"/>
                <a:ea typeface="Arial" pitchFamily="34" charset="-122"/>
                <a:cs typeface="Arial" pitchFamily="34" charset="-120"/>
              </a:rPr>
              <a:t>“What does this change do for my business, and is it worth funding?”</a:t>
            </a:r>
            <a:endParaRPr lang="en-US" sz="2300" dirty="0"/>
          </a:p>
        </p:txBody>
      </p:sp>
      <p:sp>
        <p:nvSpPr>
          <p:cNvPr id="8" name="Shape 6"/>
          <p:cNvSpPr/>
          <p:nvPr/>
        </p:nvSpPr>
        <p:spPr>
          <a:xfrm>
            <a:off x="685800" y="2816352"/>
            <a:ext cx="73152" cy="987552"/>
          </a:xfrm>
          <a:prstGeom prst="rect">
            <a:avLst/>
          </a:prstGeom>
          <a:solidFill>
            <a:srgbClr val="FF832B"/>
          </a:solidFill>
          <a:ln w="12700">
            <a:solidFill>
              <a:srgbClr val="FF832B">
                <a:alpha val="0"/>
              </a:srgbClr>
            </a:solidFill>
            <a:prstDash val="solid"/>
          </a:ln>
        </p:spPr>
        <p:txBody>
          <a:bodyPr/>
          <a:lstStyle/>
          <a:p>
            <a:endParaRPr lang="en-US"/>
          </a:p>
        </p:txBody>
      </p:sp>
      <p:sp>
        <p:nvSpPr>
          <p:cNvPr id="9" name="Text 7"/>
          <p:cNvSpPr/>
          <p:nvPr/>
        </p:nvSpPr>
        <p:spPr>
          <a:xfrm>
            <a:off x="886968" y="2852928"/>
            <a:ext cx="4974336" cy="256032"/>
          </a:xfrm>
          <a:prstGeom prst="rect">
            <a:avLst/>
          </a:prstGeom>
          <a:noFill/>
          <a:ln/>
        </p:spPr>
        <p:txBody>
          <a:bodyPr wrap="square" lIns="0" tIns="0" rIns="0" bIns="0" rtlCol="0" anchor="t">
            <a:normAutofit/>
          </a:bodyPr>
          <a:lstStyle/>
          <a:p>
            <a:pPr marL="0" indent="0" algn="l">
              <a:buNone/>
            </a:pPr>
            <a:r>
              <a:rPr lang="en-US" sz="1400" b="1" dirty="0">
                <a:solidFill>
                  <a:srgbClr val="161616"/>
                </a:solidFill>
                <a:latin typeface="Arial" pitchFamily="34" charset="0"/>
                <a:ea typeface="Arial" pitchFamily="34" charset="-122"/>
                <a:cs typeface="Arial" pitchFamily="34" charset="-120"/>
              </a:rPr>
              <a:t>The gap</a:t>
            </a:r>
            <a:endParaRPr lang="en-US" sz="1400" dirty="0"/>
          </a:p>
        </p:txBody>
      </p:sp>
      <p:sp>
        <p:nvSpPr>
          <p:cNvPr id="10" name="Text 8"/>
          <p:cNvSpPr/>
          <p:nvPr/>
        </p:nvSpPr>
        <p:spPr>
          <a:xfrm>
            <a:off x="886968" y="3200400"/>
            <a:ext cx="4956048" cy="566928"/>
          </a:xfrm>
          <a:prstGeom prst="rect">
            <a:avLst/>
          </a:prstGeom>
          <a:noFill/>
          <a:ln/>
        </p:spPr>
        <p:txBody>
          <a:bodyPr wrap="square" lIns="0" tIns="0" rIns="0" bIns="0" rtlCol="0" anchor="t">
            <a:normAutofit/>
          </a:bodyPr>
          <a:lstStyle/>
          <a:p>
            <a:pPr marL="0" indent="0" algn="l">
              <a:buNone/>
            </a:pPr>
            <a:r>
              <a:rPr lang="en-US" sz="1080" dirty="0">
                <a:solidFill>
                  <a:srgbClr val="525252"/>
                </a:solidFill>
                <a:latin typeface="Arial" pitchFamily="34" charset="0"/>
                <a:ea typeface="Arial" pitchFamily="34" charset="-122"/>
                <a:cs typeface="Arial" pitchFamily="34" charset="-120"/>
              </a:rPr>
              <a:t>Sellers can explain upgrade urgency and product features. The hard part is connecting Db2 modernization to a defensible business case.</a:t>
            </a:r>
            <a:endParaRPr lang="en-US" sz="1080" dirty="0"/>
          </a:p>
        </p:txBody>
      </p:sp>
      <p:sp>
        <p:nvSpPr>
          <p:cNvPr id="11" name="Shape 9"/>
          <p:cNvSpPr/>
          <p:nvPr/>
        </p:nvSpPr>
        <p:spPr>
          <a:xfrm>
            <a:off x="685800" y="4078224"/>
            <a:ext cx="73152" cy="987552"/>
          </a:xfrm>
          <a:prstGeom prst="rect">
            <a:avLst/>
          </a:prstGeom>
          <a:solidFill>
            <a:srgbClr val="0F62FE"/>
          </a:solidFill>
          <a:ln w="12700">
            <a:solidFill>
              <a:srgbClr val="0F62FE">
                <a:alpha val="0"/>
              </a:srgbClr>
            </a:solidFill>
            <a:prstDash val="solid"/>
          </a:ln>
        </p:spPr>
        <p:txBody>
          <a:bodyPr/>
          <a:lstStyle/>
          <a:p>
            <a:endParaRPr lang="en-US"/>
          </a:p>
        </p:txBody>
      </p:sp>
      <p:sp>
        <p:nvSpPr>
          <p:cNvPr id="12" name="Text 10"/>
          <p:cNvSpPr/>
          <p:nvPr/>
        </p:nvSpPr>
        <p:spPr>
          <a:xfrm>
            <a:off x="886968" y="4114800"/>
            <a:ext cx="4974336" cy="256032"/>
          </a:xfrm>
          <a:prstGeom prst="rect">
            <a:avLst/>
          </a:prstGeom>
          <a:noFill/>
          <a:ln/>
        </p:spPr>
        <p:txBody>
          <a:bodyPr wrap="square" lIns="0" tIns="0" rIns="0" bIns="0" rtlCol="0" anchor="t">
            <a:normAutofit/>
          </a:bodyPr>
          <a:lstStyle/>
          <a:p>
            <a:pPr marL="0" indent="0" algn="l">
              <a:buNone/>
            </a:pPr>
            <a:r>
              <a:rPr lang="en-US" sz="1400" b="1" dirty="0">
                <a:solidFill>
                  <a:srgbClr val="161616"/>
                </a:solidFill>
                <a:latin typeface="Arial" pitchFamily="34" charset="0"/>
                <a:ea typeface="Arial" pitchFamily="34" charset="-122"/>
                <a:cs typeface="Arial" pitchFamily="34" charset="-120"/>
              </a:rPr>
              <a:t>The bridge</a:t>
            </a:r>
            <a:endParaRPr lang="en-US" sz="1400" dirty="0"/>
          </a:p>
        </p:txBody>
      </p:sp>
      <p:sp>
        <p:nvSpPr>
          <p:cNvPr id="13" name="Text 11"/>
          <p:cNvSpPr/>
          <p:nvPr/>
        </p:nvSpPr>
        <p:spPr>
          <a:xfrm>
            <a:off x="886968" y="4462272"/>
            <a:ext cx="4956048" cy="566928"/>
          </a:xfrm>
          <a:prstGeom prst="rect">
            <a:avLst/>
          </a:prstGeom>
          <a:noFill/>
          <a:ln/>
        </p:spPr>
        <p:txBody>
          <a:bodyPr wrap="square" lIns="0" tIns="0" rIns="0" bIns="0" rtlCol="0" anchor="t">
            <a:normAutofit/>
          </a:bodyPr>
          <a:lstStyle/>
          <a:p>
            <a:pPr marL="0" indent="0" algn="l">
              <a:buNone/>
            </a:pPr>
            <a:r>
              <a:rPr lang="en-US" sz="1080" dirty="0">
                <a:solidFill>
                  <a:srgbClr val="525252"/>
                </a:solidFill>
                <a:latin typeface="Arial" pitchFamily="34" charset="0"/>
                <a:ea typeface="Arial" pitchFamily="34" charset="-122"/>
                <a:cs typeface="Arial" pitchFamily="34" charset="-120"/>
              </a:rPr>
              <a:t>Use the technical view as product proof. Use Value 360 to estimate the value, then refine it with client inputs.</a:t>
            </a:r>
            <a:endParaRPr lang="en-US" sz="1080" dirty="0"/>
          </a:p>
        </p:txBody>
      </p:sp>
      <p:sp>
        <p:nvSpPr>
          <p:cNvPr id="14" name="Shape 12"/>
          <p:cNvSpPr/>
          <p:nvPr/>
        </p:nvSpPr>
        <p:spPr>
          <a:xfrm>
            <a:off x="685800" y="5340096"/>
            <a:ext cx="73152" cy="749808"/>
          </a:xfrm>
          <a:prstGeom prst="rect">
            <a:avLst/>
          </a:prstGeom>
          <a:solidFill>
            <a:srgbClr val="24A148"/>
          </a:solidFill>
          <a:ln w="12700">
            <a:solidFill>
              <a:srgbClr val="24A148">
                <a:alpha val="0"/>
              </a:srgbClr>
            </a:solidFill>
            <a:prstDash val="solid"/>
          </a:ln>
        </p:spPr>
        <p:txBody>
          <a:bodyPr/>
          <a:lstStyle/>
          <a:p>
            <a:endParaRPr lang="en-US"/>
          </a:p>
        </p:txBody>
      </p:sp>
      <p:sp>
        <p:nvSpPr>
          <p:cNvPr id="15" name="Text 13"/>
          <p:cNvSpPr/>
          <p:nvPr/>
        </p:nvSpPr>
        <p:spPr>
          <a:xfrm>
            <a:off x="886968" y="5376672"/>
            <a:ext cx="4974336" cy="256032"/>
          </a:xfrm>
          <a:prstGeom prst="rect">
            <a:avLst/>
          </a:prstGeom>
          <a:noFill/>
          <a:ln/>
        </p:spPr>
        <p:txBody>
          <a:bodyPr wrap="square" lIns="0" tIns="0" rIns="0" bIns="0" rtlCol="0" anchor="t">
            <a:normAutofit/>
          </a:bodyPr>
          <a:lstStyle/>
          <a:p>
            <a:pPr marL="0" indent="0" algn="l">
              <a:buNone/>
            </a:pPr>
            <a:r>
              <a:rPr lang="en-US" sz="1400" b="1" dirty="0">
                <a:solidFill>
                  <a:srgbClr val="161616"/>
                </a:solidFill>
                <a:latin typeface="Arial" pitchFamily="34" charset="0"/>
                <a:ea typeface="Arial" pitchFamily="34" charset="-122"/>
                <a:cs typeface="Arial" pitchFamily="34" charset="-120"/>
              </a:rPr>
              <a:t>The outcome</a:t>
            </a:r>
            <a:endParaRPr lang="en-US" sz="1400" dirty="0"/>
          </a:p>
        </p:txBody>
      </p:sp>
      <p:sp>
        <p:nvSpPr>
          <p:cNvPr id="16" name="Text 14"/>
          <p:cNvSpPr/>
          <p:nvPr/>
        </p:nvSpPr>
        <p:spPr>
          <a:xfrm>
            <a:off x="886968" y="5724144"/>
            <a:ext cx="4956048" cy="329184"/>
          </a:xfrm>
          <a:prstGeom prst="rect">
            <a:avLst/>
          </a:prstGeom>
          <a:noFill/>
          <a:ln/>
        </p:spPr>
        <p:txBody>
          <a:bodyPr wrap="square" lIns="0" tIns="0" rIns="0" bIns="0" rtlCol="0" anchor="t">
            <a:normAutofit/>
          </a:bodyPr>
          <a:lstStyle/>
          <a:p>
            <a:pPr marL="0" indent="0" algn="l">
              <a:buNone/>
            </a:pPr>
            <a:r>
              <a:rPr lang="en-US" sz="1080" dirty="0">
                <a:solidFill>
                  <a:srgbClr val="525252"/>
                </a:solidFill>
                <a:latin typeface="Arial" pitchFamily="34" charset="0"/>
                <a:ea typeface="Arial" pitchFamily="34" charset="-122"/>
                <a:cs typeface="Arial" pitchFamily="34" charset="-120"/>
              </a:rPr>
              <a:t>A first meeting that is credible, business-driven, and simple enough to earn the next working session.</a:t>
            </a:r>
            <a:endParaRPr lang="en-US" sz="1080" dirty="0"/>
          </a:p>
        </p:txBody>
      </p:sp>
      <p:sp>
        <p:nvSpPr>
          <p:cNvPr id="17" name="Shape 15"/>
          <p:cNvSpPr/>
          <p:nvPr/>
        </p:nvSpPr>
        <p:spPr>
          <a:xfrm>
            <a:off x="6492240" y="1508760"/>
            <a:ext cx="4937760" cy="4553712"/>
          </a:xfrm>
          <a:prstGeom prst="roundRect">
            <a:avLst>
              <a:gd name="adj" fmla="val 1606"/>
            </a:avLst>
          </a:prstGeom>
          <a:solidFill>
            <a:srgbClr val="F4F4F4"/>
          </a:solidFill>
          <a:ln w="10160">
            <a:solidFill>
              <a:srgbClr val="E0E0E0"/>
            </a:solidFill>
            <a:prstDash val="solid"/>
          </a:ln>
        </p:spPr>
        <p:txBody>
          <a:bodyPr/>
          <a:lstStyle/>
          <a:p>
            <a:endParaRPr lang="en-US"/>
          </a:p>
        </p:txBody>
      </p:sp>
      <p:sp>
        <p:nvSpPr>
          <p:cNvPr id="18" name="Text 16"/>
          <p:cNvSpPr/>
          <p:nvPr/>
        </p:nvSpPr>
        <p:spPr>
          <a:xfrm>
            <a:off x="6812280" y="1783080"/>
            <a:ext cx="4206240" cy="310896"/>
          </a:xfrm>
          <a:prstGeom prst="rect">
            <a:avLst/>
          </a:prstGeom>
          <a:noFill/>
          <a:ln/>
        </p:spPr>
        <p:txBody>
          <a:bodyPr wrap="square" lIns="0" tIns="0" rIns="0" bIns="0" rtlCol="0" anchor="t">
            <a:normAutofit/>
          </a:bodyPr>
          <a:lstStyle/>
          <a:p>
            <a:pPr marL="0" indent="0" algn="l">
              <a:buNone/>
            </a:pPr>
            <a:r>
              <a:rPr lang="en-US" sz="1600" b="1" dirty="0">
                <a:solidFill>
                  <a:srgbClr val="161616"/>
                </a:solidFill>
                <a:latin typeface="Arial" pitchFamily="34" charset="0"/>
                <a:ea typeface="Arial" pitchFamily="34" charset="-122"/>
                <a:cs typeface="Arial" pitchFamily="34" charset="-120"/>
              </a:rPr>
              <a:t>Seller move</a:t>
            </a:r>
            <a:endParaRPr lang="en-US" sz="1600" dirty="0"/>
          </a:p>
        </p:txBody>
      </p:sp>
      <p:sp>
        <p:nvSpPr>
          <p:cNvPr id="19" name="Text 17"/>
          <p:cNvSpPr/>
          <p:nvPr/>
        </p:nvSpPr>
        <p:spPr>
          <a:xfrm>
            <a:off x="6812280" y="2359152"/>
            <a:ext cx="310896" cy="310896"/>
          </a:xfrm>
          <a:prstGeom prst="rect">
            <a:avLst/>
          </a:prstGeom>
          <a:solidFill>
            <a:srgbClr val="0F62FE"/>
          </a:solid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0" name="Text 18"/>
          <p:cNvSpPr/>
          <p:nvPr/>
        </p:nvSpPr>
        <p:spPr>
          <a:xfrm>
            <a:off x="7242048" y="2340864"/>
            <a:ext cx="3840480" cy="329184"/>
          </a:xfrm>
          <a:prstGeom prst="rect">
            <a:avLst/>
          </a:prstGeom>
          <a:noFill/>
          <a:ln/>
        </p:spPr>
        <p:txBody>
          <a:bodyPr wrap="square" lIns="0" tIns="0" rIns="0" bIns="0" rtlCol="0" anchor="t">
            <a:normAutofit/>
          </a:bodyPr>
          <a:lstStyle/>
          <a:p>
            <a:pPr marL="0" indent="0" algn="l">
              <a:buNone/>
            </a:pPr>
            <a:r>
              <a:rPr lang="en-US" sz="1340" b="1" dirty="0">
                <a:solidFill>
                  <a:srgbClr val="161616"/>
                </a:solidFill>
                <a:latin typeface="Arial" pitchFamily="34" charset="0"/>
                <a:ea typeface="Arial" pitchFamily="34" charset="-122"/>
                <a:cs typeface="Arial" pitchFamily="34" charset="-120"/>
              </a:rPr>
              <a:t>Open with Why Change, Why Now, Why IBM</a:t>
            </a:r>
            <a:endParaRPr lang="en-US" sz="1340" dirty="0"/>
          </a:p>
        </p:txBody>
      </p:sp>
      <p:sp>
        <p:nvSpPr>
          <p:cNvPr id="21" name="Text 19"/>
          <p:cNvSpPr/>
          <p:nvPr/>
        </p:nvSpPr>
        <p:spPr>
          <a:xfrm>
            <a:off x="6812280" y="3127248"/>
            <a:ext cx="310896" cy="310896"/>
          </a:xfrm>
          <a:prstGeom prst="rect">
            <a:avLst/>
          </a:prstGeom>
          <a:solidFill>
            <a:srgbClr val="0F62FE"/>
          </a:solid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20"/>
          <p:cNvSpPr/>
          <p:nvPr/>
        </p:nvSpPr>
        <p:spPr>
          <a:xfrm>
            <a:off x="7242048" y="3108960"/>
            <a:ext cx="3840480" cy="329184"/>
          </a:xfrm>
          <a:prstGeom prst="rect">
            <a:avLst/>
          </a:prstGeom>
          <a:noFill/>
          <a:ln/>
        </p:spPr>
        <p:txBody>
          <a:bodyPr wrap="square" lIns="0" tIns="0" rIns="0" bIns="0" rtlCol="0" anchor="t">
            <a:normAutofit/>
          </a:bodyPr>
          <a:lstStyle/>
          <a:p>
            <a:pPr marL="0" indent="0" algn="l">
              <a:buNone/>
            </a:pPr>
            <a:r>
              <a:rPr lang="en-US" sz="1340" b="1" dirty="0">
                <a:solidFill>
                  <a:srgbClr val="161616"/>
                </a:solidFill>
                <a:latin typeface="Arial" pitchFamily="34" charset="0"/>
                <a:ea typeface="Arial" pitchFamily="34" charset="-122"/>
                <a:cs typeface="Arial" pitchFamily="34" charset="-120"/>
              </a:rPr>
              <a:t>Pick one modernization motion</a:t>
            </a:r>
            <a:endParaRPr lang="en-US" sz="1340" dirty="0"/>
          </a:p>
        </p:txBody>
      </p:sp>
      <p:sp>
        <p:nvSpPr>
          <p:cNvPr id="23" name="Text 21"/>
          <p:cNvSpPr/>
          <p:nvPr/>
        </p:nvSpPr>
        <p:spPr>
          <a:xfrm>
            <a:off x="6812280" y="3895344"/>
            <a:ext cx="310896" cy="310896"/>
          </a:xfrm>
          <a:prstGeom prst="rect">
            <a:avLst/>
          </a:prstGeom>
          <a:solidFill>
            <a:srgbClr val="0F62FE"/>
          </a:solid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4" name="Text 22"/>
          <p:cNvSpPr/>
          <p:nvPr/>
        </p:nvSpPr>
        <p:spPr>
          <a:xfrm>
            <a:off x="7242048" y="3877056"/>
            <a:ext cx="3840480" cy="329184"/>
          </a:xfrm>
          <a:prstGeom prst="rect">
            <a:avLst/>
          </a:prstGeom>
          <a:noFill/>
          <a:ln/>
        </p:spPr>
        <p:txBody>
          <a:bodyPr wrap="square" lIns="0" tIns="0" rIns="0" bIns="0" rtlCol="0" anchor="t">
            <a:normAutofit/>
          </a:bodyPr>
          <a:lstStyle/>
          <a:p>
            <a:pPr marL="0" indent="0" algn="l">
              <a:buNone/>
            </a:pPr>
            <a:r>
              <a:rPr lang="en-US" sz="1340" b="1" dirty="0">
                <a:solidFill>
                  <a:srgbClr val="161616"/>
                </a:solidFill>
                <a:latin typeface="Arial" pitchFamily="34" charset="0"/>
                <a:ea typeface="Arial" pitchFamily="34" charset="-122"/>
                <a:cs typeface="Arial" pitchFamily="34" charset="-120"/>
              </a:rPr>
              <a:t>Show the technical view</a:t>
            </a:r>
            <a:endParaRPr lang="en-US" sz="1340" dirty="0"/>
          </a:p>
        </p:txBody>
      </p:sp>
      <p:sp>
        <p:nvSpPr>
          <p:cNvPr id="25" name="Text 23"/>
          <p:cNvSpPr/>
          <p:nvPr/>
        </p:nvSpPr>
        <p:spPr>
          <a:xfrm>
            <a:off x="6812280" y="4663440"/>
            <a:ext cx="310896" cy="310896"/>
          </a:xfrm>
          <a:prstGeom prst="rect">
            <a:avLst/>
          </a:prstGeom>
          <a:solidFill>
            <a:srgbClr val="0F62FE"/>
          </a:solid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6" name="Text 24"/>
          <p:cNvSpPr/>
          <p:nvPr/>
        </p:nvSpPr>
        <p:spPr>
          <a:xfrm>
            <a:off x="7242048" y="4645152"/>
            <a:ext cx="3840480" cy="329184"/>
          </a:xfrm>
          <a:prstGeom prst="rect">
            <a:avLst/>
          </a:prstGeom>
          <a:noFill/>
          <a:ln/>
        </p:spPr>
        <p:txBody>
          <a:bodyPr wrap="square" lIns="0" tIns="0" rIns="0" bIns="0" rtlCol="0" anchor="t">
            <a:normAutofit/>
          </a:bodyPr>
          <a:lstStyle/>
          <a:p>
            <a:pPr marL="0" indent="0" algn="l">
              <a:buNone/>
            </a:pPr>
            <a:r>
              <a:rPr lang="en-US" sz="1340" b="1" dirty="0">
                <a:solidFill>
                  <a:srgbClr val="161616"/>
                </a:solidFill>
                <a:latin typeface="Arial" pitchFamily="34" charset="0"/>
                <a:ea typeface="Arial" pitchFamily="34" charset="-122"/>
                <a:cs typeface="Arial" pitchFamily="34" charset="-120"/>
              </a:rPr>
              <a:t>Use Value 360 for the BVA</a:t>
            </a:r>
            <a:endParaRPr lang="en-US" sz="1340" dirty="0"/>
          </a:p>
        </p:txBody>
      </p:sp>
      <p:sp>
        <p:nvSpPr>
          <p:cNvPr id="27" name="Text 25"/>
          <p:cNvSpPr/>
          <p:nvPr/>
        </p:nvSpPr>
        <p:spPr>
          <a:xfrm>
            <a:off x="6812280" y="5358384"/>
            <a:ext cx="4389120" cy="310896"/>
          </a:xfrm>
          <a:prstGeom prst="rect">
            <a:avLst/>
          </a:prstGeom>
          <a:noFill/>
          <a:ln/>
        </p:spPr>
        <p:txBody>
          <a:bodyPr wrap="square" lIns="0" tIns="0" rIns="0" bIns="0" rtlCol="0" anchor="t">
            <a:normAutofit/>
          </a:bodyPr>
          <a:lstStyle/>
          <a:p>
            <a:pPr marL="0" indent="0" algn="l">
              <a:buNone/>
            </a:pPr>
            <a:r>
              <a:rPr lang="en-US" sz="1140" b="1" dirty="0">
                <a:solidFill>
                  <a:srgbClr val="DA1E28"/>
                </a:solidFill>
                <a:latin typeface="Arial" pitchFamily="34" charset="0"/>
                <a:ea typeface="Arial" pitchFamily="34" charset="-122"/>
                <a:cs typeface="Arial" pitchFamily="34" charset="-120"/>
              </a:rPr>
              <a:t>Do not lead with the tool. Lead with the client problem.</a:t>
            </a:r>
            <a:endParaRPr lang="en-US" sz="1140" dirty="0"/>
          </a:p>
        </p:txBody>
      </p:sp>
      <p:sp>
        <p:nvSpPr>
          <p:cNvPr id="28" name="Text 26"/>
          <p:cNvSpPr/>
          <p:nvPr/>
        </p:nvSpPr>
        <p:spPr>
          <a:xfrm>
            <a:off x="502920" y="6565392"/>
            <a:ext cx="4572000" cy="164592"/>
          </a:xfrm>
          <a:prstGeom prst="rect">
            <a:avLst/>
          </a:prstGeom>
          <a:noFill/>
          <a:ln/>
        </p:spPr>
        <p:txBody>
          <a:bodyPr wrap="square" lIns="0" tIns="0" rIns="0" bIns="0" rtlCol="0" anchor="ctr"/>
          <a:lstStyle/>
          <a:p>
            <a:pPr marL="0" indent="0">
              <a:buNone/>
            </a:pPr>
            <a:r>
              <a:rPr lang="en-US" sz="750" dirty="0">
                <a:solidFill>
                  <a:srgbClr val="8D8D8D"/>
                </a:solidFill>
                <a:latin typeface="Arial" pitchFamily="34" charset="0"/>
                <a:ea typeface="Arial" pitchFamily="34" charset="-122"/>
                <a:cs typeface="Arial" pitchFamily="34" charset="-120"/>
              </a:rPr>
              <a:t>Db2 modernization seller pitch | v4 | 1</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4048" y="256032"/>
            <a:ext cx="6583680" cy="347472"/>
          </a:xfrm>
          <a:prstGeom prst="rect">
            <a:avLst/>
          </a:prstGeom>
          <a:noFill/>
          <a:ln/>
        </p:spPr>
        <p:txBody>
          <a:bodyPr wrap="square" lIns="635" tIns="635" rIns="635" bIns="635"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161616"/>
                </a:solidFill>
                <a:effectLst/>
                <a:uLnTx/>
                <a:uFillTx/>
                <a:latin typeface="Arial" pitchFamily="34" charset="0"/>
                <a:ea typeface="Arial" pitchFamily="34" charset="-122"/>
                <a:cs typeface="Arial" pitchFamily="34" charset="-120"/>
              </a:rPr>
              <a:t>Value360 in ISC: what sellers see – Db2</a:t>
            </a:r>
            <a:endParaRPr kumimoji="0" lang="en-US" sz="250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Text 1"/>
          <p:cNvSpPr/>
          <p:nvPr/>
        </p:nvSpPr>
        <p:spPr>
          <a:xfrm>
            <a:off x="402336" y="658368"/>
            <a:ext cx="7223760" cy="219456"/>
          </a:xfrm>
          <a:prstGeom prst="rect">
            <a:avLst/>
          </a:prstGeom>
          <a:noFill/>
          <a:ln/>
        </p:spPr>
        <p:txBody>
          <a:bodyPr wrap="square" lIns="635" tIns="635" rIns="635" bIns="635"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A guided path from discovery to quantified BVA output</a:t>
            </a:r>
            <a:endParaRPr kumimoji="0" lang="en-US" sz="125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Shape 4"/>
          <p:cNvSpPr/>
          <p:nvPr/>
        </p:nvSpPr>
        <p:spPr>
          <a:xfrm>
            <a:off x="384048" y="950976"/>
            <a:ext cx="11430000" cy="18288"/>
          </a:xfrm>
          <a:prstGeom prst="rect">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Shape 5"/>
          <p:cNvSpPr/>
          <p:nvPr/>
        </p:nvSpPr>
        <p:spPr>
          <a:xfrm>
            <a:off x="502920" y="1225296"/>
            <a:ext cx="7726680" cy="4370832"/>
          </a:xfrm>
          <a:prstGeom prst="roundRect">
            <a:avLst>
              <a:gd name="adj" fmla="val 1674"/>
            </a:avLst>
          </a:prstGeom>
          <a:solidFill>
            <a:srgbClr val="F4F4F4"/>
          </a:solidFill>
          <a:ln w="1270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8" name="Image 0" descr="/mnt/data/isc_value360_seller_flow.gif"/>
          <p:cNvPicPr>
            <a:picLocks noChangeAspect="1"/>
          </p:cNvPicPr>
          <p:nvPr/>
        </p:nvPicPr>
        <p:blipFill>
          <a:blip r:embed="rId3"/>
          <a:stretch>
            <a:fillRect/>
          </a:stretch>
        </p:blipFill>
        <p:spPr>
          <a:xfrm>
            <a:off x="640080" y="1362456"/>
            <a:ext cx="7452360" cy="4187952"/>
          </a:xfrm>
          <a:prstGeom prst="rect">
            <a:avLst/>
          </a:prstGeom>
        </p:spPr>
      </p:pic>
      <p:sp>
        <p:nvSpPr>
          <p:cNvPr id="9" name="Text 6"/>
          <p:cNvSpPr/>
          <p:nvPr/>
        </p:nvSpPr>
        <p:spPr>
          <a:xfrm>
            <a:off x="685800" y="5285232"/>
            <a:ext cx="2743200" cy="182880"/>
          </a:xfrm>
          <a:prstGeom prst="rect">
            <a:avLst/>
          </a:prstGeom>
          <a:noFill/>
          <a:ln/>
        </p:spPr>
        <p:txBody>
          <a:bodyPr wrap="square" lIns="635" tIns="635" rIns="635" bIns="635"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Animated seller journey in ISC / Value360</a:t>
            </a:r>
            <a:endParaRPr kumimoji="0" lang="en-US" sz="88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Text 7"/>
          <p:cNvSpPr/>
          <p:nvPr/>
        </p:nvSpPr>
        <p:spPr>
          <a:xfrm>
            <a:off x="8549640" y="1188720"/>
            <a:ext cx="2011680" cy="256032"/>
          </a:xfrm>
          <a:prstGeom prst="rect">
            <a:avLst/>
          </a:prstGeom>
          <a:noFill/>
          <a:ln/>
        </p:spPr>
        <p:txBody>
          <a:bodyPr wrap="square" lIns="635" tIns="635" rIns="635" bIns="635"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61616"/>
                </a:solidFill>
                <a:effectLst/>
                <a:uLnTx/>
                <a:uFillTx/>
                <a:latin typeface="Arial" pitchFamily="34" charset="0"/>
                <a:ea typeface="Arial" pitchFamily="34" charset="-122"/>
                <a:cs typeface="Arial" pitchFamily="34" charset="-120"/>
              </a:rPr>
              <a:t>Seller flow</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 8"/>
          <p:cNvSpPr/>
          <p:nvPr/>
        </p:nvSpPr>
        <p:spPr>
          <a:xfrm>
            <a:off x="8558784" y="1536192"/>
            <a:ext cx="2880360" cy="438912"/>
          </a:xfrm>
          <a:prstGeom prst="rect">
            <a:avLst/>
          </a:prstGeom>
          <a:noFill/>
          <a:ln/>
        </p:spPr>
        <p:txBody>
          <a:bodyPr wrap="square" lIns="635" tIns="635" rIns="635" bIns="635"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The screens show how a seller moves from qualitative framing to quantified business outcomes.</a:t>
            </a:r>
            <a:endParaRPr kumimoji="0" lang="en-US" sz="102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Shape 9"/>
          <p:cNvSpPr/>
          <p:nvPr/>
        </p:nvSpPr>
        <p:spPr>
          <a:xfrm>
            <a:off x="8549640" y="2103120"/>
            <a:ext cx="2331720" cy="713232"/>
          </a:xfrm>
          <a:prstGeom prst="roundRect">
            <a:avLst>
              <a:gd name="adj" fmla="val 10256"/>
            </a:avLst>
          </a:prstGeom>
          <a:solidFill>
            <a:srgbClr val="EDF5FF"/>
          </a:solidFill>
          <a:ln w="1016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Shape 10"/>
          <p:cNvSpPr/>
          <p:nvPr/>
        </p:nvSpPr>
        <p:spPr>
          <a:xfrm>
            <a:off x="8659368" y="2258568"/>
            <a:ext cx="292608" cy="292608"/>
          </a:xfrm>
          <a:prstGeom prst="ellipse">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Text 11"/>
          <p:cNvSpPr/>
          <p:nvPr/>
        </p:nvSpPr>
        <p:spPr>
          <a:xfrm>
            <a:off x="8659368" y="2290572"/>
            <a:ext cx="292608" cy="128016"/>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Text 12"/>
          <p:cNvSpPr/>
          <p:nvPr/>
        </p:nvSpPr>
        <p:spPr>
          <a:xfrm>
            <a:off x="9052560" y="2212848"/>
            <a:ext cx="1627632" cy="182880"/>
          </a:xfrm>
          <a:prstGeom prst="rect">
            <a:avLst/>
          </a:prstGeom>
          <a:noFill/>
          <a:ln/>
        </p:spPr>
        <p:txBody>
          <a:bodyPr wrap="square" lIns="635" tIns="635" rIns="635" bIns="635"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Discovery</a:t>
            </a:r>
            <a:endParaRPr kumimoji="0" lang="en-US" sz="102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3"/>
          <p:cNvSpPr/>
          <p:nvPr/>
        </p:nvSpPr>
        <p:spPr>
          <a:xfrm>
            <a:off x="9052560" y="2441448"/>
            <a:ext cx="1664208" cy="256032"/>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Why Change / Why Now / Why IBM</a:t>
            </a:r>
            <a:endParaRPr kumimoji="0" lang="en-US" sz="82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4"/>
          <p:cNvSpPr/>
          <p:nvPr/>
        </p:nvSpPr>
        <p:spPr>
          <a:xfrm>
            <a:off x="8549640" y="2907792"/>
            <a:ext cx="2331720" cy="713232"/>
          </a:xfrm>
          <a:prstGeom prst="roundRect">
            <a:avLst>
              <a:gd name="adj" fmla="val 10256"/>
            </a:avLst>
          </a:prstGeom>
          <a:solidFill>
            <a:srgbClr val="E5F6F6"/>
          </a:solidFill>
          <a:ln w="1016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8" name="Shape 15"/>
          <p:cNvSpPr/>
          <p:nvPr/>
        </p:nvSpPr>
        <p:spPr>
          <a:xfrm>
            <a:off x="8659368" y="3063240"/>
            <a:ext cx="292608" cy="292608"/>
          </a:xfrm>
          <a:prstGeom prst="ellipse">
            <a:avLst/>
          </a:prstGeom>
          <a:solidFill>
            <a:srgbClr val="009D9A"/>
          </a:solidFill>
          <a:ln w="12700">
            <a:solidFill>
              <a:srgbClr val="009D9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9" name="Text 16"/>
          <p:cNvSpPr/>
          <p:nvPr/>
        </p:nvSpPr>
        <p:spPr>
          <a:xfrm>
            <a:off x="8659368" y="3095244"/>
            <a:ext cx="292608" cy="128016"/>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7"/>
          <p:cNvSpPr/>
          <p:nvPr/>
        </p:nvSpPr>
        <p:spPr>
          <a:xfrm>
            <a:off x="9052560" y="3017520"/>
            <a:ext cx="1627632" cy="182880"/>
          </a:xfrm>
          <a:prstGeom prst="rect">
            <a:avLst/>
          </a:prstGeom>
          <a:noFill/>
          <a:ln/>
        </p:spPr>
        <p:txBody>
          <a:bodyPr wrap="square" lIns="635" tIns="635" rIns="635" bIns="635"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009D9A"/>
                </a:solidFill>
                <a:effectLst/>
                <a:uLnTx/>
                <a:uFillTx/>
                <a:latin typeface="Arial" pitchFamily="34" charset="0"/>
                <a:ea typeface="Arial" pitchFamily="34" charset="-122"/>
                <a:cs typeface="Arial" pitchFamily="34" charset="-120"/>
              </a:rPr>
              <a:t>Business outcomes</a:t>
            </a:r>
            <a:endParaRPr kumimoji="0" lang="en-US" sz="102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8"/>
          <p:cNvSpPr/>
          <p:nvPr/>
        </p:nvSpPr>
        <p:spPr>
          <a:xfrm>
            <a:off x="9052560" y="3246120"/>
            <a:ext cx="1664208" cy="256032"/>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Select modernization motion and benefits</a:t>
            </a:r>
            <a:endParaRPr kumimoji="0" lang="en-US" sz="82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Shape 19"/>
          <p:cNvSpPr/>
          <p:nvPr/>
        </p:nvSpPr>
        <p:spPr>
          <a:xfrm>
            <a:off x="8549640" y="3712464"/>
            <a:ext cx="2331720" cy="713232"/>
          </a:xfrm>
          <a:prstGeom prst="roundRect">
            <a:avLst>
              <a:gd name="adj" fmla="val 10256"/>
            </a:avLst>
          </a:prstGeom>
          <a:solidFill>
            <a:srgbClr val="F6F2FF"/>
          </a:solidFill>
          <a:ln w="1016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3" name="Shape 20"/>
          <p:cNvSpPr/>
          <p:nvPr/>
        </p:nvSpPr>
        <p:spPr>
          <a:xfrm>
            <a:off x="8659368" y="3867912"/>
            <a:ext cx="292608" cy="292608"/>
          </a:xfrm>
          <a:prstGeom prst="ellipse">
            <a:avLst/>
          </a:prstGeom>
          <a:solidFill>
            <a:srgbClr val="8A3FFC"/>
          </a:solidFill>
          <a:ln w="12700">
            <a:solidFill>
              <a:srgbClr val="8A3FFC">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4" name="Text 21"/>
          <p:cNvSpPr/>
          <p:nvPr/>
        </p:nvSpPr>
        <p:spPr>
          <a:xfrm>
            <a:off x="8659368" y="3899916"/>
            <a:ext cx="292608" cy="128016"/>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Text 22"/>
          <p:cNvSpPr/>
          <p:nvPr/>
        </p:nvSpPr>
        <p:spPr>
          <a:xfrm>
            <a:off x="9052560" y="3822192"/>
            <a:ext cx="1627632" cy="182880"/>
          </a:xfrm>
          <a:prstGeom prst="rect">
            <a:avLst/>
          </a:prstGeom>
          <a:noFill/>
          <a:ln/>
        </p:spPr>
        <p:txBody>
          <a:bodyPr wrap="square" lIns="635" tIns="635" rIns="635" bIns="635"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8A3FFC"/>
                </a:solidFill>
                <a:effectLst/>
                <a:uLnTx/>
                <a:uFillTx/>
                <a:latin typeface="Arial" pitchFamily="34" charset="0"/>
                <a:ea typeface="Arial" pitchFamily="34" charset="-122"/>
                <a:cs typeface="Arial" pitchFamily="34" charset="-120"/>
              </a:rPr>
              <a:t>Assumptions</a:t>
            </a:r>
            <a:endParaRPr kumimoji="0" lang="en-US" sz="102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Text 23"/>
          <p:cNvSpPr/>
          <p:nvPr/>
        </p:nvSpPr>
        <p:spPr>
          <a:xfrm>
            <a:off x="9052560" y="4050792"/>
            <a:ext cx="1664208" cy="256032"/>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Enter client inputs and benchmarks</a:t>
            </a:r>
            <a:endParaRPr kumimoji="0" lang="en-US" sz="82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Shape 24"/>
          <p:cNvSpPr/>
          <p:nvPr/>
        </p:nvSpPr>
        <p:spPr>
          <a:xfrm>
            <a:off x="8549640" y="4517136"/>
            <a:ext cx="2331720" cy="713232"/>
          </a:xfrm>
          <a:prstGeom prst="roundRect">
            <a:avLst>
              <a:gd name="adj" fmla="val 10256"/>
            </a:avLst>
          </a:prstGeom>
          <a:solidFill>
            <a:srgbClr val="DEFBE6"/>
          </a:solidFill>
          <a:ln w="10160">
            <a:solidFill>
              <a:srgbClr val="DDE1E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8" name="Shape 25"/>
          <p:cNvSpPr/>
          <p:nvPr/>
        </p:nvSpPr>
        <p:spPr>
          <a:xfrm>
            <a:off x="8659368" y="4672584"/>
            <a:ext cx="292608" cy="292608"/>
          </a:xfrm>
          <a:prstGeom prst="ellipse">
            <a:avLst/>
          </a:prstGeom>
          <a:solidFill>
            <a:srgbClr val="198038"/>
          </a:solidFill>
          <a:ln w="12700">
            <a:solidFill>
              <a:srgbClr val="198038">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9" name="Text 26"/>
          <p:cNvSpPr/>
          <p:nvPr/>
        </p:nvSpPr>
        <p:spPr>
          <a:xfrm>
            <a:off x="8659368" y="4704588"/>
            <a:ext cx="292608" cy="128016"/>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Text 27"/>
          <p:cNvSpPr/>
          <p:nvPr/>
        </p:nvSpPr>
        <p:spPr>
          <a:xfrm>
            <a:off x="9052560" y="4626864"/>
            <a:ext cx="1627632" cy="182880"/>
          </a:xfrm>
          <a:prstGeom prst="rect">
            <a:avLst/>
          </a:prstGeom>
          <a:noFill/>
          <a:ln/>
        </p:spPr>
        <p:txBody>
          <a:bodyPr wrap="square" lIns="635" tIns="635" rIns="635" bIns="635"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20" b="1" i="0" u="none" strike="noStrike" kern="1200" cap="none" spc="0" normalizeH="0" baseline="0" noProof="0" dirty="0">
                <a:ln>
                  <a:noFill/>
                </a:ln>
                <a:solidFill>
                  <a:srgbClr val="198038"/>
                </a:solidFill>
                <a:effectLst/>
                <a:uLnTx/>
                <a:uFillTx/>
                <a:latin typeface="Arial" pitchFamily="34" charset="0"/>
                <a:ea typeface="Arial" pitchFamily="34" charset="-122"/>
                <a:cs typeface="Arial" pitchFamily="34" charset="-120"/>
              </a:rPr>
              <a:t>Outputs</a:t>
            </a:r>
            <a:endParaRPr kumimoji="0" lang="en-US" sz="102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Text 28"/>
          <p:cNvSpPr/>
          <p:nvPr/>
        </p:nvSpPr>
        <p:spPr>
          <a:xfrm>
            <a:off x="9052560" y="4855464"/>
            <a:ext cx="1664208" cy="256032"/>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Show benefits and cost of inaction</a:t>
            </a:r>
            <a:endParaRPr kumimoji="0" lang="en-US" sz="820" b="0" i="0" u="none" strike="noStrike" kern="1200" cap="none" spc="0" normalizeH="0" baseline="0" noProof="0" dirty="0">
              <a:ln>
                <a:noFill/>
              </a:ln>
              <a:solidFill>
                <a:prstClr val="black"/>
              </a:solidFill>
              <a:effectLst/>
              <a:uLnTx/>
              <a:uFillTx/>
              <a:latin typeface="Arial"/>
              <a:ea typeface="+mn-ea"/>
              <a:cs typeface="+mn-cs"/>
            </a:endParaRPr>
          </a:p>
        </p:txBody>
      </p:sp>
      <p:sp>
        <p:nvSpPr>
          <p:cNvPr id="32" name="Shape 29"/>
          <p:cNvSpPr/>
          <p:nvPr/>
        </p:nvSpPr>
        <p:spPr>
          <a:xfrm>
            <a:off x="502920" y="5870448"/>
            <a:ext cx="11155680" cy="603504"/>
          </a:xfrm>
          <a:prstGeom prst="roundRect">
            <a:avLst>
              <a:gd name="adj" fmla="val 12121"/>
            </a:avLst>
          </a:prstGeom>
          <a:solidFill>
            <a:srgbClr val="F4F8FF"/>
          </a:solidFill>
          <a:ln w="12700">
            <a:solidFill>
              <a:srgbClr val="D0E2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3" name="Text 30"/>
          <p:cNvSpPr/>
          <p:nvPr/>
        </p:nvSpPr>
        <p:spPr>
          <a:xfrm>
            <a:off x="713232" y="6007608"/>
            <a:ext cx="1188720" cy="173736"/>
          </a:xfrm>
          <a:prstGeom prst="rect">
            <a:avLst/>
          </a:prstGeom>
          <a:noFill/>
          <a:ln/>
        </p:spPr>
        <p:txBody>
          <a:bodyPr wrap="square" lIns="635" tIns="635" rIns="635" bIns="635"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Seller access path</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34" name="Text 31"/>
          <p:cNvSpPr/>
          <p:nvPr/>
        </p:nvSpPr>
        <p:spPr>
          <a:xfrm>
            <a:off x="2011680" y="5998464"/>
            <a:ext cx="7223760" cy="182880"/>
          </a:xfrm>
          <a:prstGeom prst="rect">
            <a:avLst/>
          </a:prstGeom>
          <a:noFill/>
          <a:ln/>
        </p:spPr>
        <p:txBody>
          <a:bodyPr wrap="square" lIns="635" tIns="635" rIns="635" bIns="635"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ISC → Business Cases → Product modernization BVA template → Discovery → Business Outcomes → Outputs</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35" name="Text 32"/>
          <p:cNvSpPr/>
          <p:nvPr/>
        </p:nvSpPr>
        <p:spPr>
          <a:xfrm>
            <a:off x="9646920" y="5952744"/>
            <a:ext cx="1508760" cy="310896"/>
          </a:xfrm>
          <a:prstGeom prst="rect">
            <a:avLst/>
          </a:prstGeom>
          <a:noFill/>
          <a:ln/>
        </p:spPr>
        <p:txBody>
          <a:bodyPr wrap="square" lIns="635" tIns="635" rIns="635" bIns="635" rtlCol="0" anchor="t">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2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Client value is finalized after inputs are validated.</a:t>
            </a:r>
            <a:endParaRPr kumimoji="0" lang="en-US" sz="82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1853</Words>
  <Application>Microsoft Macintosh PowerPoint</Application>
  <PresentationFormat>Widescreen</PresentationFormat>
  <Paragraphs>223</Paragraphs>
  <Slides>7</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Db2 BVA Seller Pitch v4</dc:title>
  <dc:subject>Db2 BVA Seller Pitch v4</dc:subject>
  <dc:creator>OpenAI</dc:creator>
  <cp:lastModifiedBy>Monika Aggarwal</cp:lastModifiedBy>
  <cp:revision>159</cp:revision>
  <dcterms:created xsi:type="dcterms:W3CDTF">2026-07-16T18:44:55Z</dcterms:created>
  <dcterms:modified xsi:type="dcterms:W3CDTF">2026-08-13T20:40:24Z</dcterms:modified>
</cp:coreProperties>
</file>