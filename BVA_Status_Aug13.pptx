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9"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35"/>
    <p:restoredTop sz="91986"/>
  </p:normalViewPr>
  <p:slideViewPr>
    <p:cSldViewPr snapToGrid="0" snapToObjects="1">
      <p:cViewPr varScale="1">
        <p:scale>
          <a:sx n="116" d="100"/>
          <a:sy n="116" d="100"/>
        </p:scale>
        <p:origin x="111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692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answer Rolando’s question directly. State what is ready, what is in progress, and what is planned. Be careful not to overstate readiness. Db2 is the first completed BVA and can be shown in Value 360. ODM has the CS to Vitality motion validated. Cognos and App Runtime are active but still require PM validation before broad field use. DataStage and Planning Analytics are planned next.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28600"/>
            <a:ext cx="30175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Core-to-Mod BVA status</a:t>
            </a:r>
            <a:endParaRPr kumimoji="0" lang="en-US" sz="750" b="0" i="0" u="none" strike="noStrike" kern="1200" cap="none" spc="0" normalizeH="0" baseline="0" noProof="0" dirty="0">
              <a:ln>
                <a:noFill/>
              </a:ln>
              <a:solidFill>
                <a:prstClr val="black"/>
              </a:solidFill>
              <a:effectLst/>
              <a:uLnTx/>
              <a:uFillTx/>
              <a:latin typeface="Arial"/>
              <a:ea typeface="+mn-ea"/>
              <a:cs typeface="+mn-cs"/>
            </a:endParaRPr>
          </a:p>
        </p:txBody>
      </p:sp>
      <p:sp>
        <p:nvSpPr>
          <p:cNvPr id="3" name="Text 1"/>
          <p:cNvSpPr/>
          <p:nvPr/>
        </p:nvSpPr>
        <p:spPr>
          <a:xfrm>
            <a:off x="502920" y="475488"/>
            <a:ext cx="8138160" cy="384048"/>
          </a:xfrm>
          <a:prstGeom prst="rect">
            <a:avLst/>
          </a:prstGeom>
          <a:noFill/>
          <a:ln/>
        </p:spPr>
        <p:txBody>
          <a:bodyPr wrap="square" lIns="0" tIns="0" rIns="0" bIns="0" rtlCol="0" anchor="ctr">
            <a:normAutofit/>
          </a:bodyPr>
          <a:lstStyle/>
          <a:p>
            <a:pPr>
              <a:defRPr/>
            </a:pPr>
            <a:r>
              <a:rPr lang="en-US" sz="2500" b="1" dirty="0">
                <a:solidFill>
                  <a:srgbClr val="161616"/>
                </a:solidFill>
                <a:latin typeface="Arial"/>
                <a:ea typeface="Arial" pitchFamily="34" charset="-122"/>
                <a:cs typeface="Arial"/>
              </a:rPr>
              <a:t>Core to Modernize</a:t>
            </a:r>
            <a:r>
              <a:rPr kumimoji="0" lang="en-US" sz="2500" b="1" i="0" u="none" strike="noStrike" kern="1200" cap="none" spc="0" normalizeH="0" baseline="0" noProof="0" dirty="0">
                <a:ln>
                  <a:noFill/>
                </a:ln>
                <a:solidFill>
                  <a:srgbClr val="161616"/>
                </a:solidFill>
                <a:effectLst/>
                <a:uLnTx/>
                <a:uFillTx/>
                <a:latin typeface="Arial"/>
                <a:ea typeface="Arial" pitchFamily="34" charset="-122"/>
                <a:cs typeface="Arial"/>
              </a:rPr>
              <a:t> BVAs: </a:t>
            </a:r>
            <a:r>
              <a:rPr lang="en-US" sz="2500" b="1" dirty="0">
                <a:solidFill>
                  <a:srgbClr val="161616"/>
                </a:solidFill>
                <a:latin typeface="Arial"/>
                <a:ea typeface="Arial" pitchFamily="34" charset="-122"/>
                <a:cs typeface="Arial"/>
              </a:rPr>
              <a:t>Readiness</a:t>
            </a:r>
            <a:r>
              <a:rPr kumimoji="0" lang="en-US" sz="2500" b="1" i="0" u="none" strike="noStrike" kern="1200" cap="none" spc="0" normalizeH="0" baseline="0" noProof="0" dirty="0">
                <a:ln>
                  <a:noFill/>
                </a:ln>
                <a:solidFill>
                  <a:srgbClr val="161616"/>
                </a:solidFill>
                <a:effectLst/>
                <a:uLnTx/>
                <a:uFillTx/>
                <a:latin typeface="Arial"/>
                <a:ea typeface="Arial" pitchFamily="34" charset="-122"/>
                <a:cs typeface="Arial"/>
              </a:rPr>
              <a:t> </a:t>
            </a:r>
            <a:r>
              <a:rPr lang="en-US" sz="2500" b="1" dirty="0">
                <a:solidFill>
                  <a:srgbClr val="161616"/>
                </a:solidFill>
                <a:latin typeface="Arial"/>
                <a:ea typeface="Arial" pitchFamily="34" charset="-122"/>
                <a:cs typeface="Arial"/>
              </a:rPr>
              <a:t>Status</a:t>
            </a:r>
            <a:endParaRPr kumimoji="0" lang="en-US" sz="2500" b="0" i="0" u="none" strike="noStrike" kern="1200" cap="none" spc="0" normalizeH="0" baseline="0" noProof="0" dirty="0">
              <a:ln>
                <a:noFill/>
              </a:ln>
              <a:solidFill>
                <a:prstClr val="black"/>
              </a:solidFill>
              <a:effectLst/>
              <a:uLnTx/>
              <a:uFillTx/>
              <a:latin typeface="Arial"/>
              <a:cs typeface="Arial"/>
            </a:endParaRPr>
          </a:p>
        </p:txBody>
      </p:sp>
      <p:sp>
        <p:nvSpPr>
          <p:cNvPr id="4" name="Text 2"/>
          <p:cNvSpPr/>
          <p:nvPr/>
        </p:nvSpPr>
        <p:spPr>
          <a:xfrm>
            <a:off x="521208" y="896112"/>
            <a:ext cx="106984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25252"/>
                </a:solidFill>
                <a:effectLst/>
                <a:uLnTx/>
                <a:uFillTx/>
                <a:latin typeface="Arial" pitchFamily="34" charset="0"/>
                <a:ea typeface="Arial" pitchFamily="34" charset="-122"/>
                <a:cs typeface="Arial" pitchFamily="34" charset="-120"/>
              </a:rPr>
              <a:t>BVA assets give Sellers a reusable path to quantify modernization value with field-ready assumptions.</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Shape 3"/>
          <p:cNvSpPr/>
          <p:nvPr/>
        </p:nvSpPr>
        <p:spPr>
          <a:xfrm>
            <a:off x="502920" y="1207008"/>
            <a:ext cx="11201400" cy="22860"/>
          </a:xfrm>
          <a:prstGeom prst="rect">
            <a:avLst/>
          </a:prstGeom>
          <a:solidFill>
            <a:srgbClr val="0F62FE"/>
          </a:solidFill>
          <a:ln w="12700">
            <a:solidFill>
              <a:srgbClr val="0F62FE">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8" name="Shape 16"/>
          <p:cNvSpPr/>
          <p:nvPr/>
        </p:nvSpPr>
        <p:spPr>
          <a:xfrm>
            <a:off x="502920" y="1887728"/>
            <a:ext cx="11201400" cy="384048"/>
          </a:xfrm>
          <a:prstGeom prst="rect">
            <a:avLst/>
          </a:prstGeom>
          <a:solidFill>
            <a:srgbClr val="262626"/>
          </a:solidFill>
          <a:ln w="12700">
            <a:solidFill>
              <a:srgbClr val="262626">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9" name="Text 17"/>
          <p:cNvSpPr/>
          <p:nvPr/>
        </p:nvSpPr>
        <p:spPr>
          <a:xfrm>
            <a:off x="557784" y="1988312"/>
            <a:ext cx="164592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Product</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8"/>
          <p:cNvSpPr/>
          <p:nvPr/>
        </p:nvSpPr>
        <p:spPr>
          <a:xfrm>
            <a:off x="2432304" y="1988312"/>
            <a:ext cx="160020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BVA status</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9"/>
          <p:cNvSpPr/>
          <p:nvPr/>
        </p:nvSpPr>
        <p:spPr>
          <a:xfrm>
            <a:off x="4261104" y="1988312"/>
            <a:ext cx="237744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Validation / dependency</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Text 20"/>
          <p:cNvSpPr/>
          <p:nvPr/>
        </p:nvSpPr>
        <p:spPr>
          <a:xfrm>
            <a:off x="6912864" y="1988312"/>
            <a:ext cx="196596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Ready for use</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21"/>
          <p:cNvSpPr/>
          <p:nvPr/>
        </p:nvSpPr>
        <p:spPr>
          <a:xfrm>
            <a:off x="9198864" y="1988312"/>
            <a:ext cx="2331720" cy="14630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IBMC access</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Shape 22"/>
          <p:cNvSpPr/>
          <p:nvPr/>
        </p:nvSpPr>
        <p:spPr>
          <a:xfrm>
            <a:off x="502920" y="2271776"/>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Text 23"/>
          <p:cNvSpPr/>
          <p:nvPr/>
        </p:nvSpPr>
        <p:spPr>
          <a:xfrm>
            <a:off x="557784" y="2381504"/>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Db2</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Text 24"/>
          <p:cNvSpPr/>
          <p:nvPr/>
        </p:nvSpPr>
        <p:spPr>
          <a:xfrm>
            <a:off x="2432304" y="2399792"/>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5"/>
          <p:cNvSpPr/>
          <p:nvPr/>
        </p:nvSpPr>
        <p:spPr>
          <a:xfrm>
            <a:off x="4261104" y="2354072"/>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CSE draft complete; PM capability input captured; ready to demonstrate in Value 360.</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6"/>
          <p:cNvSpPr/>
          <p:nvPr/>
        </p:nvSpPr>
        <p:spPr>
          <a:xfrm>
            <a:off x="6912864" y="2354072"/>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Use now for guided seller / IBMC conversations.</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7"/>
          <p:cNvSpPr/>
          <p:nvPr/>
        </p:nvSpPr>
        <p:spPr>
          <a:xfrm>
            <a:off x="9198864" y="2354072"/>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Value 360 template once published; interim via C2M / BVE team.</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Shape 28"/>
          <p:cNvSpPr/>
          <p:nvPr/>
        </p:nvSpPr>
        <p:spPr>
          <a:xfrm>
            <a:off x="502920" y="2747264"/>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1" name="Text 29"/>
          <p:cNvSpPr/>
          <p:nvPr/>
        </p:nvSpPr>
        <p:spPr>
          <a:xfrm>
            <a:off x="557784" y="2856992"/>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ODM</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Text 31"/>
          <p:cNvSpPr/>
          <p:nvPr/>
        </p:nvSpPr>
        <p:spPr>
          <a:xfrm>
            <a:off x="4261104" y="2829560"/>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CS→Vitality validated. Containerization and SaaS require Antony / Bacary input.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4" name="Text 32"/>
          <p:cNvSpPr/>
          <p:nvPr/>
        </p:nvSpPr>
        <p:spPr>
          <a:xfrm>
            <a:off x="6912864" y="2829560"/>
            <a:ext cx="1965960" cy="301752"/>
          </a:xfrm>
          <a:prstGeom prst="rect">
            <a:avLst/>
          </a:prstGeom>
          <a:noFill/>
          <a:ln/>
        </p:spPr>
        <p:txBody>
          <a:bodyPr wrap="square" lIns="127" tIns="127" rIns="127" bIns="127" rtlCol="0" anchor="t">
            <a:normAutofit/>
          </a:bodyPr>
          <a:lstStyle/>
          <a:p>
            <a:pPr lvl="0">
              <a:defRPr/>
            </a:pPr>
            <a:r>
              <a:rPr lang="en-US" sz="780" dirty="0">
                <a:solidFill>
                  <a:srgbClr val="262626"/>
                </a:solidFill>
                <a:latin typeface="Arial" pitchFamily="34" charset="0"/>
                <a:ea typeface="Arial" pitchFamily="34" charset="-122"/>
                <a:cs typeface="Arial" pitchFamily="34" charset="-120"/>
              </a:rPr>
              <a:t>Use now for guided seller / IBMC conversations.</a:t>
            </a:r>
            <a:endParaRPr lang="en-US" sz="780" dirty="0">
              <a:solidFill>
                <a:prstClr val="black"/>
              </a:solidFill>
            </a:endParaRPr>
          </a:p>
        </p:txBody>
      </p:sp>
      <p:sp>
        <p:nvSpPr>
          <p:cNvPr id="35" name="Text 33"/>
          <p:cNvSpPr/>
          <p:nvPr/>
        </p:nvSpPr>
        <p:spPr>
          <a:xfrm>
            <a:off x="9198864" y="2829560"/>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Value 360 after motion packaging; interim via C2M / BVE team.</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Shape 34"/>
          <p:cNvSpPr/>
          <p:nvPr/>
        </p:nvSpPr>
        <p:spPr>
          <a:xfrm>
            <a:off x="502920" y="3222752"/>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7" name="Text 35"/>
          <p:cNvSpPr/>
          <p:nvPr/>
        </p:nvSpPr>
        <p:spPr>
          <a:xfrm>
            <a:off x="557784" y="3332480"/>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Cognos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39" name="Text 37"/>
          <p:cNvSpPr/>
          <p:nvPr/>
        </p:nvSpPr>
        <p:spPr>
          <a:xfrm>
            <a:off x="4261104" y="3305048"/>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Draft started in March. PM review still needed to close capability-led value.</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0" name="Text 38"/>
          <p:cNvSpPr/>
          <p:nvPr/>
        </p:nvSpPr>
        <p:spPr>
          <a:xfrm>
            <a:off x="6912864" y="3305048"/>
            <a:ext cx="1965960" cy="301752"/>
          </a:xfrm>
          <a:prstGeom prst="rect">
            <a:avLst/>
          </a:prstGeom>
          <a:noFill/>
          <a:ln/>
        </p:spPr>
        <p:txBody>
          <a:bodyPr wrap="square" lIns="127" tIns="127" rIns="127" bIns="127" rtlCol="0" anchor="t">
            <a:normAutofit fontScale="92500"/>
          </a:bodyPr>
          <a:lstStyle/>
          <a:p>
            <a:r>
              <a:rPr lang="en-US" sz="780" dirty="0">
                <a:solidFill>
                  <a:srgbClr val="262626"/>
                </a:solidFill>
                <a:latin typeface="Arial" pitchFamily="34" charset="0"/>
                <a:ea typeface="Arial" pitchFamily="34" charset="-122"/>
                <a:cs typeface="Arial" pitchFamily="34" charset="-120"/>
              </a:rPr>
              <a:t>Use now for guided seller / IBMC conversations.</a:t>
            </a:r>
            <a:endParaRPr lang="en-US" sz="780"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1" name="Text 39"/>
          <p:cNvSpPr/>
          <p:nvPr/>
        </p:nvSpPr>
        <p:spPr>
          <a:xfrm>
            <a:off x="9198864" y="3305048"/>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Pending PM confirmation and Value 360 packaging.</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42" name="Shape 40"/>
          <p:cNvSpPr/>
          <p:nvPr/>
        </p:nvSpPr>
        <p:spPr>
          <a:xfrm>
            <a:off x="502920" y="3698240"/>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a:solidFill>
                <a:srgbClr val="262626"/>
              </a:solidFill>
              <a:latin typeface="Arial" pitchFamily="34" charset="0"/>
              <a:cs typeface="Arial" pitchFamily="34" charset="-120"/>
            </a:endParaRPr>
          </a:p>
        </p:txBody>
      </p:sp>
      <p:sp>
        <p:nvSpPr>
          <p:cNvPr id="43" name="Text 41"/>
          <p:cNvSpPr/>
          <p:nvPr/>
        </p:nvSpPr>
        <p:spPr>
          <a:xfrm>
            <a:off x="557784" y="3807968"/>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WAS / Liberty modernization</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45" name="Text 43"/>
          <p:cNvSpPr/>
          <p:nvPr/>
        </p:nvSpPr>
        <p:spPr>
          <a:xfrm>
            <a:off x="4261104" y="3780536"/>
            <a:ext cx="2377440" cy="301752"/>
          </a:xfrm>
          <a:prstGeom prst="rect">
            <a:avLst/>
          </a:prstGeom>
          <a:noFill/>
          <a:ln/>
        </p:spPr>
        <p:txBody>
          <a:bodyPr wrap="square" lIns="127" tIns="127" rIns="127" bIns="127" rtlCol="0" anchor="t">
            <a:normAutofit fontScale="92500" lnSpcReduction="10000"/>
          </a:bodyPr>
          <a:lstStyle/>
          <a:p>
            <a:pPr>
              <a:defRPr/>
            </a:pPr>
            <a:r>
              <a:rPr kumimoji="0" lang="en-US" sz="750" b="0" i="0" u="none" strike="noStrike" kern="1200" cap="none" spc="0" normalizeH="0" baseline="0" noProof="0" dirty="0">
                <a:ln>
                  <a:noFill/>
                </a:ln>
                <a:solidFill>
                  <a:srgbClr val="262626"/>
                </a:solidFill>
                <a:effectLst/>
                <a:uLnTx/>
                <a:uFillTx/>
                <a:latin typeface="Arial"/>
                <a:ea typeface="Arial" pitchFamily="34" charset="-122"/>
                <a:cs typeface="Arial"/>
              </a:rPr>
              <a:t>Scope is </a:t>
            </a:r>
            <a:r>
              <a:rPr lang="en-US" sz="750" dirty="0">
                <a:solidFill>
                  <a:srgbClr val="262626"/>
                </a:solidFill>
                <a:latin typeface="Arial"/>
                <a:ea typeface="Arial" pitchFamily="34" charset="-122"/>
                <a:cs typeface="Arial"/>
              </a:rPr>
              <a:t>WAS to Liberty modernization, created by Doug. Enhancing with containerization and vitality C2M motions .</a:t>
            </a:r>
            <a:r>
              <a:rPr kumimoji="0" lang="en-US" sz="750" b="0" i="0" u="none" strike="noStrike" kern="1200" cap="none" spc="0" normalizeH="0" baseline="0" noProof="0" dirty="0">
                <a:ln>
                  <a:noFill/>
                </a:ln>
                <a:solidFill>
                  <a:srgbClr val="262626"/>
                </a:solidFill>
                <a:effectLst/>
                <a:uLnTx/>
                <a:uFillTx/>
                <a:latin typeface="Arial"/>
                <a:ea typeface="Arial" pitchFamily="34" charset="-122"/>
                <a:cs typeface="Arial"/>
              </a:rPr>
              <a:t> PM engagement with Brian, Craig, Cassi and Kaushik.</a:t>
            </a:r>
            <a:endParaRPr kumimoji="0" lang="en-US" sz="750" b="0" i="0" u="none" strike="noStrike" kern="1200" cap="none" spc="0" normalizeH="0" baseline="0" noProof="0" dirty="0">
              <a:ln>
                <a:noFill/>
              </a:ln>
              <a:solidFill>
                <a:prstClr val="black"/>
              </a:solidFill>
              <a:effectLst/>
              <a:uLnTx/>
              <a:uFillTx/>
              <a:latin typeface="Arial"/>
              <a:cs typeface="Arial"/>
            </a:endParaRPr>
          </a:p>
        </p:txBody>
      </p:sp>
      <p:sp>
        <p:nvSpPr>
          <p:cNvPr id="46" name="Text 44"/>
          <p:cNvSpPr/>
          <p:nvPr/>
        </p:nvSpPr>
        <p:spPr>
          <a:xfrm>
            <a:off x="6912864" y="3780536"/>
            <a:ext cx="1965960" cy="301752"/>
          </a:xfrm>
          <a:prstGeom prst="rect">
            <a:avLst/>
          </a:prstGeom>
          <a:noFill/>
          <a:ln/>
        </p:spPr>
        <p:txBody>
          <a:bodyPr wrap="square" lIns="127" tIns="127" rIns="127" bIns="127" rtlCol="0" anchor="t">
            <a:normAutofit/>
          </a:bodyPr>
          <a:lstStyle/>
          <a:p>
            <a:pPr>
              <a:defRPr/>
            </a:pPr>
            <a:r>
              <a:rPr lang="en-US" sz="700" dirty="0">
                <a:solidFill>
                  <a:srgbClr val="262626"/>
                </a:solidFill>
                <a:latin typeface="Arial"/>
                <a:ea typeface="Arial" pitchFamily="34" charset="-122"/>
                <a:cs typeface="Arial"/>
              </a:rPr>
              <a:t>Use now for guided seller / IBMC conversations</a:t>
            </a:r>
            <a:r>
              <a:rPr kumimoji="0" lang="en-US" sz="700" b="0" i="0" u="none" strike="noStrike" kern="1200" cap="none" spc="0" normalizeH="0" baseline="0" noProof="0" dirty="0">
                <a:ln>
                  <a:noFill/>
                </a:ln>
                <a:solidFill>
                  <a:srgbClr val="262626"/>
                </a:solidFill>
                <a:effectLst/>
                <a:uLnTx/>
                <a:uFillTx/>
                <a:latin typeface="Arial"/>
                <a:ea typeface="Arial" pitchFamily="34" charset="-122"/>
                <a:cs typeface="Arial"/>
              </a:rPr>
              <a:t>.</a:t>
            </a:r>
            <a:endParaRPr lang="en-US" sz="700" dirty="0">
              <a:latin typeface="Arial"/>
              <a:cs typeface="Arial"/>
            </a:endParaRPr>
          </a:p>
        </p:txBody>
      </p:sp>
      <p:sp>
        <p:nvSpPr>
          <p:cNvPr id="47" name="Text 45"/>
          <p:cNvSpPr/>
          <p:nvPr/>
        </p:nvSpPr>
        <p:spPr>
          <a:xfrm>
            <a:off x="9198864" y="3780536"/>
            <a:ext cx="2331720" cy="301752"/>
          </a:xfrm>
          <a:prstGeom prst="rect">
            <a:avLst/>
          </a:prstGeom>
          <a:noFill/>
          <a:ln/>
        </p:spPr>
        <p:txBody>
          <a:bodyPr wrap="square" lIns="127" tIns="127" rIns="127" bIns="127" rtlCol="0" anchor="t">
            <a:normAutofit/>
          </a:bodyPr>
          <a:lstStyle/>
          <a:p>
            <a:pPr>
              <a:defRPr/>
            </a:pPr>
            <a:r>
              <a:rPr lang="en-US" sz="700" dirty="0">
                <a:solidFill>
                  <a:srgbClr val="262626"/>
                </a:solidFill>
                <a:latin typeface="Arial"/>
                <a:cs typeface="Arial"/>
              </a:rPr>
              <a:t>Value 360 </a:t>
            </a:r>
            <a:endParaRPr lang="en-US" sz="700" dirty="0">
              <a:ea typeface="+mn-ea"/>
              <a:cs typeface="+mn-cs"/>
            </a:endParaRPr>
          </a:p>
        </p:txBody>
      </p:sp>
      <p:sp>
        <p:nvSpPr>
          <p:cNvPr id="48" name="Shape 46"/>
          <p:cNvSpPr/>
          <p:nvPr/>
        </p:nvSpPr>
        <p:spPr>
          <a:xfrm>
            <a:off x="502920" y="4173728"/>
            <a:ext cx="11201400" cy="475488"/>
          </a:xfrm>
          <a:prstGeom prst="rect">
            <a:avLst/>
          </a:prstGeom>
          <a:solidFill>
            <a:srgbClr val="FFFFFF"/>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9" name="Text 47"/>
          <p:cNvSpPr/>
          <p:nvPr/>
        </p:nvSpPr>
        <p:spPr>
          <a:xfrm>
            <a:off x="557784" y="4283456"/>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FileNet (Content Cortex)</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1" name="Text 49"/>
          <p:cNvSpPr/>
          <p:nvPr/>
        </p:nvSpPr>
        <p:spPr>
          <a:xfrm>
            <a:off x="4261104" y="4256024"/>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Next product after Db2 </a:t>
            </a:r>
            <a:r>
              <a:rPr kumimoji="0" lang="en-US" sz="780" b="0" i="0" u="none" strike="noStrike" kern="1200" cap="none" spc="0" normalizeH="0" baseline="0" noProof="0" dirty="0" err="1">
                <a:ln>
                  <a:noFill/>
                </a:ln>
                <a:solidFill>
                  <a:srgbClr val="262626"/>
                </a:solidFill>
                <a:effectLst/>
                <a:uLnTx/>
                <a:uFillTx/>
                <a:latin typeface="Arial" pitchFamily="34" charset="0"/>
                <a:ea typeface="Arial" pitchFamily="34" charset="-122"/>
                <a:cs typeface="Arial" pitchFamily="34" charset="-120"/>
              </a:rPr>
              <a:t>sequencin</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2" name="Text 50"/>
          <p:cNvSpPr/>
          <p:nvPr/>
        </p:nvSpPr>
        <p:spPr>
          <a:xfrm>
            <a:off x="6912864" y="4256024"/>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Not ready yet.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3" name="Text 51"/>
          <p:cNvSpPr/>
          <p:nvPr/>
        </p:nvSpPr>
        <p:spPr>
          <a:xfrm>
            <a:off x="9198864" y="4256024"/>
            <a:ext cx="2331720" cy="301752"/>
          </a:xfrm>
          <a:prstGeom prst="rect">
            <a:avLst/>
          </a:prstGeom>
          <a:noFill/>
          <a:ln/>
        </p:spPr>
        <p:txBody>
          <a:bodyPr wrap="square" lIns="127" tIns="127" rIns="127" bIns="127" rtlCol="0" anchor="t">
            <a:normAutofit/>
          </a:bodyPr>
          <a:lstStyle/>
          <a:p>
            <a:r>
              <a:rPr lang="en-US" sz="780" dirty="0">
                <a:solidFill>
                  <a:srgbClr val="262626"/>
                </a:solidFill>
                <a:latin typeface="Arial" pitchFamily="34" charset="0"/>
                <a:ea typeface="Arial" pitchFamily="34" charset="-122"/>
                <a:cs typeface="Arial" pitchFamily="34" charset="-120"/>
              </a:rPr>
              <a:t>Pending BVA build and PM validation.</a:t>
            </a:r>
            <a:endParaRPr lang="en-US" sz="780"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Shape 52"/>
          <p:cNvSpPr/>
          <p:nvPr/>
        </p:nvSpPr>
        <p:spPr>
          <a:xfrm>
            <a:off x="502920" y="4649216"/>
            <a:ext cx="11201400" cy="475488"/>
          </a:xfrm>
          <a:prstGeom prst="rect">
            <a:avLst/>
          </a:prstGeom>
          <a:solidFill>
            <a:srgbClr val="FAFAFA"/>
          </a:solidFill>
          <a:ln w="6350">
            <a:solidFill>
              <a:srgbClr val="E0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5" name="Text 53"/>
          <p:cNvSpPr/>
          <p:nvPr/>
        </p:nvSpPr>
        <p:spPr>
          <a:xfrm>
            <a:off x="557784" y="4758944"/>
            <a:ext cx="1645920" cy="20116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Planning Analytics</a:t>
            </a:r>
            <a:endParaRPr kumimoji="0" lang="en-US" sz="950" b="0" i="0" u="none" strike="noStrike" kern="1200" cap="none" spc="0" normalizeH="0" baseline="0" noProof="0" dirty="0">
              <a:ln>
                <a:noFill/>
              </a:ln>
              <a:solidFill>
                <a:prstClr val="black"/>
              </a:solidFill>
              <a:effectLst/>
              <a:uLnTx/>
              <a:uFillTx/>
              <a:latin typeface="Arial"/>
              <a:ea typeface="+mn-ea"/>
              <a:cs typeface="+mn-cs"/>
            </a:endParaRPr>
          </a:p>
        </p:txBody>
      </p:sp>
      <p:sp>
        <p:nvSpPr>
          <p:cNvPr id="57" name="Text 55"/>
          <p:cNvSpPr/>
          <p:nvPr/>
        </p:nvSpPr>
        <p:spPr>
          <a:xfrm>
            <a:off x="4261104" y="4731512"/>
            <a:ext cx="237744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Sequenced after DataStage. PM team currently busy with demos and pilots.</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8" name="Text 56"/>
          <p:cNvSpPr/>
          <p:nvPr/>
        </p:nvSpPr>
        <p:spPr>
          <a:xfrm>
            <a:off x="6912864" y="4731512"/>
            <a:ext cx="196596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Not ready yet.</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59" name="Text 57"/>
          <p:cNvSpPr/>
          <p:nvPr/>
        </p:nvSpPr>
        <p:spPr>
          <a:xfrm>
            <a:off x="9198864" y="4731512"/>
            <a:ext cx="2331720" cy="301752"/>
          </a:xfrm>
          <a:prstGeom prst="rect">
            <a:avLst/>
          </a:prstGeom>
          <a:noFill/>
          <a:ln/>
        </p:spPr>
        <p:txBody>
          <a:bodyPr wrap="square" lIns="127" tIns="127" rIns="127" bIns="127"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62626"/>
                </a:solidFill>
                <a:effectLst/>
                <a:uLnTx/>
                <a:uFillTx/>
                <a:latin typeface="Arial" pitchFamily="34" charset="0"/>
                <a:ea typeface="Arial" pitchFamily="34" charset="-122"/>
                <a:cs typeface="Arial" pitchFamily="34" charset="-120"/>
              </a:rPr>
              <a:t>PM collaboration.</a:t>
            </a:r>
            <a:endParaRPr kumimoji="0" lang="en-US" sz="780" b="0" i="0" u="none" strike="noStrike" kern="1200" cap="none" spc="0" normalizeH="0" baseline="0" noProof="0" dirty="0">
              <a:ln>
                <a:noFill/>
              </a:ln>
              <a:solidFill>
                <a:prstClr val="black"/>
              </a:solidFill>
              <a:effectLst/>
              <a:uLnTx/>
              <a:uFillTx/>
              <a:latin typeface="Arial"/>
              <a:ea typeface="+mn-ea"/>
              <a:cs typeface="+mn-cs"/>
            </a:endParaRPr>
          </a:p>
        </p:txBody>
      </p:sp>
      <p:sp>
        <p:nvSpPr>
          <p:cNvPr id="61" name="Text 24">
            <a:extLst>
              <a:ext uri="{FF2B5EF4-FFF2-40B4-BE49-F238E27FC236}">
                <a16:creationId xmlns:a16="http://schemas.microsoft.com/office/drawing/2014/main" id="{FDA1324E-C882-D180-36C6-77CD30616F43}"/>
              </a:ext>
            </a:extLst>
          </p:cNvPr>
          <p:cNvSpPr/>
          <p:nvPr/>
        </p:nvSpPr>
        <p:spPr>
          <a:xfrm>
            <a:off x="2432304" y="2902712"/>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63" name="Text 42">
            <a:extLst>
              <a:ext uri="{FF2B5EF4-FFF2-40B4-BE49-F238E27FC236}">
                <a16:creationId xmlns:a16="http://schemas.microsoft.com/office/drawing/2014/main" id="{F241CFE5-DF08-0E6A-1EB9-C91E28B1E650}"/>
              </a:ext>
            </a:extLst>
          </p:cNvPr>
          <p:cNvSpPr/>
          <p:nvPr/>
        </p:nvSpPr>
        <p:spPr>
          <a:xfrm>
            <a:off x="2432304" y="4288028"/>
            <a:ext cx="960120" cy="237744"/>
          </a:xfrm>
          <a:prstGeom prst="rect">
            <a:avLst/>
          </a:prstGeom>
          <a:solidFill>
            <a:srgbClr val="FFF1E5"/>
          </a:solidFill>
          <a:ln>
            <a:solidFill>
              <a:srgbClr val="FFF1E5">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In progress</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64" name="Text 42">
            <a:extLst>
              <a:ext uri="{FF2B5EF4-FFF2-40B4-BE49-F238E27FC236}">
                <a16:creationId xmlns:a16="http://schemas.microsoft.com/office/drawing/2014/main" id="{743E6CF1-4064-1B9C-BDC4-AF06D65F4072}"/>
              </a:ext>
            </a:extLst>
          </p:cNvPr>
          <p:cNvSpPr/>
          <p:nvPr/>
        </p:nvSpPr>
        <p:spPr>
          <a:xfrm>
            <a:off x="2409444" y="4774418"/>
            <a:ext cx="960120" cy="237744"/>
          </a:xfrm>
          <a:prstGeom prst="rect">
            <a:avLst/>
          </a:prstGeom>
          <a:solidFill>
            <a:srgbClr val="FFF1E5"/>
          </a:solidFill>
          <a:ln>
            <a:solidFill>
              <a:srgbClr val="FFF1E5">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FF832B"/>
                </a:solidFill>
                <a:effectLst/>
                <a:uLnTx/>
                <a:uFillTx/>
                <a:latin typeface="Arial" pitchFamily="34" charset="0"/>
                <a:ea typeface="Arial" pitchFamily="34" charset="-122"/>
                <a:cs typeface="Arial" pitchFamily="34" charset="-120"/>
              </a:rPr>
              <a:t>In progress</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38" name="Text 24">
            <a:extLst>
              <a:ext uri="{FF2B5EF4-FFF2-40B4-BE49-F238E27FC236}">
                <a16:creationId xmlns:a16="http://schemas.microsoft.com/office/drawing/2014/main" id="{40DD76D2-3F07-A092-C3CE-449ADBE5835F}"/>
              </a:ext>
            </a:extLst>
          </p:cNvPr>
          <p:cNvSpPr/>
          <p:nvPr/>
        </p:nvSpPr>
        <p:spPr>
          <a:xfrm>
            <a:off x="2409444" y="3812540"/>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
        <p:nvSpPr>
          <p:cNvPr id="50" name="Text 58">
            <a:extLst>
              <a:ext uri="{FF2B5EF4-FFF2-40B4-BE49-F238E27FC236}">
                <a16:creationId xmlns:a16="http://schemas.microsoft.com/office/drawing/2014/main" id="{C2A01388-3A90-8983-E335-9E65830A1ECC}"/>
              </a:ext>
            </a:extLst>
          </p:cNvPr>
          <p:cNvSpPr/>
          <p:nvPr/>
        </p:nvSpPr>
        <p:spPr>
          <a:xfrm>
            <a:off x="502920" y="5879818"/>
            <a:ext cx="10881360" cy="256032"/>
          </a:xfrm>
          <a:prstGeom prst="rect">
            <a:avLst/>
          </a:prstGeom>
          <a:solidFill>
            <a:srgbClr val="EDF5FF"/>
          </a:solidFill>
          <a:ln w="12700">
            <a:solidFill>
              <a:srgbClr val="EDF5FF"/>
            </a:solidFill>
          </a:ln>
        </p:spPr>
        <p:txBody>
          <a:bodyPr wrap="square" lIns="1016" tIns="1016" rIns="1016" bIns="1016" rtlCol="0" anchor="t">
            <a:normAutofit/>
          </a:bodyPr>
          <a:lstStyle/>
          <a:p>
            <a:pPr>
              <a:defRPr/>
            </a:pPr>
            <a:r>
              <a:rPr lang="en-US" sz="1150" b="1" dirty="0">
                <a:solidFill>
                  <a:srgbClr val="161616"/>
                </a:solidFill>
                <a:latin typeface="Arial"/>
                <a:ea typeface="Arial" pitchFamily="34" charset="-122"/>
                <a:cs typeface="Arial"/>
              </a:rPr>
              <a:t>All BVAs are available via ISC Value360 tool as customizable templates.</a:t>
            </a:r>
            <a:endParaRPr lang="en-US" sz="1150" b="1" i="0" u="none" strike="noStrike" kern="1200" cap="none" spc="0" normalizeH="0" baseline="0" noProof="0" dirty="0">
              <a:ln>
                <a:noFill/>
              </a:ln>
              <a:solidFill>
                <a:srgbClr val="161616"/>
              </a:solidFill>
              <a:effectLst/>
              <a:uLnTx/>
              <a:uFillTx/>
              <a:latin typeface="Arial"/>
              <a:cs typeface="Arial"/>
            </a:endParaRPr>
          </a:p>
        </p:txBody>
      </p:sp>
      <p:sp>
        <p:nvSpPr>
          <p:cNvPr id="6" name="Text 24">
            <a:extLst>
              <a:ext uri="{FF2B5EF4-FFF2-40B4-BE49-F238E27FC236}">
                <a16:creationId xmlns:a16="http://schemas.microsoft.com/office/drawing/2014/main" id="{489677BB-FF35-6E5E-AC57-AC9CAC2F36BA}"/>
              </a:ext>
            </a:extLst>
          </p:cNvPr>
          <p:cNvSpPr/>
          <p:nvPr/>
        </p:nvSpPr>
        <p:spPr>
          <a:xfrm>
            <a:off x="2432304" y="3377196"/>
            <a:ext cx="960120" cy="237744"/>
          </a:xfrm>
          <a:prstGeom prst="rect">
            <a:avLst/>
          </a:prstGeom>
          <a:solidFill>
            <a:srgbClr val="DEFBE6"/>
          </a:solidFill>
          <a:ln>
            <a:solidFill>
              <a:srgbClr val="DEFBE6">
                <a:alpha val="0"/>
              </a:srgbClr>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40" b="1" i="0" u="none" strike="noStrike" kern="1200" cap="none" spc="0" normalizeH="0" baseline="0" noProof="0" dirty="0">
                <a:ln>
                  <a:noFill/>
                </a:ln>
                <a:solidFill>
                  <a:srgbClr val="24A148"/>
                </a:solidFill>
                <a:effectLst/>
                <a:uLnTx/>
                <a:uFillTx/>
                <a:latin typeface="Arial" pitchFamily="34" charset="0"/>
                <a:ea typeface="Arial" pitchFamily="34" charset="-122"/>
                <a:cs typeface="Arial" pitchFamily="34" charset="-120"/>
              </a:rPr>
              <a:t>Ready</a:t>
            </a:r>
            <a:endParaRPr kumimoji="0" lang="en-US" sz="84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333</Words>
  <Application>Microsoft Macintosh PowerPoint</Application>
  <PresentationFormat>Widescreen</PresentationFormat>
  <Paragraphs>43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Office Theme</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Db2 BVA Seller Pitch v4</dc:title>
  <dc:subject>Db2 BVA Seller Pitch v4</dc:subject>
  <dc:creator>OpenAI</dc:creator>
  <cp:lastModifiedBy>Monika Aggarwal</cp:lastModifiedBy>
  <cp:revision>161</cp:revision>
  <dcterms:created xsi:type="dcterms:W3CDTF">2026-07-16T18:44:55Z</dcterms:created>
  <dcterms:modified xsi:type="dcterms:W3CDTF">2026-08-13T20:41:34Z</dcterms:modified>
</cp:coreProperties>
</file>